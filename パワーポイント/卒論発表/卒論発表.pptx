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58102A-2C12-4CA9-9A99-26F7DDD51E18}" v="13" dt="2026-01-30T04:43:09.992"/>
    <p1510:client id="{EA2E6C43-996D-487E-82AF-608C88AE65DF}" v="144" dt="2026-01-29T17:34:34.1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6445" autoAdjust="0"/>
  </p:normalViewPr>
  <p:slideViewPr>
    <p:cSldViewPr snapToGrid="0" snapToObjects="1">
      <p:cViewPr varScale="1">
        <p:scale>
          <a:sx n="91" d="100"/>
          <a:sy n="91" d="100"/>
        </p:scale>
        <p:origin x="108" y="33"/>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snapToObjects="1">
      <p:cViewPr varScale="1">
        <p:scale>
          <a:sx n="50" d="100"/>
          <a:sy n="50" d="100"/>
        </p:scale>
        <p:origin x="1149" y="3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tn.lzh →" userId="aae51206e0f3c209" providerId="LiveId" clId="{C53E141C-B797-4BD5-B97C-FF93ADA80928}"/>
    <pc:docChg chg="undo custSel addSld modSld addMainMaster delMainMaster modMainMaster">
      <pc:chgData name="kitn.lzh →" userId="aae51206e0f3c209" providerId="LiveId" clId="{C53E141C-B797-4BD5-B97C-FF93ADA80928}" dt="2026-01-30T04:44:09.948" v="81" actId="1076"/>
      <pc:docMkLst>
        <pc:docMk/>
      </pc:docMkLst>
      <pc:sldChg chg="addSp modSp mod">
        <pc:chgData name="kitn.lzh →" userId="aae51206e0f3c209" providerId="LiveId" clId="{C53E141C-B797-4BD5-B97C-FF93ADA80928}" dt="2026-01-30T04:40:01.400" v="7" actId="20577"/>
        <pc:sldMkLst>
          <pc:docMk/>
          <pc:sldMk cId="0" sldId="257"/>
        </pc:sldMkLst>
        <pc:spChg chg="add mod">
          <ac:chgData name="kitn.lzh →" userId="aae51206e0f3c209" providerId="LiveId" clId="{C53E141C-B797-4BD5-B97C-FF93ADA80928}" dt="2026-01-30T04:40:01.400" v="7" actId="20577"/>
          <ac:spMkLst>
            <pc:docMk/>
            <pc:sldMk cId="0" sldId="257"/>
            <ac:spMk id="6" creationId="{A2F25604-92EB-8EC8-9BF6-3F46B8F7781B}"/>
          </ac:spMkLst>
        </pc:spChg>
      </pc:sldChg>
      <pc:sldChg chg="addSp modSp mod">
        <pc:chgData name="kitn.lzh →" userId="aae51206e0f3c209" providerId="LiveId" clId="{C53E141C-B797-4BD5-B97C-FF93ADA80928}" dt="2026-01-30T04:40:20.007" v="15" actId="20577"/>
        <pc:sldMkLst>
          <pc:docMk/>
          <pc:sldMk cId="0" sldId="258"/>
        </pc:sldMkLst>
        <pc:spChg chg="add mod">
          <ac:chgData name="kitn.lzh →" userId="aae51206e0f3c209" providerId="LiveId" clId="{C53E141C-B797-4BD5-B97C-FF93ADA80928}" dt="2026-01-30T04:40:20.007" v="15" actId="20577"/>
          <ac:spMkLst>
            <pc:docMk/>
            <pc:sldMk cId="0" sldId="258"/>
            <ac:spMk id="15" creationId="{E89CC726-C885-AC91-8EC1-D8CEB63CFE49}"/>
          </ac:spMkLst>
        </pc:spChg>
      </pc:sldChg>
      <pc:sldChg chg="addSp delSp modSp mod">
        <pc:chgData name="kitn.lzh →" userId="aae51206e0f3c209" providerId="LiveId" clId="{C53E141C-B797-4BD5-B97C-FF93ADA80928}" dt="2026-01-30T04:40:43.866" v="23" actId="1076"/>
        <pc:sldMkLst>
          <pc:docMk/>
          <pc:sldMk cId="0" sldId="259"/>
        </pc:sldMkLst>
        <pc:spChg chg="add del mod">
          <ac:chgData name="kitn.lzh →" userId="aae51206e0f3c209" providerId="LiveId" clId="{C53E141C-B797-4BD5-B97C-FF93ADA80928}" dt="2026-01-30T04:40:29.541" v="18" actId="478"/>
          <ac:spMkLst>
            <pc:docMk/>
            <pc:sldMk cId="0" sldId="259"/>
            <ac:spMk id="14" creationId="{7DB1ED47-AAD0-2AAF-E0CD-EEF4327B85E5}"/>
          </ac:spMkLst>
        </pc:spChg>
        <pc:spChg chg="add mod">
          <ac:chgData name="kitn.lzh →" userId="aae51206e0f3c209" providerId="LiveId" clId="{C53E141C-B797-4BD5-B97C-FF93ADA80928}" dt="2026-01-30T04:40:43.866" v="23" actId="1076"/>
          <ac:spMkLst>
            <pc:docMk/>
            <pc:sldMk cId="0" sldId="259"/>
            <ac:spMk id="16" creationId="{BBFA12EF-4BF5-C4D8-F619-4AE682DCFDC7}"/>
          </ac:spMkLst>
        </pc:spChg>
      </pc:sldChg>
      <pc:sldChg chg="addSp modSp mod">
        <pc:chgData name="kitn.lzh →" userId="aae51206e0f3c209" providerId="LiveId" clId="{C53E141C-B797-4BD5-B97C-FF93ADA80928}" dt="2026-01-30T04:40:57.104" v="27" actId="20577"/>
        <pc:sldMkLst>
          <pc:docMk/>
          <pc:sldMk cId="0" sldId="260"/>
        </pc:sldMkLst>
        <pc:spChg chg="add mod">
          <ac:chgData name="kitn.lzh →" userId="aae51206e0f3c209" providerId="LiveId" clId="{C53E141C-B797-4BD5-B97C-FF93ADA80928}" dt="2026-01-30T04:40:57.104" v="27" actId="20577"/>
          <ac:spMkLst>
            <pc:docMk/>
            <pc:sldMk cId="0" sldId="260"/>
            <ac:spMk id="22" creationId="{5A4D4EE5-7A3E-C395-359F-8D796064EF0E}"/>
          </ac:spMkLst>
        </pc:spChg>
      </pc:sldChg>
      <pc:sldChg chg="addSp modSp mod">
        <pc:chgData name="kitn.lzh →" userId="aae51206e0f3c209" providerId="LiveId" clId="{C53E141C-B797-4BD5-B97C-FF93ADA80928}" dt="2026-01-30T04:41:10.640" v="29" actId="20577"/>
        <pc:sldMkLst>
          <pc:docMk/>
          <pc:sldMk cId="0" sldId="261"/>
        </pc:sldMkLst>
        <pc:spChg chg="add mod">
          <ac:chgData name="kitn.lzh →" userId="aae51206e0f3c209" providerId="LiveId" clId="{C53E141C-B797-4BD5-B97C-FF93ADA80928}" dt="2026-01-30T04:41:10.640" v="29" actId="20577"/>
          <ac:spMkLst>
            <pc:docMk/>
            <pc:sldMk cId="0" sldId="261"/>
            <ac:spMk id="15" creationId="{A6336894-E70D-FD3D-8E2C-89713222B407}"/>
          </ac:spMkLst>
        </pc:spChg>
      </pc:sldChg>
      <pc:sldChg chg="addSp modSp mod">
        <pc:chgData name="kitn.lzh →" userId="aae51206e0f3c209" providerId="LiveId" clId="{C53E141C-B797-4BD5-B97C-FF93ADA80928}" dt="2026-01-30T04:41:22.172" v="31" actId="20577"/>
        <pc:sldMkLst>
          <pc:docMk/>
          <pc:sldMk cId="0" sldId="262"/>
        </pc:sldMkLst>
        <pc:spChg chg="add mod">
          <ac:chgData name="kitn.lzh →" userId="aae51206e0f3c209" providerId="LiveId" clId="{C53E141C-B797-4BD5-B97C-FF93ADA80928}" dt="2026-01-30T04:41:22.172" v="31" actId="20577"/>
          <ac:spMkLst>
            <pc:docMk/>
            <pc:sldMk cId="0" sldId="262"/>
            <ac:spMk id="14" creationId="{A3FC3303-7DD6-08D8-8673-A3CA1DAB07C7}"/>
          </ac:spMkLst>
        </pc:spChg>
      </pc:sldChg>
      <pc:sldChg chg="addSp modSp mod">
        <pc:chgData name="kitn.lzh →" userId="aae51206e0f3c209" providerId="LiveId" clId="{C53E141C-B797-4BD5-B97C-FF93ADA80928}" dt="2026-01-30T04:41:30.806" v="33" actId="20577"/>
        <pc:sldMkLst>
          <pc:docMk/>
          <pc:sldMk cId="0" sldId="263"/>
        </pc:sldMkLst>
        <pc:spChg chg="add mod">
          <ac:chgData name="kitn.lzh →" userId="aae51206e0f3c209" providerId="LiveId" clId="{C53E141C-B797-4BD5-B97C-FF93ADA80928}" dt="2026-01-30T04:41:30.806" v="33" actId="20577"/>
          <ac:spMkLst>
            <pc:docMk/>
            <pc:sldMk cId="0" sldId="263"/>
            <ac:spMk id="14" creationId="{BE7FCAD3-84F6-0EA3-BE1F-AD50EA5AB135}"/>
          </ac:spMkLst>
        </pc:spChg>
      </pc:sldChg>
      <pc:sldChg chg="addSp modSp mod">
        <pc:chgData name="kitn.lzh →" userId="aae51206e0f3c209" providerId="LiveId" clId="{C53E141C-B797-4BD5-B97C-FF93ADA80928}" dt="2026-01-30T04:41:41.848" v="35" actId="20577"/>
        <pc:sldMkLst>
          <pc:docMk/>
          <pc:sldMk cId="0" sldId="264"/>
        </pc:sldMkLst>
        <pc:spChg chg="add mod">
          <ac:chgData name="kitn.lzh →" userId="aae51206e0f3c209" providerId="LiveId" clId="{C53E141C-B797-4BD5-B97C-FF93ADA80928}" dt="2026-01-30T04:41:41.848" v="35" actId="20577"/>
          <ac:spMkLst>
            <pc:docMk/>
            <pc:sldMk cId="0" sldId="264"/>
            <ac:spMk id="6" creationId="{5145CFE5-0D86-D59C-6C3A-D5248A73D1EB}"/>
          </ac:spMkLst>
        </pc:spChg>
      </pc:sldChg>
      <pc:sldChg chg="addSp modSp mod">
        <pc:chgData name="kitn.lzh →" userId="aae51206e0f3c209" providerId="LiveId" clId="{C53E141C-B797-4BD5-B97C-FF93ADA80928}" dt="2026-01-30T04:41:56.226" v="41" actId="20577"/>
        <pc:sldMkLst>
          <pc:docMk/>
          <pc:sldMk cId="0" sldId="265"/>
        </pc:sldMkLst>
        <pc:spChg chg="add mod">
          <ac:chgData name="kitn.lzh →" userId="aae51206e0f3c209" providerId="LiveId" clId="{C53E141C-B797-4BD5-B97C-FF93ADA80928}" dt="2026-01-30T04:41:56.226" v="41" actId="20577"/>
          <ac:spMkLst>
            <pc:docMk/>
            <pc:sldMk cId="0" sldId="265"/>
            <ac:spMk id="12" creationId="{27F25A11-48B5-D34A-2AEA-CB62D67F4F82}"/>
          </ac:spMkLst>
        </pc:spChg>
      </pc:sldChg>
      <pc:sldChg chg="addSp modSp mod">
        <pc:chgData name="kitn.lzh →" userId="aae51206e0f3c209" providerId="LiveId" clId="{C53E141C-B797-4BD5-B97C-FF93ADA80928}" dt="2026-01-30T04:42:09.570" v="44" actId="20577"/>
        <pc:sldMkLst>
          <pc:docMk/>
          <pc:sldMk cId="0" sldId="266"/>
        </pc:sldMkLst>
        <pc:spChg chg="add mod">
          <ac:chgData name="kitn.lzh →" userId="aae51206e0f3c209" providerId="LiveId" clId="{C53E141C-B797-4BD5-B97C-FF93ADA80928}" dt="2026-01-30T04:42:09.570" v="44" actId="20577"/>
          <ac:spMkLst>
            <pc:docMk/>
            <pc:sldMk cId="0" sldId="266"/>
            <ac:spMk id="13" creationId="{7D75308C-8660-5D0E-4462-BF1B84705D5C}"/>
          </ac:spMkLst>
        </pc:spChg>
      </pc:sldChg>
      <pc:sldChg chg="addSp modSp mod">
        <pc:chgData name="kitn.lzh →" userId="aae51206e0f3c209" providerId="LiveId" clId="{C53E141C-B797-4BD5-B97C-FF93ADA80928}" dt="2026-01-30T04:42:28.468" v="47" actId="20577"/>
        <pc:sldMkLst>
          <pc:docMk/>
          <pc:sldMk cId="0" sldId="267"/>
        </pc:sldMkLst>
        <pc:spChg chg="add mod">
          <ac:chgData name="kitn.lzh →" userId="aae51206e0f3c209" providerId="LiveId" clId="{C53E141C-B797-4BD5-B97C-FF93ADA80928}" dt="2026-01-30T04:42:28.468" v="47" actId="20577"/>
          <ac:spMkLst>
            <pc:docMk/>
            <pc:sldMk cId="0" sldId="267"/>
            <ac:spMk id="14" creationId="{4FBDFA69-2415-25EF-DC43-CA6413CD5C22}"/>
          </ac:spMkLst>
        </pc:spChg>
      </pc:sldChg>
      <pc:sldChg chg="addSp modSp mod">
        <pc:chgData name="kitn.lzh →" userId="aae51206e0f3c209" providerId="LiveId" clId="{C53E141C-B797-4BD5-B97C-FF93ADA80928}" dt="2026-01-30T04:42:37.929" v="50" actId="20577"/>
        <pc:sldMkLst>
          <pc:docMk/>
          <pc:sldMk cId="0" sldId="268"/>
        </pc:sldMkLst>
        <pc:spChg chg="add mod">
          <ac:chgData name="kitn.lzh →" userId="aae51206e0f3c209" providerId="LiveId" clId="{C53E141C-B797-4BD5-B97C-FF93ADA80928}" dt="2026-01-30T04:42:37.929" v="50" actId="20577"/>
          <ac:spMkLst>
            <pc:docMk/>
            <pc:sldMk cId="0" sldId="268"/>
            <ac:spMk id="11" creationId="{E9A9CE1C-DFC8-89DB-04A3-F80A755AC519}"/>
          </ac:spMkLst>
        </pc:spChg>
      </pc:sldChg>
      <pc:sldChg chg="addSp modSp new mod">
        <pc:chgData name="kitn.lzh →" userId="aae51206e0f3c209" providerId="LiveId" clId="{C53E141C-B797-4BD5-B97C-FF93ADA80928}" dt="2026-01-30T04:44:09.948" v="81" actId="1076"/>
        <pc:sldMkLst>
          <pc:docMk/>
          <pc:sldMk cId="2470799533" sldId="269"/>
        </pc:sldMkLst>
        <pc:spChg chg="add mod">
          <ac:chgData name="kitn.lzh →" userId="aae51206e0f3c209" providerId="LiveId" clId="{C53E141C-B797-4BD5-B97C-FF93ADA80928}" dt="2026-01-30T04:43:16.939" v="75" actId="20577"/>
          <ac:spMkLst>
            <pc:docMk/>
            <pc:sldMk cId="2470799533" sldId="269"/>
            <ac:spMk id="2" creationId="{BFA29CDA-FF14-C447-F80A-36034A0F4825}"/>
          </ac:spMkLst>
        </pc:spChg>
        <pc:spChg chg="add mod">
          <ac:chgData name="kitn.lzh →" userId="aae51206e0f3c209" providerId="LiveId" clId="{C53E141C-B797-4BD5-B97C-FF93ADA80928}" dt="2026-01-30T04:44:09.948" v="81" actId="1076"/>
          <ac:spMkLst>
            <pc:docMk/>
            <pc:sldMk cId="2470799533" sldId="269"/>
            <ac:spMk id="4" creationId="{098B5C84-481D-5C96-AA72-816718F206D7}"/>
          </ac:spMkLst>
        </pc:spChg>
      </pc:sldChg>
      <pc:sldMasterChg chg="new del mod addSldLayout delSldLayout">
        <pc:chgData name="kitn.lzh →" userId="aae51206e0f3c209" providerId="LiveId" clId="{C53E141C-B797-4BD5-B97C-FF93ADA80928}" dt="2026-01-30T04:35:34.547" v="1" actId="6938"/>
        <pc:sldMasterMkLst>
          <pc:docMk/>
          <pc:sldMasterMk cId="4260901722" sldId="2147483651"/>
        </pc:sldMasterMkLst>
        <pc:sldLayoutChg chg="new del replId">
          <pc:chgData name="kitn.lzh →" userId="aae51206e0f3c209" providerId="LiveId" clId="{C53E141C-B797-4BD5-B97C-FF93ADA80928}" dt="2026-01-30T04:35:34.547" v="1" actId="6938"/>
          <pc:sldLayoutMkLst>
            <pc:docMk/>
            <pc:sldMasterMk cId="4260901722" sldId="2147483651"/>
            <pc:sldLayoutMk cId="406450683" sldId="2147483652"/>
          </pc:sldLayoutMkLst>
        </pc:sldLayoutChg>
        <pc:sldLayoutChg chg="new del replId">
          <pc:chgData name="kitn.lzh →" userId="aae51206e0f3c209" providerId="LiveId" clId="{C53E141C-B797-4BD5-B97C-FF93ADA80928}" dt="2026-01-30T04:35:34.547" v="1" actId="6938"/>
          <pc:sldLayoutMkLst>
            <pc:docMk/>
            <pc:sldMasterMk cId="4260901722" sldId="2147483651"/>
            <pc:sldLayoutMk cId="3888875099" sldId="2147483653"/>
          </pc:sldLayoutMkLst>
        </pc:sldLayoutChg>
        <pc:sldLayoutChg chg="new del replId">
          <pc:chgData name="kitn.lzh →" userId="aae51206e0f3c209" providerId="LiveId" clId="{C53E141C-B797-4BD5-B97C-FF93ADA80928}" dt="2026-01-30T04:35:34.547" v="1" actId="6938"/>
          <pc:sldLayoutMkLst>
            <pc:docMk/>
            <pc:sldMasterMk cId="4260901722" sldId="2147483651"/>
            <pc:sldLayoutMk cId="1398341006" sldId="2147483654"/>
          </pc:sldLayoutMkLst>
        </pc:sldLayoutChg>
        <pc:sldLayoutChg chg="new del replId">
          <pc:chgData name="kitn.lzh →" userId="aae51206e0f3c209" providerId="LiveId" clId="{C53E141C-B797-4BD5-B97C-FF93ADA80928}" dt="2026-01-30T04:35:34.547" v="1" actId="6938"/>
          <pc:sldLayoutMkLst>
            <pc:docMk/>
            <pc:sldMasterMk cId="4260901722" sldId="2147483651"/>
            <pc:sldLayoutMk cId="696198108" sldId="2147483655"/>
          </pc:sldLayoutMkLst>
        </pc:sldLayoutChg>
        <pc:sldLayoutChg chg="new del replId">
          <pc:chgData name="kitn.lzh →" userId="aae51206e0f3c209" providerId="LiveId" clId="{C53E141C-B797-4BD5-B97C-FF93ADA80928}" dt="2026-01-30T04:35:34.547" v="1" actId="6938"/>
          <pc:sldLayoutMkLst>
            <pc:docMk/>
            <pc:sldMasterMk cId="4260901722" sldId="2147483651"/>
            <pc:sldLayoutMk cId="1256684080" sldId="2147483656"/>
          </pc:sldLayoutMkLst>
        </pc:sldLayoutChg>
        <pc:sldLayoutChg chg="new del replId">
          <pc:chgData name="kitn.lzh →" userId="aae51206e0f3c209" providerId="LiveId" clId="{C53E141C-B797-4BD5-B97C-FF93ADA80928}" dt="2026-01-30T04:35:34.547" v="1" actId="6938"/>
          <pc:sldLayoutMkLst>
            <pc:docMk/>
            <pc:sldMasterMk cId="4260901722" sldId="2147483651"/>
            <pc:sldLayoutMk cId="1883978084" sldId="2147483657"/>
          </pc:sldLayoutMkLst>
        </pc:sldLayoutChg>
        <pc:sldLayoutChg chg="new del replId">
          <pc:chgData name="kitn.lzh →" userId="aae51206e0f3c209" providerId="LiveId" clId="{C53E141C-B797-4BD5-B97C-FF93ADA80928}" dt="2026-01-30T04:35:34.547" v="1" actId="6938"/>
          <pc:sldLayoutMkLst>
            <pc:docMk/>
            <pc:sldMasterMk cId="4260901722" sldId="2147483651"/>
            <pc:sldLayoutMk cId="2363463524" sldId="2147483658"/>
          </pc:sldLayoutMkLst>
        </pc:sldLayoutChg>
        <pc:sldLayoutChg chg="new del replId">
          <pc:chgData name="kitn.lzh →" userId="aae51206e0f3c209" providerId="LiveId" clId="{C53E141C-B797-4BD5-B97C-FF93ADA80928}" dt="2026-01-30T04:35:34.547" v="1" actId="6938"/>
          <pc:sldLayoutMkLst>
            <pc:docMk/>
            <pc:sldMasterMk cId="4260901722" sldId="2147483651"/>
            <pc:sldLayoutMk cId="1858990781" sldId="2147483659"/>
          </pc:sldLayoutMkLst>
        </pc:sldLayoutChg>
        <pc:sldLayoutChg chg="new del replId">
          <pc:chgData name="kitn.lzh →" userId="aae51206e0f3c209" providerId="LiveId" clId="{C53E141C-B797-4BD5-B97C-FF93ADA80928}" dt="2026-01-30T04:35:34.547" v="1" actId="6938"/>
          <pc:sldLayoutMkLst>
            <pc:docMk/>
            <pc:sldMasterMk cId="4260901722" sldId="2147483651"/>
            <pc:sldLayoutMk cId="3532974275" sldId="2147483660"/>
          </pc:sldLayoutMkLst>
        </pc:sldLayoutChg>
        <pc:sldLayoutChg chg="new del replId">
          <pc:chgData name="kitn.lzh →" userId="aae51206e0f3c209" providerId="LiveId" clId="{C53E141C-B797-4BD5-B97C-FF93ADA80928}" dt="2026-01-30T04:35:34.547" v="1" actId="6938"/>
          <pc:sldLayoutMkLst>
            <pc:docMk/>
            <pc:sldMasterMk cId="4260901722" sldId="2147483651"/>
            <pc:sldLayoutMk cId="1521422130" sldId="2147483661"/>
          </pc:sldLayoutMkLst>
        </pc:sldLayoutChg>
        <pc:sldLayoutChg chg="new del replId">
          <pc:chgData name="kitn.lzh →" userId="aae51206e0f3c209" providerId="LiveId" clId="{C53E141C-B797-4BD5-B97C-FF93ADA80928}" dt="2026-01-30T04:35:34.547" v="1" actId="6938"/>
          <pc:sldLayoutMkLst>
            <pc:docMk/>
            <pc:sldMasterMk cId="4260901722" sldId="2147483651"/>
            <pc:sldLayoutMk cId="1105132049" sldId="2147483662"/>
          </pc:sldLayoutMkLst>
        </pc:sldLayoutChg>
      </pc:sldMasterChg>
    </pc:docChg>
  </pc:docChgLst>
  <pc:docChgLst>
    <pc:chgData name="kitn.lzh →" userId="aae51206e0f3c209" providerId="LiveId" clId="{2B599A23-E6BC-4D57-BA0D-73F904748290}"/>
    <pc:docChg chg="undo custSel modSld">
      <pc:chgData name="kitn.lzh →" userId="aae51206e0f3c209" providerId="LiveId" clId="{2B599A23-E6BC-4D57-BA0D-73F904748290}" dt="2026-01-29T17:34:34.110" v="426"/>
      <pc:docMkLst>
        <pc:docMk/>
      </pc:docMkLst>
      <pc:sldChg chg="modSp mod modNotes">
        <pc:chgData name="kitn.lzh →" userId="aae51206e0f3c209" providerId="LiveId" clId="{2B599A23-E6BC-4D57-BA0D-73F904748290}" dt="2026-01-29T17:32:05.584" v="410"/>
        <pc:sldMkLst>
          <pc:docMk/>
          <pc:sldMk cId="0" sldId="256"/>
        </pc:sldMkLst>
        <pc:spChg chg="mod">
          <ac:chgData name="kitn.lzh →" userId="aae51206e0f3c209" providerId="LiveId" clId="{2B599A23-E6BC-4D57-BA0D-73F904748290}" dt="2026-01-29T16:58:52.072" v="116" actId="20577"/>
          <ac:spMkLst>
            <pc:docMk/>
            <pc:sldMk cId="0" sldId="256"/>
            <ac:spMk id="5" creationId="{00000000-0000-0000-0000-000000000000}"/>
          </ac:spMkLst>
        </pc:spChg>
      </pc:sldChg>
      <pc:sldChg chg="modNotes">
        <pc:chgData name="kitn.lzh →" userId="aae51206e0f3c209" providerId="LiveId" clId="{2B599A23-E6BC-4D57-BA0D-73F904748290}" dt="2026-01-29T17:31:48.209" v="408"/>
        <pc:sldMkLst>
          <pc:docMk/>
          <pc:sldMk cId="0" sldId="257"/>
        </pc:sldMkLst>
      </pc:sldChg>
      <pc:sldChg chg="modSp mod modNotes">
        <pc:chgData name="kitn.lzh →" userId="aae51206e0f3c209" providerId="LiveId" clId="{2B599A23-E6BC-4D57-BA0D-73F904748290}" dt="2026-01-29T17:32:29.528" v="414"/>
        <pc:sldMkLst>
          <pc:docMk/>
          <pc:sldMk cId="0" sldId="258"/>
        </pc:sldMkLst>
        <pc:spChg chg="mod">
          <ac:chgData name="kitn.lzh →" userId="aae51206e0f3c209" providerId="LiveId" clId="{2B599A23-E6BC-4D57-BA0D-73F904748290}" dt="2026-01-29T17:01:08.603" v="138" actId="20577"/>
          <ac:spMkLst>
            <pc:docMk/>
            <pc:sldMk cId="0" sldId="258"/>
            <ac:spMk id="7" creationId="{00000000-0000-0000-0000-000000000000}"/>
          </ac:spMkLst>
        </pc:spChg>
        <pc:spChg chg="mod">
          <ac:chgData name="kitn.lzh →" userId="aae51206e0f3c209" providerId="LiveId" clId="{2B599A23-E6BC-4D57-BA0D-73F904748290}" dt="2026-01-29T17:01:34.202" v="148" actId="20577"/>
          <ac:spMkLst>
            <pc:docMk/>
            <pc:sldMk cId="0" sldId="258"/>
            <ac:spMk id="9" creationId="{00000000-0000-0000-0000-000000000000}"/>
          </ac:spMkLst>
        </pc:spChg>
        <pc:spChg chg="mod">
          <ac:chgData name="kitn.lzh →" userId="aae51206e0f3c209" providerId="LiveId" clId="{2B599A23-E6BC-4D57-BA0D-73F904748290}" dt="2026-01-29T17:02:10.417" v="162" actId="20577"/>
          <ac:spMkLst>
            <pc:docMk/>
            <pc:sldMk cId="0" sldId="258"/>
            <ac:spMk id="10" creationId="{00000000-0000-0000-0000-000000000000}"/>
          </ac:spMkLst>
        </pc:spChg>
        <pc:spChg chg="mod">
          <ac:chgData name="kitn.lzh →" userId="aae51206e0f3c209" providerId="LiveId" clId="{2B599A23-E6BC-4D57-BA0D-73F904748290}" dt="2026-01-29T17:03:51.873" v="180" actId="20577"/>
          <ac:spMkLst>
            <pc:docMk/>
            <pc:sldMk cId="0" sldId="258"/>
            <ac:spMk id="13" creationId="{00000000-0000-0000-0000-000000000000}"/>
          </ac:spMkLst>
        </pc:spChg>
      </pc:sldChg>
      <pc:sldChg chg="modSp mod modNotes">
        <pc:chgData name="kitn.lzh →" userId="aae51206e0f3c209" providerId="LiveId" clId="{2B599A23-E6BC-4D57-BA0D-73F904748290}" dt="2026-01-29T17:32:33.828" v="415"/>
        <pc:sldMkLst>
          <pc:docMk/>
          <pc:sldMk cId="0" sldId="259"/>
        </pc:sldMkLst>
        <pc:spChg chg="mod">
          <ac:chgData name="kitn.lzh →" userId="aae51206e0f3c209" providerId="LiveId" clId="{2B599A23-E6BC-4D57-BA0D-73F904748290}" dt="2026-01-29T17:04:08.199" v="181" actId="20577"/>
          <ac:spMkLst>
            <pc:docMk/>
            <pc:sldMk cId="0" sldId="259"/>
            <ac:spMk id="2" creationId="{00000000-0000-0000-0000-000000000000}"/>
          </ac:spMkLst>
        </pc:spChg>
        <pc:spChg chg="mod">
          <ac:chgData name="kitn.lzh →" userId="aae51206e0f3c209" providerId="LiveId" clId="{2B599A23-E6BC-4D57-BA0D-73F904748290}" dt="2026-01-29T17:06:18.645" v="263" actId="20577"/>
          <ac:spMkLst>
            <pc:docMk/>
            <pc:sldMk cId="0" sldId="259"/>
            <ac:spMk id="10" creationId="{00000000-0000-0000-0000-000000000000}"/>
          </ac:spMkLst>
        </pc:spChg>
        <pc:spChg chg="mod">
          <ac:chgData name="kitn.lzh →" userId="aae51206e0f3c209" providerId="LiveId" clId="{2B599A23-E6BC-4D57-BA0D-73F904748290}" dt="2026-01-29T17:08:22.014" v="266" actId="20577"/>
          <ac:spMkLst>
            <pc:docMk/>
            <pc:sldMk cId="0" sldId="259"/>
            <ac:spMk id="12" creationId="{00000000-0000-0000-0000-000000000000}"/>
          </ac:spMkLst>
        </pc:spChg>
      </pc:sldChg>
      <pc:sldChg chg="modSp mod modNotes">
        <pc:chgData name="kitn.lzh →" userId="aae51206e0f3c209" providerId="LiveId" clId="{2B599A23-E6BC-4D57-BA0D-73F904748290}" dt="2026-01-29T17:32:40.662" v="416"/>
        <pc:sldMkLst>
          <pc:docMk/>
          <pc:sldMk cId="0" sldId="260"/>
        </pc:sldMkLst>
        <pc:spChg chg="mod">
          <ac:chgData name="kitn.lzh →" userId="aae51206e0f3c209" providerId="LiveId" clId="{2B599A23-E6BC-4D57-BA0D-73F904748290}" dt="2026-01-29T17:08:38.480" v="267" actId="20577"/>
          <ac:spMkLst>
            <pc:docMk/>
            <pc:sldMk cId="0" sldId="260"/>
            <ac:spMk id="2" creationId="{00000000-0000-0000-0000-000000000000}"/>
          </ac:spMkLst>
        </pc:spChg>
        <pc:spChg chg="mod">
          <ac:chgData name="kitn.lzh →" userId="aae51206e0f3c209" providerId="LiveId" clId="{2B599A23-E6BC-4D57-BA0D-73F904748290}" dt="2026-01-29T17:08:56.895" v="277" actId="20577"/>
          <ac:spMkLst>
            <pc:docMk/>
            <pc:sldMk cId="0" sldId="260"/>
            <ac:spMk id="3" creationId="{00000000-0000-0000-0000-000000000000}"/>
          </ac:spMkLst>
        </pc:spChg>
        <pc:spChg chg="mod">
          <ac:chgData name="kitn.lzh →" userId="aae51206e0f3c209" providerId="LiveId" clId="{2B599A23-E6BC-4D57-BA0D-73F904748290}" dt="2026-01-29T16:55:22.996" v="92" actId="1076"/>
          <ac:spMkLst>
            <pc:docMk/>
            <pc:sldMk cId="0" sldId="260"/>
            <ac:spMk id="17" creationId="{00000000-0000-0000-0000-000000000000}"/>
          </ac:spMkLst>
        </pc:spChg>
        <pc:spChg chg="mod">
          <ac:chgData name="kitn.lzh →" userId="aae51206e0f3c209" providerId="LiveId" clId="{2B599A23-E6BC-4D57-BA0D-73F904748290}" dt="2026-01-29T16:55:28.592" v="99" actId="20577"/>
          <ac:spMkLst>
            <pc:docMk/>
            <pc:sldMk cId="0" sldId="260"/>
            <ac:spMk id="18" creationId="{00000000-0000-0000-0000-000000000000}"/>
          </ac:spMkLst>
        </pc:spChg>
        <pc:spChg chg="mod">
          <ac:chgData name="kitn.lzh →" userId="aae51206e0f3c209" providerId="LiveId" clId="{2B599A23-E6BC-4D57-BA0D-73F904748290}" dt="2026-01-29T17:12:20.139" v="306" actId="20577"/>
          <ac:spMkLst>
            <pc:docMk/>
            <pc:sldMk cId="0" sldId="260"/>
            <ac:spMk id="19" creationId="{00000000-0000-0000-0000-000000000000}"/>
          </ac:spMkLst>
        </pc:spChg>
        <pc:spChg chg="mod">
          <ac:chgData name="kitn.lzh →" userId="aae51206e0f3c209" providerId="LiveId" clId="{2B599A23-E6BC-4D57-BA0D-73F904748290}" dt="2026-01-29T17:13:58.249" v="325"/>
          <ac:spMkLst>
            <pc:docMk/>
            <pc:sldMk cId="0" sldId="260"/>
            <ac:spMk id="21" creationId="{00000000-0000-0000-0000-000000000000}"/>
          </ac:spMkLst>
        </pc:spChg>
      </pc:sldChg>
      <pc:sldChg chg="modSp mod modNotes">
        <pc:chgData name="kitn.lzh →" userId="aae51206e0f3c209" providerId="LiveId" clId="{2B599A23-E6BC-4D57-BA0D-73F904748290}" dt="2026-01-29T17:32:47.559" v="417"/>
        <pc:sldMkLst>
          <pc:docMk/>
          <pc:sldMk cId="0" sldId="261"/>
        </pc:sldMkLst>
        <pc:spChg chg="mod">
          <ac:chgData name="kitn.lzh →" userId="aae51206e0f3c209" providerId="LiveId" clId="{2B599A23-E6BC-4D57-BA0D-73F904748290}" dt="2026-01-29T17:13:30.700" v="324" actId="20577"/>
          <ac:spMkLst>
            <pc:docMk/>
            <pc:sldMk cId="0" sldId="261"/>
            <ac:spMk id="2" creationId="{00000000-0000-0000-0000-000000000000}"/>
          </ac:spMkLst>
        </pc:spChg>
        <pc:spChg chg="mod">
          <ac:chgData name="kitn.lzh →" userId="aae51206e0f3c209" providerId="LiveId" clId="{2B599A23-E6BC-4D57-BA0D-73F904748290}" dt="2026-01-29T17:19:48.717" v="382" actId="20577"/>
          <ac:spMkLst>
            <pc:docMk/>
            <pc:sldMk cId="0" sldId="261"/>
            <ac:spMk id="7" creationId="{00000000-0000-0000-0000-000000000000}"/>
          </ac:spMkLst>
        </pc:spChg>
        <pc:spChg chg="mod">
          <ac:chgData name="kitn.lzh →" userId="aae51206e0f3c209" providerId="LiveId" clId="{2B599A23-E6BC-4D57-BA0D-73F904748290}" dt="2026-01-29T17:18:17.505" v="354" actId="1076"/>
          <ac:spMkLst>
            <pc:docMk/>
            <pc:sldMk cId="0" sldId="261"/>
            <ac:spMk id="8" creationId="{00000000-0000-0000-0000-000000000000}"/>
          </ac:spMkLst>
        </pc:spChg>
        <pc:spChg chg="mod">
          <ac:chgData name="kitn.lzh →" userId="aae51206e0f3c209" providerId="LiveId" clId="{2B599A23-E6BC-4D57-BA0D-73F904748290}" dt="2026-01-29T16:57:22.053" v="111"/>
          <ac:spMkLst>
            <pc:docMk/>
            <pc:sldMk cId="0" sldId="261"/>
            <ac:spMk id="10" creationId="{00000000-0000-0000-0000-000000000000}"/>
          </ac:spMkLst>
        </pc:spChg>
        <pc:spChg chg="mod">
          <ac:chgData name="kitn.lzh →" userId="aae51206e0f3c209" providerId="LiveId" clId="{2B599A23-E6BC-4D57-BA0D-73F904748290}" dt="2026-01-29T17:18:30.951" v="355" actId="255"/>
          <ac:spMkLst>
            <pc:docMk/>
            <pc:sldMk cId="0" sldId="261"/>
            <ac:spMk id="11" creationId="{00000000-0000-0000-0000-000000000000}"/>
          </ac:spMkLst>
        </pc:spChg>
        <pc:spChg chg="mod">
          <ac:chgData name="kitn.lzh →" userId="aae51206e0f3c209" providerId="LiveId" clId="{2B599A23-E6BC-4D57-BA0D-73F904748290}" dt="2026-01-29T17:18:38.862" v="356" actId="255"/>
          <ac:spMkLst>
            <pc:docMk/>
            <pc:sldMk cId="0" sldId="261"/>
            <ac:spMk id="14" creationId="{00000000-0000-0000-0000-000000000000}"/>
          </ac:spMkLst>
        </pc:spChg>
      </pc:sldChg>
      <pc:sldChg chg="modSp mod modNotes">
        <pc:chgData name="kitn.lzh →" userId="aae51206e0f3c209" providerId="LiveId" clId="{2B599A23-E6BC-4D57-BA0D-73F904748290}" dt="2026-01-29T17:32:52.099" v="418"/>
        <pc:sldMkLst>
          <pc:docMk/>
          <pc:sldMk cId="0" sldId="262"/>
        </pc:sldMkLst>
        <pc:spChg chg="mod">
          <ac:chgData name="kitn.lzh →" userId="aae51206e0f3c209" providerId="LiveId" clId="{2B599A23-E6BC-4D57-BA0D-73F904748290}" dt="2026-01-29T16:52:05.346" v="60"/>
          <ac:spMkLst>
            <pc:docMk/>
            <pc:sldMk cId="0" sldId="262"/>
            <ac:spMk id="3" creationId="{00000000-0000-0000-0000-000000000000}"/>
          </ac:spMkLst>
        </pc:spChg>
        <pc:picChg chg="mod modCrop">
          <ac:chgData name="kitn.lzh →" userId="aae51206e0f3c209" providerId="LiveId" clId="{2B599A23-E6BC-4D57-BA0D-73F904748290}" dt="2026-01-29T16:52:50.738" v="67" actId="14100"/>
          <ac:picMkLst>
            <pc:docMk/>
            <pc:sldMk cId="0" sldId="262"/>
            <ac:picMk id="6" creationId="{00000000-0000-0000-0000-000000000000}"/>
          </ac:picMkLst>
        </pc:picChg>
      </pc:sldChg>
      <pc:sldChg chg="modSp mod modNotes">
        <pc:chgData name="kitn.lzh →" userId="aae51206e0f3c209" providerId="LiveId" clId="{2B599A23-E6BC-4D57-BA0D-73F904748290}" dt="2026-01-29T17:32:56.408" v="419"/>
        <pc:sldMkLst>
          <pc:docMk/>
          <pc:sldMk cId="0" sldId="263"/>
        </pc:sldMkLst>
        <pc:spChg chg="mod">
          <ac:chgData name="kitn.lzh →" userId="aae51206e0f3c209" providerId="LiveId" clId="{2B599A23-E6BC-4D57-BA0D-73F904748290}" dt="2026-01-29T16:50:27.671" v="45" actId="20577"/>
          <ac:spMkLst>
            <pc:docMk/>
            <pc:sldMk cId="0" sldId="263"/>
            <ac:spMk id="2" creationId="{00000000-0000-0000-0000-000000000000}"/>
          </ac:spMkLst>
        </pc:spChg>
        <pc:spChg chg="mod">
          <ac:chgData name="kitn.lzh →" userId="aae51206e0f3c209" providerId="LiveId" clId="{2B599A23-E6BC-4D57-BA0D-73F904748290}" dt="2026-01-29T16:49:43.953" v="34"/>
          <ac:spMkLst>
            <pc:docMk/>
            <pc:sldMk cId="0" sldId="263"/>
            <ac:spMk id="7" creationId="{00000000-0000-0000-0000-000000000000}"/>
          </ac:spMkLst>
        </pc:spChg>
        <pc:spChg chg="mod">
          <ac:chgData name="kitn.lzh →" userId="aae51206e0f3c209" providerId="LiveId" clId="{2B599A23-E6BC-4D57-BA0D-73F904748290}" dt="2026-01-29T16:50:35.544" v="47"/>
          <ac:spMkLst>
            <pc:docMk/>
            <pc:sldMk cId="0" sldId="263"/>
            <ac:spMk id="10" creationId="{00000000-0000-0000-0000-000000000000}"/>
          </ac:spMkLst>
        </pc:spChg>
      </pc:sldChg>
      <pc:sldChg chg="modSp mod modNotes">
        <pc:chgData name="kitn.lzh →" userId="aae51206e0f3c209" providerId="LiveId" clId="{2B599A23-E6BC-4D57-BA0D-73F904748290}" dt="2026-01-29T17:34:34.110" v="426"/>
        <pc:sldMkLst>
          <pc:docMk/>
          <pc:sldMk cId="0" sldId="264"/>
        </pc:sldMkLst>
        <pc:spChg chg="mod">
          <ac:chgData name="kitn.lzh →" userId="aae51206e0f3c209" providerId="LiveId" clId="{2B599A23-E6BC-4D57-BA0D-73F904748290}" dt="2026-01-29T16:51:12.620" v="50" actId="14100"/>
          <ac:spMkLst>
            <pc:docMk/>
            <pc:sldMk cId="0" sldId="264"/>
            <ac:spMk id="5" creationId="{00000000-0000-0000-0000-000000000000}"/>
          </ac:spMkLst>
        </pc:spChg>
        <pc:spChg chg="mod">
          <ac:chgData name="kitn.lzh →" userId="aae51206e0f3c209" providerId="LiveId" clId="{2B599A23-E6BC-4D57-BA0D-73F904748290}" dt="2026-01-29T16:51:26.185" v="58" actId="20577"/>
          <ac:spMkLst>
            <pc:docMk/>
            <pc:sldMk cId="0" sldId="264"/>
            <ac:spMk id="13" creationId="{C6DD5BC6-B6F5-7AEB-7648-7555360435F1}"/>
          </ac:spMkLst>
        </pc:spChg>
      </pc:sldChg>
      <pc:sldChg chg="modNotes">
        <pc:chgData name="kitn.lzh →" userId="aae51206e0f3c209" providerId="LiveId" clId="{2B599A23-E6BC-4D57-BA0D-73F904748290}" dt="2026-01-29T17:33:11.509" v="421"/>
        <pc:sldMkLst>
          <pc:docMk/>
          <pc:sldMk cId="0" sldId="265"/>
        </pc:sldMkLst>
      </pc:sldChg>
      <pc:sldChg chg="modNotes">
        <pc:chgData name="kitn.lzh →" userId="aae51206e0f3c209" providerId="LiveId" clId="{2B599A23-E6BC-4D57-BA0D-73F904748290}" dt="2026-01-29T17:33:33.906" v="422"/>
        <pc:sldMkLst>
          <pc:docMk/>
          <pc:sldMk cId="0" sldId="266"/>
        </pc:sldMkLst>
      </pc:sldChg>
      <pc:sldChg chg="modNotes">
        <pc:chgData name="kitn.lzh →" userId="aae51206e0f3c209" providerId="LiveId" clId="{2B599A23-E6BC-4D57-BA0D-73F904748290}" dt="2026-01-29T17:33:47.718" v="423"/>
        <pc:sldMkLst>
          <pc:docMk/>
          <pc:sldMk cId="0" sldId="267"/>
        </pc:sldMkLst>
      </pc:sldChg>
      <pc:sldChg chg="modNotes">
        <pc:chgData name="kitn.lzh →" userId="aae51206e0f3c209" providerId="LiveId" clId="{2B599A23-E6BC-4D57-BA0D-73F904748290}" dt="2026-01-29T17:33:52.974" v="424"/>
        <pc:sldMkLst>
          <pc:docMk/>
          <pc:sldMk cId="0" sldId="268"/>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0"/>
        <c:ser>
          <c:idx val="0"/>
          <c:order val="0"/>
          <c:tx>
            <c:strRef>
              <c:f>Sheet1!$B$1</c:f>
              <c:strCache>
                <c:ptCount val="1"/>
                <c:pt idx="0">
                  <c:v>Case0（劣化なし）</c:v>
                </c:pt>
              </c:strCache>
            </c:strRef>
          </c:tx>
          <c:spPr>
            <a:solidFill>
              <a:srgbClr val="C0504D"/>
            </a:solidFill>
            <a:effectLst/>
          </c:spPr>
          <c:invertIfNegative val="0"/>
          <c:cat>
            <c:strRef>
              <c:f>Sheet1!$A$2:$A$3</c:f>
              <c:strCache>
                <c:ptCount val="2"/>
                <c:pt idx="0">
                  <c:v>5月</c:v>
                </c:pt>
                <c:pt idx="1">
                  <c:v>6月</c:v>
                </c:pt>
              </c:strCache>
            </c:strRef>
          </c:cat>
          <c:val>
            <c:numRef>
              <c:f>Sheet1!$B$2:$B$3</c:f>
              <c:numCache>
                <c:formatCode>General</c:formatCode>
                <c:ptCount val="2"/>
                <c:pt idx="0">
                  <c:v>0</c:v>
                </c:pt>
                <c:pt idx="1">
                  <c:v>0</c:v>
                </c:pt>
              </c:numCache>
            </c:numRef>
          </c:val>
          <c:extLst>
            <c:ext xmlns:c16="http://schemas.microsoft.com/office/drawing/2014/chart" uri="{C3380CC4-5D6E-409C-BE32-E72D297353CC}">
              <c16:uniqueId val="{00000000-9834-4750-B8C8-B8DC04951E14}"/>
            </c:ext>
          </c:extLst>
        </c:ser>
        <c:ser>
          <c:idx val="1"/>
          <c:order val="1"/>
          <c:tx>
            <c:strRef>
              <c:f>Sheet1!$C$1</c:f>
              <c:strCache>
                <c:ptCount val="1"/>
                <c:pt idx="0">
                  <c:v>Case1（一次元）</c:v>
                </c:pt>
              </c:strCache>
            </c:strRef>
          </c:tx>
          <c:spPr>
            <a:solidFill>
              <a:srgbClr val="4F81BD"/>
            </a:solidFill>
            <a:effectLst/>
          </c:spPr>
          <c:invertIfNegative val="0"/>
          <c:cat>
            <c:strRef>
              <c:f>Sheet1!$A$2:$A$3</c:f>
              <c:strCache>
                <c:ptCount val="2"/>
                <c:pt idx="0">
                  <c:v>5月</c:v>
                </c:pt>
                <c:pt idx="1">
                  <c:v>6月</c:v>
                </c:pt>
              </c:strCache>
            </c:strRef>
          </c:cat>
          <c:val>
            <c:numRef>
              <c:f>Sheet1!$C$2:$C$3</c:f>
              <c:numCache>
                <c:formatCode>General</c:formatCode>
                <c:ptCount val="2"/>
                <c:pt idx="0">
                  <c:v>155.69999999999999</c:v>
                </c:pt>
                <c:pt idx="1">
                  <c:v>179.1</c:v>
                </c:pt>
              </c:numCache>
            </c:numRef>
          </c:val>
          <c:extLst>
            <c:ext xmlns:c16="http://schemas.microsoft.com/office/drawing/2014/chart" uri="{C3380CC4-5D6E-409C-BE32-E72D297353CC}">
              <c16:uniqueId val="{00000001-9834-4750-B8C8-B8DC04951E14}"/>
            </c:ext>
          </c:extLst>
        </c:ser>
        <c:ser>
          <c:idx val="2"/>
          <c:order val="2"/>
          <c:tx>
            <c:strRef>
              <c:f>Sheet1!$D$1</c:f>
              <c:strCache>
                <c:ptCount val="1"/>
                <c:pt idx="0">
                  <c:v>Case2（二次元）</c:v>
                </c:pt>
              </c:strCache>
            </c:strRef>
          </c:tx>
          <c:spPr>
            <a:solidFill>
              <a:srgbClr val="9BBB59"/>
            </a:solidFill>
            <a:effectLst/>
          </c:spPr>
          <c:invertIfNegative val="0"/>
          <c:cat>
            <c:strRef>
              <c:f>Sheet1!$A$2:$A$3</c:f>
              <c:strCache>
                <c:ptCount val="2"/>
                <c:pt idx="0">
                  <c:v>5月</c:v>
                </c:pt>
                <c:pt idx="1">
                  <c:v>6月</c:v>
                </c:pt>
              </c:strCache>
            </c:strRef>
          </c:cat>
          <c:val>
            <c:numRef>
              <c:f>Sheet1!$D$2:$D$3</c:f>
              <c:numCache>
                <c:formatCode>General</c:formatCode>
                <c:ptCount val="2"/>
                <c:pt idx="0">
                  <c:v>176.2</c:v>
                </c:pt>
                <c:pt idx="1">
                  <c:v>255.8</c:v>
                </c:pt>
              </c:numCache>
            </c:numRef>
          </c:val>
          <c:extLst>
            <c:ext xmlns:c16="http://schemas.microsoft.com/office/drawing/2014/chart" uri="{C3380CC4-5D6E-409C-BE32-E72D297353CC}">
              <c16:uniqueId val="{00000002-9834-4750-B8C8-B8DC04951E14}"/>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0"/>
        <c:ser>
          <c:idx val="0"/>
          <c:order val="0"/>
          <c:tx>
            <c:strRef>
              <c:f>Sheet1!$B$1</c:f>
              <c:strCache>
                <c:ptCount val="1"/>
                <c:pt idx="0">
                  <c:v>Case0（劣化なし）</c:v>
                </c:pt>
              </c:strCache>
            </c:strRef>
          </c:tx>
          <c:spPr>
            <a:solidFill>
              <a:srgbClr val="C0504D"/>
            </a:solidFill>
            <a:effectLst/>
          </c:spPr>
          <c:invertIfNegative val="0"/>
          <c:cat>
            <c:strRef>
              <c:f>Sheet1!$A$2:$A$3</c:f>
              <c:strCache>
                <c:ptCount val="2"/>
                <c:pt idx="0">
                  <c:v>5月</c:v>
                </c:pt>
                <c:pt idx="1">
                  <c:v>6月</c:v>
                </c:pt>
              </c:strCache>
            </c:strRef>
          </c:cat>
          <c:val>
            <c:numRef>
              <c:f>Sheet1!$B$2:$B$3</c:f>
              <c:numCache>
                <c:formatCode>General</c:formatCode>
                <c:ptCount val="2"/>
                <c:pt idx="0">
                  <c:v>155708</c:v>
                </c:pt>
                <c:pt idx="1">
                  <c:v>151728</c:v>
                </c:pt>
              </c:numCache>
            </c:numRef>
          </c:val>
          <c:extLst>
            <c:ext xmlns:c16="http://schemas.microsoft.com/office/drawing/2014/chart" uri="{C3380CC4-5D6E-409C-BE32-E72D297353CC}">
              <c16:uniqueId val="{00000000-C0D4-4D9F-B104-CF2887E387B9}"/>
            </c:ext>
          </c:extLst>
        </c:ser>
        <c:ser>
          <c:idx val="1"/>
          <c:order val="1"/>
          <c:tx>
            <c:strRef>
              <c:f>Sheet1!$C$1</c:f>
              <c:strCache>
                <c:ptCount val="1"/>
                <c:pt idx="0">
                  <c:v>Case1（一次元）</c:v>
                </c:pt>
              </c:strCache>
            </c:strRef>
          </c:tx>
          <c:spPr>
            <a:solidFill>
              <a:srgbClr val="4F81BD"/>
            </a:solidFill>
            <a:effectLst/>
          </c:spPr>
          <c:invertIfNegative val="0"/>
          <c:cat>
            <c:strRef>
              <c:f>Sheet1!$A$2:$A$3</c:f>
              <c:strCache>
                <c:ptCount val="2"/>
                <c:pt idx="0">
                  <c:v>5月</c:v>
                </c:pt>
                <c:pt idx="1">
                  <c:v>6月</c:v>
                </c:pt>
              </c:strCache>
            </c:strRef>
          </c:cat>
          <c:val>
            <c:numRef>
              <c:f>Sheet1!$C$2:$C$3</c:f>
              <c:numCache>
                <c:formatCode>General</c:formatCode>
                <c:ptCount val="2"/>
                <c:pt idx="0">
                  <c:v>155552</c:v>
                </c:pt>
                <c:pt idx="1">
                  <c:v>151549</c:v>
                </c:pt>
              </c:numCache>
            </c:numRef>
          </c:val>
          <c:extLst>
            <c:ext xmlns:c16="http://schemas.microsoft.com/office/drawing/2014/chart" uri="{C3380CC4-5D6E-409C-BE32-E72D297353CC}">
              <c16:uniqueId val="{00000001-C0D4-4D9F-B104-CF2887E387B9}"/>
            </c:ext>
          </c:extLst>
        </c:ser>
        <c:ser>
          <c:idx val="2"/>
          <c:order val="2"/>
          <c:tx>
            <c:strRef>
              <c:f>Sheet1!$D$1</c:f>
              <c:strCache>
                <c:ptCount val="1"/>
                <c:pt idx="0">
                  <c:v>Case2（二次元）</c:v>
                </c:pt>
              </c:strCache>
            </c:strRef>
          </c:tx>
          <c:spPr>
            <a:solidFill>
              <a:srgbClr val="9BBB59"/>
            </a:solidFill>
            <a:effectLst/>
          </c:spPr>
          <c:invertIfNegative val="0"/>
          <c:cat>
            <c:strRef>
              <c:f>Sheet1!$A$2:$A$3</c:f>
              <c:strCache>
                <c:ptCount val="2"/>
                <c:pt idx="0">
                  <c:v>5月</c:v>
                </c:pt>
                <c:pt idx="1">
                  <c:v>6月</c:v>
                </c:pt>
              </c:strCache>
            </c:strRef>
          </c:cat>
          <c:val>
            <c:numRef>
              <c:f>Sheet1!$D$2:$D$3</c:f>
              <c:numCache>
                <c:formatCode>General</c:formatCode>
                <c:ptCount val="2"/>
                <c:pt idx="0">
                  <c:v>155528</c:v>
                </c:pt>
                <c:pt idx="1">
                  <c:v>151469</c:v>
                </c:pt>
              </c:numCache>
            </c:numRef>
          </c:val>
          <c:extLst>
            <c:ext xmlns:c16="http://schemas.microsoft.com/office/drawing/2014/chart" uri="{C3380CC4-5D6E-409C-BE32-E72D297353CC}">
              <c16:uniqueId val="{00000002-C0D4-4D9F-B104-CF2887E387B9}"/>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208351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1A549B8F-252B-E87E-6888-5D5DCDBC2D22}"/>
              </a:ext>
            </a:extLst>
          </p:cNvPr>
          <p:cNvSpPr txBox="1"/>
          <p:nvPr/>
        </p:nvSpPr>
        <p:spPr>
          <a:xfrm>
            <a:off x="348343" y="283029"/>
            <a:ext cx="6139543" cy="369332"/>
          </a:xfrm>
          <a:prstGeom prst="rect">
            <a:avLst/>
          </a:prstGeom>
          <a:noFill/>
        </p:spPr>
        <p:txBody>
          <a:bodyPr wrap="square" rtlCol="0">
            <a:spAutoFit/>
          </a:bodyPr>
          <a:lstStyle/>
          <a:p>
            <a:endParaRPr lang="ja-JP" altLang="en-US" dirty="0"/>
          </a:p>
        </p:txBody>
      </p:sp>
      <p:sp>
        <p:nvSpPr>
          <p:cNvPr id="6" name="ノート プレースホルダー 5">
            <a:extLst>
              <a:ext uri="{FF2B5EF4-FFF2-40B4-BE49-F238E27FC236}">
                <a16:creationId xmlns:a16="http://schemas.microsoft.com/office/drawing/2014/main" id="{531935F7-4667-3377-62B2-6055840FB660}"/>
              </a:ext>
            </a:extLst>
          </p:cNvPr>
          <p:cNvSpPr>
            <a:spLocks noGrp="1"/>
          </p:cNvSpPr>
          <p:nvPr>
            <p:ph type="body" idx="1"/>
          </p:nvPr>
        </p:nvSpPr>
        <p:spPr>
          <a:xfrm>
            <a:off x="685800" y="5867400"/>
            <a:ext cx="5486400" cy="4800600"/>
          </a:xfrm>
          <a:prstGeom prst="rect">
            <a:avLst/>
          </a:prstGeom>
        </p:spPr>
        <p:txBody>
          <a:bodyPr/>
          <a:lstStyle/>
          <a:p>
            <a:r>
              <a:rPr lang="en-US" altLang="ja-JP" b="1" dirty="0"/>
              <a:t>Slide 1</a:t>
            </a:r>
            <a:r>
              <a:rPr lang="ja-JP" altLang="en-US" b="1" dirty="0"/>
              <a:t>「劣化特性を考慮した定置用蓄電池の」</a:t>
            </a:r>
          </a:p>
          <a:p>
            <a:r>
              <a:rPr lang="ja-JP" altLang="en-US" dirty="0"/>
              <a:t>本日は，「劣化特性を考慮した定置用蓄電池の複数市場への容量最適配分」について発表いたします。</a:t>
            </a:r>
            <a:br>
              <a:rPr lang="ja-JP" altLang="en-US" dirty="0"/>
            </a:br>
            <a:r>
              <a:rPr lang="ja-JP" altLang="en-US" dirty="0"/>
              <a:t>狙いは，スポット市場と一次・二次調整市場に同時参加する状況で，</a:t>
            </a:r>
            <a:r>
              <a:rPr lang="ja-JP" altLang="en-US" b="1" dirty="0"/>
              <a:t>収益と劣化コストを同じ枠組みで最適化</a:t>
            </a:r>
            <a:r>
              <a:rPr lang="ja-JP" altLang="en-US" dirty="0"/>
              <a:t>し，劣化の表現方法の違いが運用にどう影響するかを整理することです。</a:t>
            </a:r>
            <a:br>
              <a:rPr lang="ja-JP" altLang="en-US" dirty="0"/>
            </a:br>
            <a:r>
              <a:rPr lang="ja-JP" altLang="en-US" dirty="0"/>
              <a:t>それでは，発表の流れからご説明いたします。</a:t>
            </a:r>
          </a:p>
          <a:p>
            <a:endParaRPr kumimoji="1" lang="ja-JP" alt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pPr>
              <a:buNone/>
            </a:pPr>
            <a:r>
              <a:rPr lang="en-US" altLang="ja-JP" b="1" dirty="0"/>
              <a:t>Slide 2</a:t>
            </a:r>
            <a:r>
              <a:rPr lang="ja-JP" altLang="en-US" b="1" dirty="0"/>
              <a:t>「発表の流れ」</a:t>
            </a:r>
          </a:p>
          <a:p>
            <a:pPr>
              <a:buNone/>
            </a:pPr>
            <a:r>
              <a:rPr lang="ja-JP" altLang="en-US" dirty="0"/>
              <a:t>本発表は，背景，目的，問題設定，定式化，シミュレーション条件，結果，考察，結論の順に進めます。</a:t>
            </a:r>
            <a:br>
              <a:rPr lang="ja-JP" altLang="en-US" dirty="0"/>
            </a:br>
            <a:r>
              <a:rPr lang="ja-JP" altLang="en-US" dirty="0"/>
              <a:t>要点は</a:t>
            </a:r>
            <a:r>
              <a:rPr lang="en-US" altLang="ja-JP" dirty="0"/>
              <a:t>3</a:t>
            </a:r>
            <a:r>
              <a:rPr lang="ja-JP" altLang="en-US" dirty="0"/>
              <a:t>つで，①複数市場同時参加で容量配分が難しくなること，②劣化をピースワイズで</a:t>
            </a:r>
            <a:r>
              <a:rPr lang="en-US" altLang="ja-JP" dirty="0"/>
              <a:t>MILP</a:t>
            </a:r>
            <a:r>
              <a:rPr lang="ja-JP" altLang="en-US" dirty="0"/>
              <a:t>に入れること，③劣化表現の違いで</a:t>
            </a:r>
            <a:r>
              <a:rPr lang="en-US" altLang="ja-JP" dirty="0"/>
              <a:t>SOC</a:t>
            </a:r>
            <a:r>
              <a:rPr lang="ja-JP" altLang="en-US" dirty="0"/>
              <a:t>戦略が変わること，です。</a:t>
            </a:r>
            <a:br>
              <a:rPr lang="ja-JP" altLang="en-US" dirty="0"/>
            </a:br>
            <a:r>
              <a:rPr lang="ja-JP" altLang="en-US" dirty="0"/>
              <a:t>以降はこの流れで簡潔に確認いたします。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pPr>
              <a:buNone/>
            </a:pPr>
            <a:r>
              <a:rPr lang="en-US" altLang="ja-JP" b="1" dirty="0"/>
              <a:t>Slide 3</a:t>
            </a:r>
            <a:r>
              <a:rPr lang="ja-JP" altLang="en-US" b="1" dirty="0"/>
              <a:t>「研究背景」</a:t>
            </a:r>
          </a:p>
          <a:p>
            <a:pPr>
              <a:buNone/>
            </a:pPr>
            <a:r>
              <a:rPr lang="ja-JP" altLang="en-US" dirty="0"/>
              <a:t>背景は，再エネ導入拡大で需給調整が難しくなり，価格変動が大きくなっている点です。</a:t>
            </a:r>
            <a:br>
              <a:rPr lang="ja-JP" altLang="en-US" dirty="0"/>
            </a:br>
            <a:r>
              <a:rPr lang="ja-JP" altLang="en-US" dirty="0"/>
              <a:t>このとき，周波数調整や予備力などの柔軟性価値が増し，定置用蓄電池は短時間で充放電を切り替えられるため，市場収益の獲得が可能になります。</a:t>
            </a:r>
            <a:br>
              <a:rPr lang="ja-JP" altLang="en-US" dirty="0"/>
            </a:br>
            <a:r>
              <a:rPr lang="ja-JP" altLang="en-US" dirty="0"/>
              <a:t>一方で，どの市場にどれだけ容量を割り当てるかが収益性を左右し，頻繁・過剰な充放電は短期収益を押し上げる反面，劣化を加速します。</a:t>
            </a:r>
            <a:br>
              <a:rPr lang="ja-JP" altLang="en-US" dirty="0"/>
            </a:br>
            <a:r>
              <a:rPr lang="ja-JP" altLang="en-US" dirty="0"/>
              <a:t>さらに複数市場同時参加では，スポット取引と調整力提供が</a:t>
            </a:r>
            <a:r>
              <a:rPr lang="en-US" altLang="ja-JP" dirty="0"/>
              <a:t>SOC</a:t>
            </a:r>
            <a:r>
              <a:rPr lang="ja-JP" altLang="en-US" dirty="0"/>
              <a:t>や出力制約を介して干渉するため，容量・余力配分の最適化が重要になります。</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pPr>
              <a:buNone/>
            </a:pPr>
            <a:r>
              <a:rPr lang="en-US" altLang="ja-JP" b="1" dirty="0"/>
              <a:t>Slide 4</a:t>
            </a:r>
            <a:r>
              <a:rPr lang="ja-JP" altLang="en-US" b="1" dirty="0"/>
              <a:t>「研究目的」</a:t>
            </a:r>
          </a:p>
          <a:p>
            <a:pPr>
              <a:buNone/>
            </a:pPr>
            <a:r>
              <a:rPr lang="ja-JP" altLang="en-US" dirty="0"/>
              <a:t>本研究の目的は，</a:t>
            </a:r>
            <a:r>
              <a:rPr lang="ja-JP" altLang="en-US" b="1" dirty="0"/>
              <a:t>収益最大化と劣化抑制を同一の最適化枠組みで扱う</a:t>
            </a:r>
            <a:r>
              <a:rPr lang="ja-JP" altLang="en-US" dirty="0"/>
              <a:t>ことです。</a:t>
            </a:r>
            <a:br>
              <a:rPr lang="ja-JP" altLang="en-US" dirty="0"/>
            </a:br>
            <a:r>
              <a:rPr lang="ja-JP" altLang="en-US" dirty="0"/>
              <a:t>具体的には，スポット／一次調整／二次調整の同時参加を想定し，市場間で競合する運用要求を統合的に調整して経済価値を最大化します。</a:t>
            </a:r>
            <a:br>
              <a:rPr lang="ja-JP" altLang="en-US" dirty="0"/>
            </a:br>
            <a:r>
              <a:rPr lang="ja-JP" altLang="en-US" dirty="0"/>
              <a:t>本研究の貢献は，劣化を</a:t>
            </a:r>
            <a:r>
              <a:rPr lang="en-US" altLang="ja-JP" dirty="0"/>
              <a:t>DoD</a:t>
            </a:r>
            <a:r>
              <a:rPr lang="ja-JP" altLang="en-US" dirty="0"/>
              <a:t>だけでなく</a:t>
            </a:r>
            <a:r>
              <a:rPr lang="en-US" altLang="ja-JP" dirty="0"/>
              <a:t>SOC</a:t>
            </a:r>
            <a:r>
              <a:rPr lang="ja-JP" altLang="en-US" dirty="0"/>
              <a:t>水準にも依存させ，</a:t>
            </a:r>
            <a:r>
              <a:rPr lang="en-US" altLang="ja-JP" dirty="0" err="1"/>
              <a:t>DoD×SOC</a:t>
            </a:r>
            <a:r>
              <a:rPr lang="ja-JP" altLang="en-US" dirty="0"/>
              <a:t>の二次元ピースワイズ（</a:t>
            </a:r>
            <a:r>
              <a:rPr lang="en-US" altLang="ja-JP" dirty="0"/>
              <a:t>10×10</a:t>
            </a:r>
            <a:r>
              <a:rPr lang="ja-JP" altLang="en-US" dirty="0"/>
              <a:t>格子）で</a:t>
            </a:r>
            <a:r>
              <a:rPr lang="en-US" altLang="ja-JP" dirty="0"/>
              <a:t>MILP</a:t>
            </a:r>
            <a:r>
              <a:rPr lang="ja-JP" altLang="en-US" dirty="0"/>
              <a:t>に導入し，</a:t>
            </a:r>
            <a:r>
              <a:rPr lang="ja-JP" altLang="en-US" b="1" dirty="0"/>
              <a:t>未考慮／</a:t>
            </a:r>
            <a:r>
              <a:rPr lang="en-US" altLang="ja-JP" b="1" dirty="0"/>
              <a:t>1</a:t>
            </a:r>
            <a:r>
              <a:rPr lang="ja-JP" altLang="en-US" b="1" dirty="0"/>
              <a:t>次元／</a:t>
            </a:r>
            <a:r>
              <a:rPr lang="en-US" altLang="ja-JP" b="1" dirty="0"/>
              <a:t>2</a:t>
            </a:r>
            <a:r>
              <a:rPr lang="ja-JP" altLang="en-US" b="1" dirty="0"/>
              <a:t>次元</a:t>
            </a:r>
            <a:r>
              <a:rPr lang="ja-JP" altLang="en-US" dirty="0"/>
              <a:t>で運用差を比較する点です。</a:t>
            </a:r>
            <a:br>
              <a:rPr lang="ja-JP" altLang="en-US" dirty="0"/>
            </a:br>
            <a:r>
              <a:rPr lang="ja-JP" altLang="en-US" dirty="0"/>
              <a:t>結論として，劣化を考慮すると「いつ，どの市場で稼ぐか」の最適解が変わることを確認します。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
        <p:nvSpPr>
          <p:cNvPr id="6" name="テキスト ボックス 5">
            <a:extLst>
              <a:ext uri="{FF2B5EF4-FFF2-40B4-BE49-F238E27FC236}">
                <a16:creationId xmlns:a16="http://schemas.microsoft.com/office/drawing/2014/main" id="{66130625-A0D9-9E7A-37FD-671CDD76539F}"/>
              </a:ext>
            </a:extLst>
          </p:cNvPr>
          <p:cNvSpPr txBox="1"/>
          <p:nvPr/>
        </p:nvSpPr>
        <p:spPr>
          <a:xfrm>
            <a:off x="1600200" y="3374801"/>
            <a:ext cx="3505200" cy="5355312"/>
          </a:xfrm>
          <a:prstGeom prst="rect">
            <a:avLst/>
          </a:prstGeom>
          <a:noFill/>
        </p:spPr>
        <p:txBody>
          <a:bodyPr wrap="square">
            <a:spAutoFit/>
          </a:bodyPr>
          <a:lstStyle/>
          <a:p>
            <a:pPr>
              <a:buNone/>
            </a:pPr>
            <a:r>
              <a:rPr lang="en-US" altLang="ja-JP" b="1" dirty="0"/>
              <a:t>Slide 4</a:t>
            </a:r>
            <a:r>
              <a:rPr lang="ja-JP" altLang="en-US" b="1" dirty="0"/>
              <a:t>「研究目的」</a:t>
            </a:r>
          </a:p>
          <a:p>
            <a:pPr>
              <a:buNone/>
            </a:pPr>
            <a:r>
              <a:rPr lang="ja-JP" altLang="en-US" dirty="0"/>
              <a:t>本研究の目的は，</a:t>
            </a:r>
            <a:r>
              <a:rPr lang="ja-JP" altLang="en-US" b="1" dirty="0"/>
              <a:t>収益最大化と劣化抑制を同一の最適化枠組みで扱う</a:t>
            </a:r>
            <a:r>
              <a:rPr lang="ja-JP" altLang="en-US" dirty="0"/>
              <a:t>ことです。</a:t>
            </a:r>
            <a:br>
              <a:rPr lang="ja-JP" altLang="en-US" dirty="0"/>
            </a:br>
            <a:r>
              <a:rPr lang="ja-JP" altLang="en-US" dirty="0"/>
              <a:t>具体的には，スポット／一次調整／二次調整の同時参加を想定し，市場間で競合する運用要求を統合的に調整して経済価値を最大化します。</a:t>
            </a:r>
            <a:br>
              <a:rPr lang="ja-JP" altLang="en-US" dirty="0"/>
            </a:br>
            <a:r>
              <a:rPr lang="ja-JP" altLang="en-US" dirty="0"/>
              <a:t>本研究の貢献は，劣化を</a:t>
            </a:r>
            <a:r>
              <a:rPr lang="en-US" altLang="ja-JP" dirty="0"/>
              <a:t>DoD</a:t>
            </a:r>
            <a:r>
              <a:rPr lang="ja-JP" altLang="en-US" dirty="0"/>
              <a:t>だけでなく</a:t>
            </a:r>
            <a:r>
              <a:rPr lang="en-US" altLang="ja-JP" dirty="0"/>
              <a:t>SOC</a:t>
            </a:r>
            <a:r>
              <a:rPr lang="ja-JP" altLang="en-US" dirty="0"/>
              <a:t>水準にも依存させ，</a:t>
            </a:r>
            <a:r>
              <a:rPr lang="en-US" altLang="ja-JP" dirty="0" err="1"/>
              <a:t>DoD×SOC</a:t>
            </a:r>
            <a:r>
              <a:rPr lang="ja-JP" altLang="en-US" dirty="0"/>
              <a:t>の二次元ピースワイズ（</a:t>
            </a:r>
            <a:r>
              <a:rPr lang="en-US" altLang="ja-JP" dirty="0"/>
              <a:t>10×10</a:t>
            </a:r>
            <a:r>
              <a:rPr lang="ja-JP" altLang="en-US" dirty="0"/>
              <a:t>格子）で</a:t>
            </a:r>
            <a:r>
              <a:rPr lang="en-US" altLang="ja-JP" dirty="0"/>
              <a:t>MILP</a:t>
            </a:r>
            <a:r>
              <a:rPr lang="ja-JP" altLang="en-US" dirty="0"/>
              <a:t>に導入し，</a:t>
            </a:r>
            <a:r>
              <a:rPr lang="ja-JP" altLang="en-US" b="1" dirty="0"/>
              <a:t>未考慮／</a:t>
            </a:r>
            <a:r>
              <a:rPr lang="en-US" altLang="ja-JP" b="1" dirty="0"/>
              <a:t>1</a:t>
            </a:r>
            <a:r>
              <a:rPr lang="ja-JP" altLang="en-US" b="1" dirty="0"/>
              <a:t>次元／</a:t>
            </a:r>
            <a:r>
              <a:rPr lang="en-US" altLang="ja-JP" b="1" dirty="0"/>
              <a:t>2</a:t>
            </a:r>
            <a:r>
              <a:rPr lang="ja-JP" altLang="en-US" b="1" dirty="0"/>
              <a:t>次元</a:t>
            </a:r>
            <a:r>
              <a:rPr lang="ja-JP" altLang="en-US" dirty="0"/>
              <a:t>で運用差を比較する点です。</a:t>
            </a:r>
            <a:br>
              <a:rPr lang="ja-JP" altLang="en-US" dirty="0"/>
            </a:br>
            <a:r>
              <a:rPr lang="ja-JP" altLang="en-US" dirty="0"/>
              <a:t>結論として，劣化を考慮すると「いつ，どの市場で稼ぐか」の最適解が変わることを確認します。</a:t>
            </a: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pPr>
              <a:buNone/>
            </a:pPr>
            <a:r>
              <a:rPr lang="en-US" altLang="ja-JP" b="1" dirty="0"/>
              <a:t>Slide 5</a:t>
            </a:r>
            <a:r>
              <a:rPr lang="ja-JP" altLang="en-US" b="1" dirty="0"/>
              <a:t>「問題設定」</a:t>
            </a:r>
          </a:p>
          <a:p>
            <a:pPr>
              <a:buNone/>
            </a:pPr>
            <a:r>
              <a:rPr lang="ja-JP" altLang="en-US" dirty="0"/>
              <a:t>問題設定は，</a:t>
            </a:r>
            <a:r>
              <a:rPr lang="en-US" altLang="ja-JP" dirty="0"/>
              <a:t>1</a:t>
            </a:r>
            <a:r>
              <a:rPr lang="ja-JP" altLang="en-US" dirty="0"/>
              <a:t>日を</a:t>
            </a:r>
            <a:r>
              <a:rPr lang="en-US" altLang="ja-JP" dirty="0"/>
              <a:t>30</a:t>
            </a:r>
            <a:r>
              <a:rPr lang="ja-JP" altLang="en-US" dirty="0"/>
              <a:t>分刻みの</a:t>
            </a:r>
            <a:r>
              <a:rPr lang="en-US" altLang="ja-JP" dirty="0"/>
              <a:t>48</a:t>
            </a:r>
            <a:r>
              <a:rPr lang="ja-JP" altLang="en-US" dirty="0"/>
              <a:t>区間として，その日の運用計画を決めるものです。</a:t>
            </a:r>
            <a:br>
              <a:rPr lang="ja-JP" altLang="en-US" dirty="0"/>
            </a:br>
            <a:r>
              <a:rPr lang="ja-JP" altLang="en-US" dirty="0"/>
              <a:t>対象市場は，スポット市場の売買と，一次調整市場・二次調整市場での容量提供です。</a:t>
            </a:r>
            <a:br>
              <a:rPr lang="ja-JP" altLang="en-US" dirty="0"/>
            </a:br>
            <a:r>
              <a:rPr lang="ja-JP" altLang="en-US" dirty="0"/>
              <a:t>これらを同時に最適化し，裁定・調整の収益と劣化コストを合わせた総合的な利益が最大となるように意思決定します。</a:t>
            </a:r>
            <a:br>
              <a:rPr lang="ja-JP" altLang="en-US" dirty="0"/>
            </a:br>
            <a:r>
              <a:rPr lang="ja-JP" altLang="en-US" dirty="0"/>
              <a:t>以降で，この目的を</a:t>
            </a:r>
            <a:r>
              <a:rPr lang="en-US" altLang="ja-JP" dirty="0"/>
              <a:t>MILP</a:t>
            </a:r>
            <a:r>
              <a:rPr lang="ja-JP" altLang="en-US" dirty="0"/>
              <a:t>として定式化します。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
        <p:nvSpPr>
          <p:cNvPr id="6" name="テキスト ボックス 5">
            <a:extLst>
              <a:ext uri="{FF2B5EF4-FFF2-40B4-BE49-F238E27FC236}">
                <a16:creationId xmlns:a16="http://schemas.microsoft.com/office/drawing/2014/main" id="{CF90A5C8-4100-6186-6AE6-8737B7CE8D6B}"/>
              </a:ext>
            </a:extLst>
          </p:cNvPr>
          <p:cNvSpPr txBox="1"/>
          <p:nvPr/>
        </p:nvSpPr>
        <p:spPr>
          <a:xfrm>
            <a:off x="1600200" y="4205798"/>
            <a:ext cx="3505200" cy="3693319"/>
          </a:xfrm>
          <a:prstGeom prst="rect">
            <a:avLst/>
          </a:prstGeom>
          <a:noFill/>
        </p:spPr>
        <p:txBody>
          <a:bodyPr wrap="square">
            <a:spAutoFit/>
          </a:bodyPr>
          <a:lstStyle/>
          <a:p>
            <a:pPr>
              <a:buNone/>
            </a:pPr>
            <a:r>
              <a:rPr lang="en-US" altLang="ja-JP" b="1" dirty="0"/>
              <a:t>Slide 5</a:t>
            </a:r>
            <a:r>
              <a:rPr lang="ja-JP" altLang="en-US" b="1" dirty="0"/>
              <a:t>「問題設定」</a:t>
            </a:r>
          </a:p>
          <a:p>
            <a:pPr>
              <a:buNone/>
            </a:pPr>
            <a:r>
              <a:rPr lang="ja-JP" altLang="en-US" dirty="0"/>
              <a:t>問題設定は，</a:t>
            </a:r>
            <a:r>
              <a:rPr lang="en-US" altLang="ja-JP" dirty="0"/>
              <a:t>1</a:t>
            </a:r>
            <a:r>
              <a:rPr lang="ja-JP" altLang="en-US" dirty="0"/>
              <a:t>日を</a:t>
            </a:r>
            <a:r>
              <a:rPr lang="en-US" altLang="ja-JP" dirty="0"/>
              <a:t>30</a:t>
            </a:r>
            <a:r>
              <a:rPr lang="ja-JP" altLang="en-US" dirty="0"/>
              <a:t>分刻みの</a:t>
            </a:r>
            <a:r>
              <a:rPr lang="en-US" altLang="ja-JP" dirty="0"/>
              <a:t>48</a:t>
            </a:r>
            <a:r>
              <a:rPr lang="ja-JP" altLang="en-US" dirty="0"/>
              <a:t>区間として，その日の運用計画を決めるものです。</a:t>
            </a:r>
            <a:br>
              <a:rPr lang="ja-JP" altLang="en-US" dirty="0"/>
            </a:br>
            <a:r>
              <a:rPr lang="ja-JP" altLang="en-US" dirty="0"/>
              <a:t>対象市場は，スポット市場の売買と，一次調整市場・二次調整市場での容量提供です。</a:t>
            </a:r>
            <a:br>
              <a:rPr lang="ja-JP" altLang="en-US" dirty="0"/>
            </a:br>
            <a:r>
              <a:rPr lang="ja-JP" altLang="en-US" dirty="0"/>
              <a:t>これらを同時に最適化し，裁定・調整の収益と劣化コストを合わせた総合的な利益が最大となるように意思決定します。</a:t>
            </a:r>
            <a:br>
              <a:rPr lang="ja-JP" altLang="en-US" dirty="0"/>
            </a:br>
            <a:r>
              <a:rPr lang="ja-JP" altLang="en-US" dirty="0"/>
              <a:t>以降で，この目的を</a:t>
            </a:r>
            <a:r>
              <a:rPr lang="en-US" altLang="ja-JP" dirty="0"/>
              <a:t>MILP</a:t>
            </a:r>
            <a:r>
              <a:rPr lang="ja-JP" altLang="en-US" dirty="0"/>
              <a:t>として定式化します。</a:t>
            </a: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pPr>
              <a:buNone/>
            </a:pPr>
            <a:r>
              <a:rPr lang="en-US" altLang="ja-JP" b="1" dirty="0"/>
              <a:t>Slide 6</a:t>
            </a:r>
            <a:r>
              <a:rPr lang="ja-JP" altLang="en-US" b="1" dirty="0"/>
              <a:t>「定式化：目的関数（最小化問題）」</a:t>
            </a:r>
          </a:p>
          <a:p>
            <a:pPr>
              <a:buNone/>
            </a:pPr>
            <a:r>
              <a:rPr lang="ja-JP" altLang="en-US" dirty="0"/>
              <a:t>目的関数は最小化として記述し，構造は「市場損益」「調整市場収益」「劣化コスト」の和で表します。</a:t>
            </a:r>
            <a:br>
              <a:rPr lang="ja-JP" altLang="en-US" dirty="0"/>
            </a:br>
            <a:r>
              <a:rPr lang="ja-JP" altLang="en-US" dirty="0"/>
              <a:t>市場から得られる収益成分と，劣化によるコスト成分を同時に扱うことで，短期的な収益偏重を避ける設計です。</a:t>
            </a:r>
            <a:br>
              <a:rPr lang="ja-JP" altLang="en-US" dirty="0"/>
            </a:br>
            <a:r>
              <a:rPr lang="ja-JP" altLang="en-US" dirty="0"/>
              <a:t>劣化は正規化した劣化関数として取り込み，それを金銭換算する係数</a:t>
            </a:r>
            <a:r>
              <a:rPr lang="en-US" altLang="ja-JP" dirty="0"/>
              <a:t>c</a:t>
            </a:r>
            <a:r>
              <a:rPr lang="ja-JP" altLang="en-US" dirty="0"/>
              <a:t>を用いて目的関数に加えます。</a:t>
            </a:r>
            <a:br>
              <a:rPr lang="ja-JP" altLang="en-US" dirty="0"/>
            </a:br>
            <a:r>
              <a:rPr lang="ja-JP" altLang="en-US" dirty="0"/>
              <a:t>本資料では，</a:t>
            </a:r>
            <a:r>
              <a:rPr lang="en-US" altLang="ja-JP" dirty="0"/>
              <a:t>c=72,500</a:t>
            </a:r>
            <a:r>
              <a:rPr lang="ja-JP" altLang="en-US" dirty="0"/>
              <a:t>を</a:t>
            </a:r>
            <a:r>
              <a:rPr lang="en-US" altLang="ja-JP" dirty="0"/>
              <a:t>1</a:t>
            </a:r>
            <a:r>
              <a:rPr lang="ja-JP" altLang="en-US" dirty="0"/>
              <a:t>日・</a:t>
            </a:r>
            <a:r>
              <a:rPr lang="en-US" altLang="ja-JP" dirty="0"/>
              <a:t>1kWh</a:t>
            </a:r>
            <a:r>
              <a:rPr lang="ja-JP" altLang="en-US" dirty="0"/>
              <a:t>あたりの劣化コスト単価として設定しています。</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
        <p:nvSpPr>
          <p:cNvPr id="6" name="テキスト ボックス 5">
            <a:extLst>
              <a:ext uri="{FF2B5EF4-FFF2-40B4-BE49-F238E27FC236}">
                <a16:creationId xmlns:a16="http://schemas.microsoft.com/office/drawing/2014/main" id="{4CA37F38-0FDD-5A80-8939-9919C32F4C26}"/>
              </a:ext>
            </a:extLst>
          </p:cNvPr>
          <p:cNvSpPr txBox="1"/>
          <p:nvPr/>
        </p:nvSpPr>
        <p:spPr>
          <a:xfrm>
            <a:off x="1600200" y="3651800"/>
            <a:ext cx="3505200" cy="4801314"/>
          </a:xfrm>
          <a:prstGeom prst="rect">
            <a:avLst/>
          </a:prstGeom>
          <a:noFill/>
        </p:spPr>
        <p:txBody>
          <a:bodyPr wrap="square">
            <a:spAutoFit/>
          </a:bodyPr>
          <a:lstStyle/>
          <a:p>
            <a:pPr>
              <a:buNone/>
            </a:pPr>
            <a:r>
              <a:rPr lang="en-US" altLang="ja-JP" b="1" dirty="0"/>
              <a:t>Slide 6</a:t>
            </a:r>
            <a:r>
              <a:rPr lang="ja-JP" altLang="en-US" b="1" dirty="0"/>
              <a:t>「定式化：目的関数（最小化問題）」</a:t>
            </a:r>
          </a:p>
          <a:p>
            <a:pPr>
              <a:buNone/>
            </a:pPr>
            <a:r>
              <a:rPr lang="ja-JP" altLang="en-US" dirty="0"/>
              <a:t>目的関数は最小化として記述し，構造は「市場損益」「調整市場収益」「劣化コスト」の和で表します。</a:t>
            </a:r>
            <a:br>
              <a:rPr lang="ja-JP" altLang="en-US" dirty="0"/>
            </a:br>
            <a:r>
              <a:rPr lang="ja-JP" altLang="en-US" dirty="0"/>
              <a:t>市場から得られる収益成分と，劣化によるコスト成分を同時に扱うことで，短期的な収益偏重を避ける設計です。</a:t>
            </a:r>
            <a:br>
              <a:rPr lang="ja-JP" altLang="en-US" dirty="0"/>
            </a:br>
            <a:r>
              <a:rPr lang="ja-JP" altLang="en-US" dirty="0"/>
              <a:t>劣化は正規化した劣化関数として取り込み，それを金銭換算する係数</a:t>
            </a:r>
            <a:r>
              <a:rPr lang="en-US" altLang="ja-JP" dirty="0"/>
              <a:t>c</a:t>
            </a:r>
            <a:r>
              <a:rPr lang="ja-JP" altLang="en-US" dirty="0"/>
              <a:t>を用いて目的関数に加えます。</a:t>
            </a:r>
            <a:br>
              <a:rPr lang="ja-JP" altLang="en-US" dirty="0"/>
            </a:br>
            <a:r>
              <a:rPr lang="ja-JP" altLang="en-US" dirty="0"/>
              <a:t>本資料では，</a:t>
            </a:r>
            <a:r>
              <a:rPr lang="en-US" altLang="ja-JP" dirty="0"/>
              <a:t>c=72,500</a:t>
            </a:r>
            <a:r>
              <a:rPr lang="ja-JP" altLang="en-US" dirty="0"/>
              <a:t>を</a:t>
            </a:r>
            <a:r>
              <a:rPr lang="en-US" altLang="ja-JP" dirty="0"/>
              <a:t>1</a:t>
            </a:r>
            <a:r>
              <a:rPr lang="ja-JP" altLang="en-US" dirty="0"/>
              <a:t>日・</a:t>
            </a:r>
            <a:r>
              <a:rPr lang="en-US" altLang="ja-JP" dirty="0"/>
              <a:t>1kWh</a:t>
            </a:r>
            <a:r>
              <a:rPr lang="ja-JP" altLang="en-US" dirty="0"/>
              <a:t>あたりの劣化コスト単価として設定しています。</a:t>
            </a: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pPr>
              <a:buNone/>
            </a:pPr>
            <a:r>
              <a:rPr lang="en-US" altLang="ja-JP" b="1" dirty="0"/>
              <a:t>Slide 7</a:t>
            </a:r>
            <a:r>
              <a:rPr lang="ja-JP" altLang="en-US" b="1" dirty="0"/>
              <a:t>「劣化モデル：ピースワイズ線形化」</a:t>
            </a:r>
          </a:p>
          <a:p>
            <a:pPr>
              <a:buNone/>
            </a:pPr>
            <a:r>
              <a:rPr lang="ja-JP" altLang="en-US" dirty="0"/>
              <a:t>劣化モデルは，ピースワイズ線形化で</a:t>
            </a:r>
            <a:r>
              <a:rPr lang="en-US" altLang="ja-JP" dirty="0"/>
              <a:t>MILP</a:t>
            </a:r>
            <a:r>
              <a:rPr lang="ja-JP" altLang="en-US" dirty="0"/>
              <a:t>に導入します。</a:t>
            </a:r>
            <a:br>
              <a:rPr lang="ja-JP" altLang="en-US" dirty="0"/>
            </a:br>
            <a:r>
              <a:rPr lang="en-US" altLang="ja-JP" dirty="0"/>
              <a:t>Case1</a:t>
            </a:r>
            <a:r>
              <a:rPr lang="ja-JP" altLang="en-US" dirty="0"/>
              <a:t>は一次元ピースワイズで，劣化を</a:t>
            </a:r>
            <a:r>
              <a:rPr lang="en-US" altLang="ja-JP" dirty="0"/>
              <a:t>DoD</a:t>
            </a:r>
            <a:r>
              <a:rPr lang="ja-JP" altLang="en-US" dirty="0"/>
              <a:t>の関数として区分線形近似し，区間到達をバイナリ変数で表して増分変数で再構成します。</a:t>
            </a:r>
            <a:br>
              <a:rPr lang="ja-JP" altLang="en-US" dirty="0"/>
            </a:br>
            <a:r>
              <a:rPr lang="en-US" altLang="ja-JP" dirty="0"/>
              <a:t>Case2</a:t>
            </a:r>
            <a:r>
              <a:rPr lang="ja-JP" altLang="en-US" dirty="0"/>
              <a:t>は二次元ピースワイズで，</a:t>
            </a:r>
            <a:r>
              <a:rPr lang="en-US" altLang="ja-JP" dirty="0"/>
              <a:t>DoD</a:t>
            </a:r>
            <a:r>
              <a:rPr lang="ja-JP" altLang="en-US" dirty="0"/>
              <a:t>軸と</a:t>
            </a:r>
            <a:r>
              <a:rPr lang="en-US" altLang="ja-JP" dirty="0"/>
              <a:t>SOC</a:t>
            </a:r>
            <a:r>
              <a:rPr lang="ja-JP" altLang="en-US" dirty="0"/>
              <a:t>軸を各</a:t>
            </a:r>
            <a:r>
              <a:rPr lang="en-US" altLang="ja-JP" dirty="0"/>
              <a:t>10</a:t>
            </a:r>
            <a:r>
              <a:rPr lang="ja-JP" altLang="en-US" dirty="0"/>
              <a:t>分割し，</a:t>
            </a:r>
            <a:r>
              <a:rPr lang="en-US" altLang="ja-JP" dirty="0"/>
              <a:t>10×10</a:t>
            </a:r>
            <a:r>
              <a:rPr lang="ja-JP" altLang="en-US" dirty="0"/>
              <a:t>セル上で近似します。セル選択のバイナリと補助変数で</a:t>
            </a:r>
            <a:r>
              <a:rPr lang="en-US" altLang="ja-JP" dirty="0"/>
              <a:t>AND</a:t>
            </a:r>
            <a:r>
              <a:rPr lang="ja-JP" altLang="en-US" dirty="0"/>
              <a:t>条件を線形化し，</a:t>
            </a:r>
            <a:r>
              <a:rPr lang="en-US" altLang="ja-JP" b="1" dirty="0"/>
              <a:t>SOC</a:t>
            </a:r>
            <a:r>
              <a:rPr lang="ja-JP" altLang="en-US" b="1" dirty="0"/>
              <a:t>水準の違いによる劣化感度</a:t>
            </a:r>
            <a:r>
              <a:rPr lang="ja-JP" altLang="en-US" dirty="0"/>
              <a:t>を反映できる点が特徴です。</a:t>
            </a:r>
            <a:br>
              <a:rPr lang="ja-JP" altLang="en-US" dirty="0"/>
            </a:br>
            <a:r>
              <a:rPr lang="ja-JP" altLang="en-US" dirty="0"/>
              <a:t>この違いが，後半の</a:t>
            </a:r>
            <a:r>
              <a:rPr lang="en-US" altLang="ja-JP" dirty="0"/>
              <a:t>SOC</a:t>
            </a:r>
            <a:r>
              <a:rPr lang="ja-JP" altLang="en-US" dirty="0"/>
              <a:t>戦略の差として現れます。</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
        <p:nvSpPr>
          <p:cNvPr id="6" name="テキスト ボックス 5">
            <a:extLst>
              <a:ext uri="{FF2B5EF4-FFF2-40B4-BE49-F238E27FC236}">
                <a16:creationId xmlns:a16="http://schemas.microsoft.com/office/drawing/2014/main" id="{1BF1D13A-A7F1-7C59-F8B5-3C7FBC9E3E12}"/>
              </a:ext>
            </a:extLst>
          </p:cNvPr>
          <p:cNvSpPr txBox="1"/>
          <p:nvPr/>
        </p:nvSpPr>
        <p:spPr>
          <a:xfrm>
            <a:off x="1600200" y="3513301"/>
            <a:ext cx="3505200" cy="5078313"/>
          </a:xfrm>
          <a:prstGeom prst="rect">
            <a:avLst/>
          </a:prstGeom>
          <a:noFill/>
        </p:spPr>
        <p:txBody>
          <a:bodyPr wrap="square">
            <a:spAutoFit/>
          </a:bodyPr>
          <a:lstStyle/>
          <a:p>
            <a:pPr>
              <a:buNone/>
            </a:pPr>
            <a:r>
              <a:rPr lang="en-US" altLang="ja-JP" b="1" dirty="0"/>
              <a:t>Slide 7</a:t>
            </a:r>
            <a:r>
              <a:rPr lang="ja-JP" altLang="en-US" b="1" dirty="0"/>
              <a:t>「劣化モデル：ピースワイズ線形化」</a:t>
            </a:r>
          </a:p>
          <a:p>
            <a:pPr>
              <a:buNone/>
            </a:pPr>
            <a:r>
              <a:rPr lang="ja-JP" altLang="en-US" dirty="0"/>
              <a:t>劣化モデルは，ピースワイズ線形化で</a:t>
            </a:r>
            <a:r>
              <a:rPr lang="en-US" altLang="ja-JP" dirty="0"/>
              <a:t>MILP</a:t>
            </a:r>
            <a:r>
              <a:rPr lang="ja-JP" altLang="en-US" dirty="0"/>
              <a:t>に導入します。</a:t>
            </a:r>
            <a:br>
              <a:rPr lang="ja-JP" altLang="en-US" dirty="0"/>
            </a:br>
            <a:r>
              <a:rPr lang="en-US" altLang="ja-JP" dirty="0"/>
              <a:t>Case1</a:t>
            </a:r>
            <a:r>
              <a:rPr lang="ja-JP" altLang="en-US" dirty="0"/>
              <a:t>は一次元ピースワイズで，劣化を</a:t>
            </a:r>
            <a:r>
              <a:rPr lang="en-US" altLang="ja-JP" dirty="0"/>
              <a:t>DoD</a:t>
            </a:r>
            <a:r>
              <a:rPr lang="ja-JP" altLang="en-US" dirty="0"/>
              <a:t>の関数として区分線形近似し，区間到達をバイナリ変数で表して増分変数で再構成します。</a:t>
            </a:r>
            <a:br>
              <a:rPr lang="ja-JP" altLang="en-US" dirty="0"/>
            </a:br>
            <a:r>
              <a:rPr lang="en-US" altLang="ja-JP" dirty="0"/>
              <a:t>Case2</a:t>
            </a:r>
            <a:r>
              <a:rPr lang="ja-JP" altLang="en-US" dirty="0"/>
              <a:t>は二次元ピースワイズで，</a:t>
            </a:r>
            <a:r>
              <a:rPr lang="en-US" altLang="ja-JP" dirty="0"/>
              <a:t>DoD</a:t>
            </a:r>
            <a:r>
              <a:rPr lang="ja-JP" altLang="en-US" dirty="0"/>
              <a:t>軸と</a:t>
            </a:r>
            <a:r>
              <a:rPr lang="en-US" altLang="ja-JP" dirty="0"/>
              <a:t>SOC</a:t>
            </a:r>
            <a:r>
              <a:rPr lang="ja-JP" altLang="en-US" dirty="0"/>
              <a:t>軸を各</a:t>
            </a:r>
            <a:r>
              <a:rPr lang="en-US" altLang="ja-JP" dirty="0"/>
              <a:t>10</a:t>
            </a:r>
            <a:r>
              <a:rPr lang="ja-JP" altLang="en-US" dirty="0"/>
              <a:t>分割し，</a:t>
            </a:r>
            <a:r>
              <a:rPr lang="en-US" altLang="ja-JP" dirty="0"/>
              <a:t>10×10</a:t>
            </a:r>
            <a:r>
              <a:rPr lang="ja-JP" altLang="en-US" dirty="0"/>
              <a:t>セル上で近似します。セル選択のバイナリと補助変数で</a:t>
            </a:r>
            <a:r>
              <a:rPr lang="en-US" altLang="ja-JP" dirty="0"/>
              <a:t>AND</a:t>
            </a:r>
            <a:r>
              <a:rPr lang="ja-JP" altLang="en-US" dirty="0"/>
              <a:t>条件を線形化し，</a:t>
            </a:r>
            <a:r>
              <a:rPr lang="en-US" altLang="ja-JP" b="1" dirty="0"/>
              <a:t>SOC</a:t>
            </a:r>
            <a:r>
              <a:rPr lang="ja-JP" altLang="en-US" b="1" dirty="0"/>
              <a:t>水準の違いによる劣化感度</a:t>
            </a:r>
            <a:r>
              <a:rPr lang="ja-JP" altLang="en-US" dirty="0"/>
              <a:t>を反映できる点が特徴です。</a:t>
            </a:r>
            <a:br>
              <a:rPr lang="ja-JP" altLang="en-US" dirty="0"/>
            </a:br>
            <a:r>
              <a:rPr lang="ja-JP" altLang="en-US" dirty="0"/>
              <a:t>この違いが，後半の</a:t>
            </a:r>
            <a:r>
              <a:rPr lang="en-US" altLang="ja-JP" dirty="0"/>
              <a:t>SOC</a:t>
            </a:r>
            <a:r>
              <a:rPr lang="ja-JP" altLang="en-US" dirty="0"/>
              <a:t>戦略の差として現れます。</a:t>
            </a: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pPr>
              <a:buNone/>
            </a:pPr>
            <a:r>
              <a:rPr lang="en-US" altLang="ja-JP" b="1" dirty="0"/>
              <a:t>Slide 8</a:t>
            </a:r>
            <a:r>
              <a:rPr lang="ja-JP" altLang="en-US" b="1" dirty="0"/>
              <a:t>「主な制約」</a:t>
            </a:r>
          </a:p>
          <a:p>
            <a:pPr>
              <a:buNone/>
            </a:pPr>
            <a:r>
              <a:rPr lang="ja-JP" altLang="en-US" dirty="0"/>
              <a:t>主な制約は</a:t>
            </a:r>
            <a:r>
              <a:rPr lang="en-US" altLang="ja-JP" dirty="0"/>
              <a:t>3</a:t>
            </a:r>
            <a:r>
              <a:rPr lang="ja-JP" altLang="en-US" dirty="0"/>
              <a:t>群です。</a:t>
            </a:r>
            <a:br>
              <a:rPr lang="ja-JP" altLang="en-US" dirty="0"/>
            </a:br>
            <a:r>
              <a:rPr lang="en-US" altLang="ja-JP" dirty="0"/>
              <a:t>1</a:t>
            </a:r>
            <a:r>
              <a:rPr lang="ja-JP" altLang="en-US" dirty="0"/>
              <a:t>つ目が</a:t>
            </a:r>
            <a:r>
              <a:rPr lang="en-US" altLang="ja-JP" dirty="0"/>
              <a:t>SOC</a:t>
            </a:r>
            <a:r>
              <a:rPr lang="ja-JP" altLang="en-US" dirty="0"/>
              <a:t>ダイナミクスで，充放電と効率を通じて時系列の</a:t>
            </a:r>
            <a:r>
              <a:rPr lang="en-US" altLang="ja-JP" dirty="0"/>
              <a:t>SOC</a:t>
            </a:r>
            <a:r>
              <a:rPr lang="ja-JP" altLang="en-US" dirty="0"/>
              <a:t>遷移を拘束します。</a:t>
            </a:r>
            <a:br>
              <a:rPr lang="ja-JP" altLang="en-US" dirty="0"/>
            </a:br>
            <a:r>
              <a:rPr lang="en-US" altLang="ja-JP" dirty="0"/>
              <a:t>2</a:t>
            </a:r>
            <a:r>
              <a:rPr lang="ja-JP" altLang="en-US" dirty="0"/>
              <a:t>つ目が容量配分で，市場間の重複利用が起きないように，スポット取引と調整力提供の同時成立条件を制約で管理します。</a:t>
            </a:r>
            <a:br>
              <a:rPr lang="ja-JP" altLang="en-US" dirty="0"/>
            </a:br>
            <a:r>
              <a:rPr lang="en-US" altLang="ja-JP" dirty="0"/>
              <a:t>3</a:t>
            </a:r>
            <a:r>
              <a:rPr lang="ja-JP" altLang="en-US" dirty="0"/>
              <a:t>つ目が終端条件と正規化で，運用期間の前後で総状態量を一致させ，過度な残留または枯渇を抑制します。加えて二次元ピースワイズでは</a:t>
            </a:r>
            <a:r>
              <a:rPr lang="en-US" altLang="ja-JP" dirty="0"/>
              <a:t>DoD</a:t>
            </a:r>
            <a:r>
              <a:rPr lang="ja-JP" altLang="en-US" dirty="0"/>
              <a:t>方向の重みを総和</a:t>
            </a:r>
            <a:r>
              <a:rPr lang="en-US" altLang="ja-JP" dirty="0"/>
              <a:t>=1</a:t>
            </a:r>
            <a:r>
              <a:rPr lang="ja-JP" altLang="en-US" dirty="0"/>
              <a:t>に正規化します。</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
        <p:nvSpPr>
          <p:cNvPr id="6" name="テキスト ボックス 5">
            <a:extLst>
              <a:ext uri="{FF2B5EF4-FFF2-40B4-BE49-F238E27FC236}">
                <a16:creationId xmlns:a16="http://schemas.microsoft.com/office/drawing/2014/main" id="{0BC79BF2-05A9-2410-B09E-700C34F8DD58}"/>
              </a:ext>
            </a:extLst>
          </p:cNvPr>
          <p:cNvSpPr txBox="1"/>
          <p:nvPr/>
        </p:nvSpPr>
        <p:spPr>
          <a:xfrm>
            <a:off x="1600200" y="3928799"/>
            <a:ext cx="3505200" cy="4247317"/>
          </a:xfrm>
          <a:prstGeom prst="rect">
            <a:avLst/>
          </a:prstGeom>
          <a:noFill/>
        </p:spPr>
        <p:txBody>
          <a:bodyPr wrap="square">
            <a:spAutoFit/>
          </a:bodyPr>
          <a:lstStyle/>
          <a:p>
            <a:pPr>
              <a:buNone/>
            </a:pPr>
            <a:r>
              <a:rPr lang="en-US" altLang="ja-JP" b="1" dirty="0"/>
              <a:t>Slide 8</a:t>
            </a:r>
            <a:r>
              <a:rPr lang="ja-JP" altLang="en-US" b="1" dirty="0"/>
              <a:t>「主な制約」</a:t>
            </a:r>
          </a:p>
          <a:p>
            <a:pPr>
              <a:buNone/>
            </a:pPr>
            <a:r>
              <a:rPr lang="ja-JP" altLang="en-US" dirty="0"/>
              <a:t>主な制約は</a:t>
            </a:r>
            <a:r>
              <a:rPr lang="en-US" altLang="ja-JP" dirty="0"/>
              <a:t>3</a:t>
            </a:r>
            <a:r>
              <a:rPr lang="ja-JP" altLang="en-US" dirty="0"/>
              <a:t>群です。</a:t>
            </a:r>
            <a:br>
              <a:rPr lang="ja-JP" altLang="en-US" dirty="0"/>
            </a:br>
            <a:r>
              <a:rPr lang="en-US" altLang="ja-JP" dirty="0"/>
              <a:t>1</a:t>
            </a:r>
            <a:r>
              <a:rPr lang="ja-JP" altLang="en-US" dirty="0"/>
              <a:t>つ目が</a:t>
            </a:r>
            <a:r>
              <a:rPr lang="en-US" altLang="ja-JP" dirty="0"/>
              <a:t>SOC</a:t>
            </a:r>
            <a:r>
              <a:rPr lang="ja-JP" altLang="en-US" dirty="0"/>
              <a:t>ダイナミクスで，充放電と効率を通じて時系列の</a:t>
            </a:r>
            <a:r>
              <a:rPr lang="en-US" altLang="ja-JP" dirty="0"/>
              <a:t>SOC</a:t>
            </a:r>
            <a:r>
              <a:rPr lang="ja-JP" altLang="en-US" dirty="0"/>
              <a:t>遷移を拘束します。</a:t>
            </a:r>
            <a:br>
              <a:rPr lang="ja-JP" altLang="en-US" dirty="0"/>
            </a:br>
            <a:r>
              <a:rPr lang="en-US" altLang="ja-JP" dirty="0"/>
              <a:t>2</a:t>
            </a:r>
            <a:r>
              <a:rPr lang="ja-JP" altLang="en-US" dirty="0"/>
              <a:t>つ目が容量配分で，市場間の重複利用が起きないように，スポット取引と調整力提供の同時成立条件を制約で管理します。</a:t>
            </a:r>
            <a:br>
              <a:rPr lang="ja-JP" altLang="en-US" dirty="0"/>
            </a:br>
            <a:r>
              <a:rPr lang="en-US" altLang="ja-JP" dirty="0"/>
              <a:t>3</a:t>
            </a:r>
            <a:r>
              <a:rPr lang="ja-JP" altLang="en-US" dirty="0"/>
              <a:t>つ目が終端条件と正規化で，運用期間の前後で総状態量を一致させ，過度な残留または枯渇を抑制します。加えて二次元ピースワイズでは</a:t>
            </a:r>
            <a:r>
              <a:rPr lang="en-US" altLang="ja-JP" dirty="0"/>
              <a:t>DoD</a:t>
            </a:r>
            <a:r>
              <a:rPr lang="ja-JP" altLang="en-US" dirty="0"/>
              <a:t>方向の重みを総和</a:t>
            </a:r>
            <a:r>
              <a:rPr lang="en-US" altLang="ja-JP" dirty="0"/>
              <a:t>=1</a:t>
            </a:r>
            <a:r>
              <a:rPr lang="ja-JP" altLang="en-US" dirty="0"/>
              <a:t>に正規化します。</a:t>
            </a: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pPr>
              <a:buNone/>
            </a:pPr>
            <a:r>
              <a:rPr lang="en-US" altLang="ja-JP" b="1" dirty="0"/>
              <a:t>Slide 9</a:t>
            </a:r>
            <a:r>
              <a:rPr lang="ja-JP" altLang="en-US" b="1" dirty="0"/>
              <a:t>「シミュレーション条件」</a:t>
            </a:r>
          </a:p>
          <a:p>
            <a:pPr>
              <a:buNone/>
            </a:pPr>
            <a:r>
              <a:rPr lang="ja-JP" altLang="en-US" dirty="0"/>
              <a:t>シミュレーションは代表日</a:t>
            </a:r>
            <a:r>
              <a:rPr lang="en-US" altLang="ja-JP" dirty="0"/>
              <a:t>2</a:t>
            </a:r>
            <a:r>
              <a:rPr lang="ja-JP" altLang="en-US" dirty="0"/>
              <a:t>日で比較します。</a:t>
            </a:r>
            <a:r>
              <a:rPr lang="en-US" altLang="ja-JP" dirty="0"/>
              <a:t>5</a:t>
            </a:r>
            <a:r>
              <a:rPr lang="ja-JP" altLang="en-US" dirty="0"/>
              <a:t>月は</a:t>
            </a:r>
            <a:r>
              <a:rPr lang="en-US" altLang="ja-JP" dirty="0"/>
              <a:t>2024/5/2</a:t>
            </a:r>
            <a:r>
              <a:rPr lang="ja-JP" altLang="en-US" dirty="0"/>
              <a:t>（平日），</a:t>
            </a:r>
            <a:r>
              <a:rPr lang="en-US" altLang="ja-JP" dirty="0"/>
              <a:t>6</a:t>
            </a:r>
            <a:r>
              <a:rPr lang="ja-JP" altLang="en-US" dirty="0"/>
              <a:t>月は</a:t>
            </a:r>
            <a:r>
              <a:rPr lang="en-US" altLang="ja-JP" dirty="0"/>
              <a:t>2024/6/27</a:t>
            </a:r>
            <a:r>
              <a:rPr lang="ja-JP" altLang="en-US" dirty="0"/>
              <a:t>（休日）です。</a:t>
            </a:r>
            <a:br>
              <a:rPr lang="ja-JP" altLang="en-US" dirty="0"/>
            </a:br>
            <a:r>
              <a:rPr lang="ja-JP" altLang="en-US" dirty="0"/>
              <a:t>入力は，スポット価格が各代表日のデータ，一次・二次調整価格は</a:t>
            </a:r>
            <a:r>
              <a:rPr lang="en-US" altLang="ja-JP" dirty="0"/>
              <a:t>3</a:t>
            </a:r>
            <a:r>
              <a:rPr lang="ja-JP" altLang="en-US" dirty="0"/>
              <a:t>時間ブロックに集約して用います。</a:t>
            </a:r>
            <a:br>
              <a:rPr lang="ja-JP" altLang="en-US" dirty="0"/>
            </a:br>
            <a:r>
              <a:rPr lang="ja-JP" altLang="en-US" dirty="0"/>
              <a:t>比較ケースは，</a:t>
            </a:r>
            <a:r>
              <a:rPr lang="en-US" altLang="ja-JP" dirty="0"/>
              <a:t>Case0</a:t>
            </a:r>
            <a:r>
              <a:rPr lang="ja-JP" altLang="en-US" dirty="0"/>
              <a:t>が劣化なし，</a:t>
            </a:r>
            <a:r>
              <a:rPr lang="en-US" altLang="ja-JP" dirty="0"/>
              <a:t>Case1</a:t>
            </a:r>
            <a:r>
              <a:rPr lang="ja-JP" altLang="en-US" dirty="0"/>
              <a:t>が</a:t>
            </a:r>
            <a:r>
              <a:rPr lang="en-US" altLang="ja-JP" dirty="0"/>
              <a:t>DoD</a:t>
            </a:r>
            <a:r>
              <a:rPr lang="ja-JP" altLang="en-US" dirty="0"/>
              <a:t>のみの一次元，</a:t>
            </a:r>
            <a:r>
              <a:rPr lang="en-US" altLang="ja-JP" dirty="0"/>
              <a:t>Case2</a:t>
            </a:r>
            <a:r>
              <a:rPr lang="ja-JP" altLang="en-US" dirty="0"/>
              <a:t>が</a:t>
            </a:r>
            <a:r>
              <a:rPr lang="en-US" altLang="ja-JP" dirty="0" err="1"/>
              <a:t>DoD×SOC</a:t>
            </a:r>
            <a:r>
              <a:rPr lang="ja-JP" altLang="en-US" dirty="0"/>
              <a:t>の二次元（</a:t>
            </a:r>
            <a:r>
              <a:rPr lang="en-US" altLang="ja-JP" dirty="0"/>
              <a:t>10×10</a:t>
            </a:r>
            <a:r>
              <a:rPr lang="ja-JP" altLang="en-US" dirty="0"/>
              <a:t>）です。</a:t>
            </a:r>
            <a:br>
              <a:rPr lang="ja-JP" altLang="en-US" dirty="0"/>
            </a:br>
            <a:r>
              <a:rPr lang="ja-JP" altLang="en-US" dirty="0"/>
              <a:t>蓄電池条件は容量</a:t>
            </a:r>
            <a:r>
              <a:rPr lang="en-US" altLang="ja-JP" dirty="0"/>
              <a:t>1000kWh</a:t>
            </a:r>
            <a:r>
              <a:rPr lang="ja-JP" altLang="en-US" dirty="0"/>
              <a:t>，</a:t>
            </a:r>
            <a:r>
              <a:rPr lang="en-US" altLang="ja-JP" dirty="0"/>
              <a:t>SOC</a:t>
            </a:r>
            <a:r>
              <a:rPr lang="ja-JP" altLang="en-US" dirty="0"/>
              <a:t>範囲</a:t>
            </a:r>
            <a:r>
              <a:rPr lang="en-US" altLang="ja-JP" dirty="0"/>
              <a:t>0.1〜1.0</a:t>
            </a:r>
            <a:r>
              <a:rPr lang="ja-JP" altLang="en-US" dirty="0"/>
              <a:t>，初期</a:t>
            </a:r>
            <a:r>
              <a:rPr lang="en-US" altLang="ja-JP" dirty="0"/>
              <a:t>SOC0.5</a:t>
            </a:r>
            <a:r>
              <a:rPr lang="ja-JP" altLang="en-US" dirty="0"/>
              <a:t>，</a:t>
            </a:r>
            <a:r>
              <a:rPr lang="en-US" altLang="ja-JP" dirty="0"/>
              <a:t>PCS</a:t>
            </a:r>
            <a:r>
              <a:rPr lang="ja-JP" altLang="en-US" dirty="0"/>
              <a:t>効率</a:t>
            </a:r>
            <a:r>
              <a:rPr lang="en-US" altLang="ja-JP" dirty="0"/>
              <a:t>0.95</a:t>
            </a:r>
            <a:r>
              <a:rPr lang="ja-JP" altLang="en-US" dirty="0"/>
              <a:t>，電池効率</a:t>
            </a:r>
            <a:r>
              <a:rPr lang="en-US" altLang="ja-JP" dirty="0"/>
              <a:t>0.95</a:t>
            </a:r>
            <a:r>
              <a:rPr lang="ja-JP" altLang="en-US"/>
              <a:t>とします。</a:t>
            </a:r>
            <a:br>
              <a:rPr lang="ja-JP" altLang="en-US"/>
            </a:br>
            <a:r>
              <a:rPr lang="ja-JP" altLang="en-US"/>
              <a:t>次に，結果を示します。</a:t>
            </a:r>
            <a:endParaRPr lang="ja-JP" altLang="en-US" dirty="0"/>
          </a:p>
        </p:txBody>
      </p:sp>
      <p:sp>
        <p:nvSpPr>
          <p:cNvPr id="4" name="Slide Number Placeholder 3"/>
          <p:cNvSpPr>
            <a:spLocks noGrp="1"/>
          </p:cNvSpPr>
          <p:nvPr>
            <p:ph type="sldNum" sz="quarter" idx="10"/>
          </p:nvPr>
        </p:nvSpPr>
        <p:spPr/>
        <p:txBody>
          <a:bodyPr/>
          <a:lstStyle/>
          <a:p>
            <a:pPr>
              <a:buNone/>
            </a:pPr>
            <a:endParaRPr lang="ja-JP" altLang="en-US" dirty="0"/>
          </a:p>
        </p:txBody>
      </p:sp>
      <p:sp>
        <p:nvSpPr>
          <p:cNvPr id="6" name="テキスト ボックス 5">
            <a:extLst>
              <a:ext uri="{FF2B5EF4-FFF2-40B4-BE49-F238E27FC236}">
                <a16:creationId xmlns:a16="http://schemas.microsoft.com/office/drawing/2014/main" id="{12CC3F63-E760-F0BA-C086-B0B21F6C86E0}"/>
              </a:ext>
            </a:extLst>
          </p:cNvPr>
          <p:cNvSpPr txBox="1"/>
          <p:nvPr/>
        </p:nvSpPr>
        <p:spPr>
          <a:xfrm>
            <a:off x="1600200" y="3374801"/>
            <a:ext cx="3505200" cy="5355312"/>
          </a:xfrm>
          <a:prstGeom prst="rect">
            <a:avLst/>
          </a:prstGeom>
          <a:noFill/>
        </p:spPr>
        <p:txBody>
          <a:bodyPr wrap="square">
            <a:spAutoFit/>
          </a:bodyPr>
          <a:lstStyle/>
          <a:p>
            <a:pPr>
              <a:buNone/>
            </a:pPr>
            <a:r>
              <a:rPr lang="en-US" altLang="ja-JP" b="1" dirty="0"/>
              <a:t>Slide 9</a:t>
            </a:r>
            <a:r>
              <a:rPr lang="ja-JP" altLang="en-US" b="1" dirty="0"/>
              <a:t>「シミュレーション条件」</a:t>
            </a:r>
          </a:p>
          <a:p>
            <a:pPr>
              <a:buNone/>
            </a:pPr>
            <a:r>
              <a:rPr lang="ja-JP" altLang="en-US" dirty="0"/>
              <a:t>シミュレーションは代表日</a:t>
            </a:r>
            <a:r>
              <a:rPr lang="en-US" altLang="ja-JP" dirty="0"/>
              <a:t>2</a:t>
            </a:r>
            <a:r>
              <a:rPr lang="ja-JP" altLang="en-US" dirty="0"/>
              <a:t>日で比較します。</a:t>
            </a:r>
            <a:r>
              <a:rPr lang="en-US" altLang="ja-JP" dirty="0"/>
              <a:t>5</a:t>
            </a:r>
            <a:r>
              <a:rPr lang="ja-JP" altLang="en-US" dirty="0"/>
              <a:t>月は</a:t>
            </a:r>
            <a:r>
              <a:rPr lang="en-US" altLang="ja-JP" dirty="0"/>
              <a:t>2024/5/2</a:t>
            </a:r>
            <a:r>
              <a:rPr lang="ja-JP" altLang="en-US" dirty="0"/>
              <a:t>（平日），</a:t>
            </a:r>
            <a:r>
              <a:rPr lang="en-US" altLang="ja-JP" dirty="0"/>
              <a:t>6</a:t>
            </a:r>
            <a:r>
              <a:rPr lang="ja-JP" altLang="en-US" dirty="0"/>
              <a:t>月は</a:t>
            </a:r>
            <a:r>
              <a:rPr lang="en-US" altLang="ja-JP" dirty="0"/>
              <a:t>2024/6/27</a:t>
            </a:r>
            <a:r>
              <a:rPr lang="ja-JP" altLang="en-US" dirty="0"/>
              <a:t>（休日）です。</a:t>
            </a:r>
            <a:br>
              <a:rPr lang="ja-JP" altLang="en-US" dirty="0"/>
            </a:br>
            <a:r>
              <a:rPr lang="ja-JP" altLang="en-US" dirty="0"/>
              <a:t>入力は，スポット価格が各代表日のデータ，一次・二次調整価格は</a:t>
            </a:r>
            <a:r>
              <a:rPr lang="en-US" altLang="ja-JP" dirty="0"/>
              <a:t>3</a:t>
            </a:r>
            <a:r>
              <a:rPr lang="ja-JP" altLang="en-US" dirty="0"/>
              <a:t>時間ブロックに集約して用います。</a:t>
            </a:r>
            <a:br>
              <a:rPr lang="ja-JP" altLang="en-US" dirty="0"/>
            </a:br>
            <a:r>
              <a:rPr lang="ja-JP" altLang="en-US" dirty="0"/>
              <a:t>比較ケースは，</a:t>
            </a:r>
            <a:r>
              <a:rPr lang="en-US" altLang="ja-JP" dirty="0"/>
              <a:t>Case0</a:t>
            </a:r>
            <a:r>
              <a:rPr lang="ja-JP" altLang="en-US" dirty="0"/>
              <a:t>が劣化なし，</a:t>
            </a:r>
            <a:r>
              <a:rPr lang="en-US" altLang="ja-JP" dirty="0"/>
              <a:t>Case1</a:t>
            </a:r>
            <a:r>
              <a:rPr lang="ja-JP" altLang="en-US" dirty="0"/>
              <a:t>が</a:t>
            </a:r>
            <a:r>
              <a:rPr lang="en-US" altLang="ja-JP" dirty="0"/>
              <a:t>DoD</a:t>
            </a:r>
            <a:r>
              <a:rPr lang="ja-JP" altLang="en-US" dirty="0"/>
              <a:t>のみの一次元，</a:t>
            </a:r>
            <a:r>
              <a:rPr lang="en-US" altLang="ja-JP" dirty="0"/>
              <a:t>Case2</a:t>
            </a:r>
            <a:r>
              <a:rPr lang="ja-JP" altLang="en-US" dirty="0"/>
              <a:t>が</a:t>
            </a:r>
            <a:r>
              <a:rPr lang="en-US" altLang="ja-JP" dirty="0" err="1"/>
              <a:t>DoD×SOC</a:t>
            </a:r>
            <a:r>
              <a:rPr lang="ja-JP" altLang="en-US" dirty="0"/>
              <a:t>の二次元（</a:t>
            </a:r>
            <a:r>
              <a:rPr lang="en-US" altLang="ja-JP" dirty="0"/>
              <a:t>10×10</a:t>
            </a:r>
            <a:r>
              <a:rPr lang="ja-JP" altLang="en-US" dirty="0"/>
              <a:t>）です。</a:t>
            </a:r>
            <a:br>
              <a:rPr lang="ja-JP" altLang="en-US" dirty="0"/>
            </a:br>
            <a:r>
              <a:rPr lang="ja-JP" altLang="en-US" dirty="0"/>
              <a:t>蓄電池条件は容量</a:t>
            </a:r>
            <a:r>
              <a:rPr lang="en-US" altLang="ja-JP" dirty="0"/>
              <a:t>1000kWh</a:t>
            </a:r>
            <a:r>
              <a:rPr lang="ja-JP" altLang="en-US" dirty="0"/>
              <a:t>，</a:t>
            </a:r>
            <a:r>
              <a:rPr lang="en-US" altLang="ja-JP" dirty="0"/>
              <a:t>SOC</a:t>
            </a:r>
            <a:r>
              <a:rPr lang="ja-JP" altLang="en-US" dirty="0"/>
              <a:t>範囲</a:t>
            </a:r>
            <a:r>
              <a:rPr lang="en-US" altLang="ja-JP" dirty="0"/>
              <a:t>0.1〜1.0</a:t>
            </a:r>
            <a:r>
              <a:rPr lang="ja-JP" altLang="en-US" dirty="0"/>
              <a:t>，初期</a:t>
            </a:r>
            <a:r>
              <a:rPr lang="en-US" altLang="ja-JP" dirty="0"/>
              <a:t>SOC0.5</a:t>
            </a:r>
            <a:r>
              <a:rPr lang="ja-JP" altLang="en-US" dirty="0"/>
              <a:t>，</a:t>
            </a:r>
            <a:r>
              <a:rPr lang="en-US" altLang="ja-JP" dirty="0"/>
              <a:t>PCS</a:t>
            </a:r>
            <a:r>
              <a:rPr lang="ja-JP" altLang="en-US" dirty="0"/>
              <a:t>効率</a:t>
            </a:r>
            <a:r>
              <a:rPr lang="en-US" altLang="ja-JP" dirty="0"/>
              <a:t>0.95</a:t>
            </a:r>
            <a:r>
              <a:rPr lang="ja-JP" altLang="en-US" dirty="0"/>
              <a:t>，電池効率</a:t>
            </a:r>
            <a:r>
              <a:rPr lang="en-US" altLang="ja-JP" dirty="0"/>
              <a:t>0.95</a:t>
            </a:r>
            <a:r>
              <a:rPr lang="ja-JP" altLang="en-US" dirty="0"/>
              <a:t>とします。</a:t>
            </a:r>
            <a:br>
              <a:rPr lang="ja-JP" altLang="en-US" dirty="0"/>
            </a:br>
            <a:r>
              <a:rPr lang="ja-JP" altLang="en-US" dirty="0"/>
              <a:t>次に，結果を示します。</a:t>
            </a: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pPr>
              <a:buNone/>
            </a:pPr>
            <a:r>
              <a:rPr lang="en-US" altLang="ja-JP" b="1" dirty="0"/>
              <a:t>Slide 10</a:t>
            </a:r>
            <a:r>
              <a:rPr lang="ja-JP" altLang="en-US" b="1" dirty="0"/>
              <a:t>「結果①：総劣化量（円</a:t>
            </a:r>
            <a:r>
              <a:rPr lang="en-US" altLang="ja-JP" b="1" dirty="0"/>
              <a:t>/</a:t>
            </a:r>
            <a:r>
              <a:rPr lang="ja-JP" altLang="en-US" b="1" dirty="0"/>
              <a:t>日）の比較」</a:t>
            </a:r>
          </a:p>
          <a:p>
            <a:pPr>
              <a:buNone/>
            </a:pPr>
            <a:r>
              <a:rPr lang="ja-JP" altLang="en-US" dirty="0"/>
              <a:t>結果</a:t>
            </a:r>
            <a:r>
              <a:rPr lang="en-US" altLang="ja-JP" dirty="0"/>
              <a:t>1</a:t>
            </a:r>
            <a:r>
              <a:rPr lang="ja-JP" altLang="en-US" dirty="0"/>
              <a:t>つ目は総劣化量の比較です。傾向として，二次元モデル（</a:t>
            </a:r>
            <a:r>
              <a:rPr lang="en-US" altLang="ja-JP" dirty="0"/>
              <a:t>Case2</a:t>
            </a:r>
            <a:r>
              <a:rPr lang="ja-JP" altLang="en-US" dirty="0"/>
              <a:t>）は一次元（</a:t>
            </a:r>
            <a:r>
              <a:rPr lang="en-US" altLang="ja-JP" dirty="0"/>
              <a:t>Case1</a:t>
            </a:r>
            <a:r>
              <a:rPr lang="ja-JP" altLang="en-US" dirty="0"/>
              <a:t>）より劣化評価が大きくなる傾向が出ています。</a:t>
            </a:r>
            <a:br>
              <a:rPr lang="ja-JP" altLang="en-US" dirty="0"/>
            </a:br>
            <a:r>
              <a:rPr lang="ja-JP" altLang="en-US" dirty="0"/>
              <a:t>読み取りとして，</a:t>
            </a:r>
            <a:r>
              <a:rPr lang="en-US" altLang="ja-JP" dirty="0"/>
              <a:t>5</a:t>
            </a:r>
            <a:r>
              <a:rPr lang="ja-JP" altLang="en-US" dirty="0"/>
              <a:t>月は</a:t>
            </a:r>
            <a:r>
              <a:rPr lang="en-US" altLang="ja-JP" dirty="0"/>
              <a:t>Case2</a:t>
            </a:r>
            <a:r>
              <a:rPr lang="ja-JP" altLang="en-US" dirty="0"/>
              <a:t>が</a:t>
            </a:r>
            <a:r>
              <a:rPr lang="en-US" altLang="ja-JP" dirty="0"/>
              <a:t>Case1</a:t>
            </a:r>
            <a:r>
              <a:rPr lang="ja-JP" altLang="en-US" dirty="0"/>
              <a:t>より</a:t>
            </a:r>
            <a:r>
              <a:rPr lang="en-US" altLang="ja-JP" dirty="0"/>
              <a:t>+13.2%</a:t>
            </a:r>
            <a:r>
              <a:rPr lang="ja-JP" altLang="en-US" dirty="0"/>
              <a:t>，</a:t>
            </a:r>
            <a:r>
              <a:rPr lang="en-US" altLang="ja-JP" dirty="0"/>
              <a:t>6</a:t>
            </a:r>
            <a:r>
              <a:rPr lang="ja-JP" altLang="en-US" dirty="0"/>
              <a:t>月は</a:t>
            </a:r>
            <a:r>
              <a:rPr lang="en-US" altLang="ja-JP" dirty="0"/>
              <a:t>+42.8%</a:t>
            </a:r>
            <a:r>
              <a:rPr lang="ja-JP" altLang="en-US" dirty="0"/>
              <a:t>で，月間差（</a:t>
            </a:r>
            <a:r>
              <a:rPr lang="en-US" altLang="ja-JP" dirty="0"/>
              <a:t>5→6</a:t>
            </a:r>
            <a:r>
              <a:rPr lang="ja-JP" altLang="en-US" dirty="0"/>
              <a:t>月）は</a:t>
            </a:r>
            <a:r>
              <a:rPr lang="en-US" altLang="ja-JP" dirty="0"/>
              <a:t>Case2</a:t>
            </a:r>
            <a:r>
              <a:rPr lang="ja-JP" altLang="en-US" dirty="0"/>
              <a:t>の増加が大きいです。</a:t>
            </a:r>
            <a:br>
              <a:rPr lang="ja-JP" altLang="en-US" dirty="0"/>
            </a:br>
            <a:r>
              <a:rPr lang="ja-JP" altLang="en-US" dirty="0"/>
              <a:t>解釈は，</a:t>
            </a:r>
            <a:r>
              <a:rPr lang="en-US" altLang="ja-JP" dirty="0"/>
              <a:t>SOC</a:t>
            </a:r>
            <a:r>
              <a:rPr lang="ja-JP" altLang="en-US" dirty="0"/>
              <a:t>水準による劣化感度を加えたことで，高</a:t>
            </a:r>
            <a:r>
              <a:rPr lang="en-US" altLang="ja-JP" dirty="0"/>
              <a:t>SOC</a:t>
            </a:r>
            <a:r>
              <a:rPr lang="ja-JP" altLang="en-US" dirty="0"/>
              <a:t>待機などの運用がよりコストとして計上されやすくなった，という点です。</a:t>
            </a:r>
            <a:br>
              <a:rPr lang="ja-JP" altLang="en-US" dirty="0"/>
            </a:br>
            <a:r>
              <a:rPr lang="ja-JP" altLang="en-US" dirty="0"/>
              <a:t>この後，目的関数（収益相当）の変化も確認します。</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
        <p:nvSpPr>
          <p:cNvPr id="6" name="テキスト ボックス 5">
            <a:extLst>
              <a:ext uri="{FF2B5EF4-FFF2-40B4-BE49-F238E27FC236}">
                <a16:creationId xmlns:a16="http://schemas.microsoft.com/office/drawing/2014/main" id="{45F7F0D1-4B2D-AE2A-AFF7-F1A068F3FCE2}"/>
              </a:ext>
            </a:extLst>
          </p:cNvPr>
          <p:cNvSpPr txBox="1"/>
          <p:nvPr/>
        </p:nvSpPr>
        <p:spPr>
          <a:xfrm>
            <a:off x="1600200" y="3513301"/>
            <a:ext cx="3505200" cy="5078313"/>
          </a:xfrm>
          <a:prstGeom prst="rect">
            <a:avLst/>
          </a:prstGeom>
          <a:noFill/>
        </p:spPr>
        <p:txBody>
          <a:bodyPr wrap="square">
            <a:spAutoFit/>
          </a:bodyPr>
          <a:lstStyle/>
          <a:p>
            <a:pPr>
              <a:buNone/>
            </a:pPr>
            <a:r>
              <a:rPr lang="en-US" altLang="ja-JP" b="1" dirty="0"/>
              <a:t>Slide 10</a:t>
            </a:r>
            <a:r>
              <a:rPr lang="ja-JP" altLang="en-US" b="1" dirty="0"/>
              <a:t>「結果①：総劣化量（円</a:t>
            </a:r>
            <a:r>
              <a:rPr lang="en-US" altLang="ja-JP" b="1" dirty="0"/>
              <a:t>/</a:t>
            </a:r>
            <a:r>
              <a:rPr lang="ja-JP" altLang="en-US" b="1" dirty="0"/>
              <a:t>日）の比較」</a:t>
            </a:r>
          </a:p>
          <a:p>
            <a:pPr>
              <a:buNone/>
            </a:pPr>
            <a:r>
              <a:rPr lang="ja-JP" altLang="en-US" dirty="0"/>
              <a:t>結果</a:t>
            </a:r>
            <a:r>
              <a:rPr lang="en-US" altLang="ja-JP" dirty="0"/>
              <a:t>1</a:t>
            </a:r>
            <a:r>
              <a:rPr lang="ja-JP" altLang="en-US" dirty="0"/>
              <a:t>つ目は総劣化量の比較です。傾向として，二次元モデル（</a:t>
            </a:r>
            <a:r>
              <a:rPr lang="en-US" altLang="ja-JP" dirty="0"/>
              <a:t>Case2</a:t>
            </a:r>
            <a:r>
              <a:rPr lang="ja-JP" altLang="en-US" dirty="0"/>
              <a:t>）は一次元（</a:t>
            </a:r>
            <a:r>
              <a:rPr lang="en-US" altLang="ja-JP" dirty="0"/>
              <a:t>Case1</a:t>
            </a:r>
            <a:r>
              <a:rPr lang="ja-JP" altLang="en-US" dirty="0"/>
              <a:t>）より劣化評価が大きくなる傾向が出ています。</a:t>
            </a:r>
            <a:br>
              <a:rPr lang="ja-JP" altLang="en-US" dirty="0"/>
            </a:br>
            <a:r>
              <a:rPr lang="ja-JP" altLang="en-US" dirty="0"/>
              <a:t>読み取りとして，</a:t>
            </a:r>
            <a:r>
              <a:rPr lang="en-US" altLang="ja-JP" dirty="0"/>
              <a:t>5</a:t>
            </a:r>
            <a:r>
              <a:rPr lang="ja-JP" altLang="en-US" dirty="0"/>
              <a:t>月は</a:t>
            </a:r>
            <a:r>
              <a:rPr lang="en-US" altLang="ja-JP" dirty="0"/>
              <a:t>Case2</a:t>
            </a:r>
            <a:r>
              <a:rPr lang="ja-JP" altLang="en-US" dirty="0"/>
              <a:t>が</a:t>
            </a:r>
            <a:r>
              <a:rPr lang="en-US" altLang="ja-JP" dirty="0"/>
              <a:t>Case1</a:t>
            </a:r>
            <a:r>
              <a:rPr lang="ja-JP" altLang="en-US" dirty="0"/>
              <a:t>より</a:t>
            </a:r>
            <a:r>
              <a:rPr lang="en-US" altLang="ja-JP" dirty="0"/>
              <a:t>+13.2%</a:t>
            </a:r>
            <a:r>
              <a:rPr lang="ja-JP" altLang="en-US" dirty="0"/>
              <a:t>，</a:t>
            </a:r>
            <a:r>
              <a:rPr lang="en-US" altLang="ja-JP" dirty="0"/>
              <a:t>6</a:t>
            </a:r>
            <a:r>
              <a:rPr lang="ja-JP" altLang="en-US" dirty="0"/>
              <a:t>月は</a:t>
            </a:r>
            <a:r>
              <a:rPr lang="en-US" altLang="ja-JP" dirty="0"/>
              <a:t>+42.8%</a:t>
            </a:r>
            <a:r>
              <a:rPr lang="ja-JP" altLang="en-US" dirty="0"/>
              <a:t>で，月間差（</a:t>
            </a:r>
            <a:r>
              <a:rPr lang="en-US" altLang="ja-JP" dirty="0"/>
              <a:t>5→6</a:t>
            </a:r>
            <a:r>
              <a:rPr lang="ja-JP" altLang="en-US" dirty="0"/>
              <a:t>月）は</a:t>
            </a:r>
            <a:r>
              <a:rPr lang="en-US" altLang="ja-JP" dirty="0"/>
              <a:t>Case2</a:t>
            </a:r>
            <a:r>
              <a:rPr lang="ja-JP" altLang="en-US" dirty="0"/>
              <a:t>の増加が大きいです。</a:t>
            </a:r>
            <a:br>
              <a:rPr lang="ja-JP" altLang="en-US" dirty="0"/>
            </a:br>
            <a:r>
              <a:rPr lang="ja-JP" altLang="en-US" dirty="0"/>
              <a:t>解釈は，</a:t>
            </a:r>
            <a:r>
              <a:rPr lang="en-US" altLang="ja-JP" dirty="0"/>
              <a:t>SOC</a:t>
            </a:r>
            <a:r>
              <a:rPr lang="ja-JP" altLang="en-US" dirty="0"/>
              <a:t>水準による劣化感度を加えたことで，高</a:t>
            </a:r>
            <a:r>
              <a:rPr lang="en-US" altLang="ja-JP" dirty="0"/>
              <a:t>SOC</a:t>
            </a:r>
            <a:r>
              <a:rPr lang="ja-JP" altLang="en-US" dirty="0"/>
              <a:t>待機などの運用がよりコストとして計上されやすくなった，という点です。</a:t>
            </a:r>
            <a:br>
              <a:rPr lang="ja-JP" altLang="en-US" dirty="0"/>
            </a:br>
            <a:r>
              <a:rPr lang="ja-JP" altLang="en-US" dirty="0"/>
              <a:t>この後，目的関数（収益相当）の変化も確認します。</a:t>
            </a: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pPr>
              <a:buNone/>
            </a:pPr>
            <a:r>
              <a:rPr lang="en-US" altLang="ja-JP" b="1" dirty="0"/>
              <a:t>Slide 11</a:t>
            </a:r>
            <a:r>
              <a:rPr lang="ja-JP" altLang="en-US" b="1" dirty="0"/>
              <a:t>「結果②：目的関数（収益相当）の比較」</a:t>
            </a:r>
          </a:p>
          <a:p>
            <a:pPr>
              <a:buNone/>
            </a:pPr>
            <a:r>
              <a:rPr lang="ja-JP" altLang="en-US" dirty="0"/>
              <a:t>結果</a:t>
            </a:r>
            <a:r>
              <a:rPr lang="en-US" altLang="ja-JP" dirty="0"/>
              <a:t>2</a:t>
            </a:r>
            <a:r>
              <a:rPr lang="ja-JP" altLang="en-US" dirty="0"/>
              <a:t>つ目は目的関数，つまり収益相当値の比較です。</a:t>
            </a:r>
            <a:br>
              <a:rPr lang="ja-JP" altLang="en-US" dirty="0"/>
            </a:br>
            <a:r>
              <a:rPr lang="ja-JP" altLang="en-US" dirty="0"/>
              <a:t>劣化を考慮するほど，劣化コストが上乗せされるため，収益相当値は低下します。</a:t>
            </a:r>
            <a:br>
              <a:rPr lang="ja-JP" altLang="en-US" dirty="0"/>
            </a:br>
            <a:r>
              <a:rPr lang="ja-JP" altLang="en-US" dirty="0"/>
              <a:t>また参考として</a:t>
            </a:r>
            <a:r>
              <a:rPr lang="en-US" altLang="ja-JP" dirty="0"/>
              <a:t>SOC</a:t>
            </a:r>
            <a:r>
              <a:rPr lang="ja-JP" altLang="en-US" dirty="0"/>
              <a:t>推移を見ると，</a:t>
            </a:r>
            <a:r>
              <a:rPr lang="en-US" altLang="ja-JP" dirty="0"/>
              <a:t>5</a:t>
            </a:r>
            <a:r>
              <a:rPr lang="ja-JP" altLang="en-US" dirty="0"/>
              <a:t>月（図</a:t>
            </a:r>
            <a:r>
              <a:rPr lang="en-US" altLang="ja-JP" dirty="0"/>
              <a:t>5</a:t>
            </a:r>
            <a:r>
              <a:rPr lang="ja-JP" altLang="en-US" dirty="0"/>
              <a:t>）と</a:t>
            </a:r>
            <a:r>
              <a:rPr lang="en-US" altLang="ja-JP" dirty="0"/>
              <a:t>6</a:t>
            </a:r>
            <a:r>
              <a:rPr lang="ja-JP" altLang="en-US" dirty="0"/>
              <a:t>月（図</a:t>
            </a:r>
            <a:r>
              <a:rPr lang="en-US" altLang="ja-JP" dirty="0"/>
              <a:t>8</a:t>
            </a:r>
            <a:r>
              <a:rPr lang="ja-JP" altLang="en-US" dirty="0"/>
              <a:t>）で，劣化表現の違いにより</a:t>
            </a:r>
            <a:r>
              <a:rPr lang="en-US" altLang="ja-JP" dirty="0"/>
              <a:t>SOC</a:t>
            </a:r>
            <a:r>
              <a:rPr lang="ja-JP" altLang="en-US" dirty="0"/>
              <a:t>の取り方が変わっていることが分かります。</a:t>
            </a:r>
            <a:br>
              <a:rPr lang="ja-JP" altLang="en-US" dirty="0"/>
            </a:br>
            <a:r>
              <a:rPr lang="ja-JP" altLang="en-US" dirty="0"/>
              <a:t>この</a:t>
            </a:r>
            <a:r>
              <a:rPr lang="en-US" altLang="ja-JP" dirty="0"/>
              <a:t>SOC</a:t>
            </a:r>
            <a:r>
              <a:rPr lang="ja-JP" altLang="en-US" dirty="0"/>
              <a:t>挙動の差を，次の考察で整理します。</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
        <p:nvSpPr>
          <p:cNvPr id="6" name="テキスト ボックス 5">
            <a:extLst>
              <a:ext uri="{FF2B5EF4-FFF2-40B4-BE49-F238E27FC236}">
                <a16:creationId xmlns:a16="http://schemas.microsoft.com/office/drawing/2014/main" id="{410FE2CE-9092-1CED-AD30-3FCF54574795}"/>
              </a:ext>
            </a:extLst>
          </p:cNvPr>
          <p:cNvSpPr txBox="1"/>
          <p:nvPr/>
        </p:nvSpPr>
        <p:spPr>
          <a:xfrm>
            <a:off x="1600200" y="4067298"/>
            <a:ext cx="3505200" cy="3970318"/>
          </a:xfrm>
          <a:prstGeom prst="rect">
            <a:avLst/>
          </a:prstGeom>
          <a:noFill/>
        </p:spPr>
        <p:txBody>
          <a:bodyPr wrap="square">
            <a:spAutoFit/>
          </a:bodyPr>
          <a:lstStyle/>
          <a:p>
            <a:pPr>
              <a:buNone/>
            </a:pPr>
            <a:r>
              <a:rPr lang="en-US" altLang="ja-JP" b="1" dirty="0"/>
              <a:t>Slide 11</a:t>
            </a:r>
            <a:r>
              <a:rPr lang="ja-JP" altLang="en-US" b="1" dirty="0"/>
              <a:t>「結果②：目的関数（収益相当）の比較」</a:t>
            </a:r>
          </a:p>
          <a:p>
            <a:pPr>
              <a:buNone/>
            </a:pPr>
            <a:r>
              <a:rPr lang="ja-JP" altLang="en-US" dirty="0"/>
              <a:t>結果</a:t>
            </a:r>
            <a:r>
              <a:rPr lang="en-US" altLang="ja-JP" dirty="0"/>
              <a:t>2</a:t>
            </a:r>
            <a:r>
              <a:rPr lang="ja-JP" altLang="en-US" dirty="0"/>
              <a:t>つ目は目的関数，つまり収益相当値の比較です。</a:t>
            </a:r>
            <a:br>
              <a:rPr lang="ja-JP" altLang="en-US" dirty="0"/>
            </a:br>
            <a:r>
              <a:rPr lang="ja-JP" altLang="en-US" dirty="0"/>
              <a:t>劣化を考慮するほど，劣化コストが上乗せされるため，収益相当値は低下します。</a:t>
            </a:r>
            <a:br>
              <a:rPr lang="ja-JP" altLang="en-US" dirty="0"/>
            </a:br>
            <a:r>
              <a:rPr lang="ja-JP" altLang="en-US" dirty="0"/>
              <a:t>また参考として</a:t>
            </a:r>
            <a:r>
              <a:rPr lang="en-US" altLang="ja-JP" dirty="0"/>
              <a:t>SOC</a:t>
            </a:r>
            <a:r>
              <a:rPr lang="ja-JP" altLang="en-US" dirty="0"/>
              <a:t>推移を見ると，</a:t>
            </a:r>
            <a:r>
              <a:rPr lang="en-US" altLang="ja-JP" dirty="0"/>
              <a:t>5</a:t>
            </a:r>
            <a:r>
              <a:rPr lang="ja-JP" altLang="en-US" dirty="0"/>
              <a:t>月（図</a:t>
            </a:r>
            <a:r>
              <a:rPr lang="en-US" altLang="ja-JP" dirty="0"/>
              <a:t>5</a:t>
            </a:r>
            <a:r>
              <a:rPr lang="ja-JP" altLang="en-US" dirty="0"/>
              <a:t>）と</a:t>
            </a:r>
            <a:r>
              <a:rPr lang="en-US" altLang="ja-JP" dirty="0"/>
              <a:t>6</a:t>
            </a:r>
            <a:r>
              <a:rPr lang="ja-JP" altLang="en-US" dirty="0"/>
              <a:t>月（図</a:t>
            </a:r>
            <a:r>
              <a:rPr lang="en-US" altLang="ja-JP" dirty="0"/>
              <a:t>8</a:t>
            </a:r>
            <a:r>
              <a:rPr lang="ja-JP" altLang="en-US" dirty="0"/>
              <a:t>）で，劣化表現の違いにより</a:t>
            </a:r>
            <a:r>
              <a:rPr lang="en-US" altLang="ja-JP" dirty="0"/>
              <a:t>SOC</a:t>
            </a:r>
            <a:r>
              <a:rPr lang="ja-JP" altLang="en-US" dirty="0"/>
              <a:t>の取り方が変わっていることが分かります。</a:t>
            </a:r>
            <a:br>
              <a:rPr lang="ja-JP" altLang="en-US" dirty="0"/>
            </a:br>
            <a:r>
              <a:rPr lang="ja-JP" altLang="en-US" dirty="0"/>
              <a:t>この</a:t>
            </a:r>
            <a:r>
              <a:rPr lang="en-US" altLang="ja-JP" dirty="0"/>
              <a:t>SOC</a:t>
            </a:r>
            <a:r>
              <a:rPr lang="ja-JP" altLang="en-US" dirty="0"/>
              <a:t>挙動の差を，次の考察で整理します。</a:t>
            </a: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pPr>
              <a:buNone/>
            </a:pPr>
            <a:r>
              <a:rPr lang="en-US" altLang="ja-JP" b="1" dirty="0"/>
              <a:t>Slide 12</a:t>
            </a:r>
            <a:r>
              <a:rPr lang="ja-JP" altLang="en-US" b="1" dirty="0"/>
              <a:t>「考察」</a:t>
            </a:r>
          </a:p>
          <a:p>
            <a:pPr>
              <a:buNone/>
            </a:pPr>
            <a:r>
              <a:rPr lang="ja-JP" altLang="en-US" dirty="0"/>
              <a:t>観測された傾向として，</a:t>
            </a:r>
            <a:r>
              <a:rPr lang="en-US" altLang="ja-JP" dirty="0"/>
              <a:t>DoD</a:t>
            </a:r>
            <a:r>
              <a:rPr lang="ja-JP" altLang="en-US" dirty="0"/>
              <a:t>が大きい運用，ならびに深い充放電の繰り返しが劣化コスト増加の主要因でした。</a:t>
            </a:r>
            <a:br>
              <a:rPr lang="ja-JP" altLang="en-US" dirty="0"/>
            </a:br>
            <a:r>
              <a:rPr lang="ja-JP" altLang="en-US" dirty="0"/>
              <a:t>二次元モデルでは</a:t>
            </a:r>
            <a:r>
              <a:rPr lang="en-US" altLang="ja-JP" dirty="0"/>
              <a:t>SOC</a:t>
            </a:r>
            <a:r>
              <a:rPr lang="ja-JP" altLang="en-US" dirty="0"/>
              <a:t>水準に応じた劣化感度が入るため，高</a:t>
            </a:r>
            <a:r>
              <a:rPr lang="en-US" altLang="ja-JP" dirty="0"/>
              <a:t>SOC</a:t>
            </a:r>
            <a:r>
              <a:rPr lang="ja-JP" altLang="en-US" dirty="0"/>
              <a:t>で待機するよりも，必要直前まで低</a:t>
            </a:r>
            <a:r>
              <a:rPr lang="en-US" altLang="ja-JP" dirty="0"/>
              <a:t>SOC</a:t>
            </a:r>
            <a:r>
              <a:rPr lang="ja-JP" altLang="en-US" dirty="0"/>
              <a:t>を維持し，引き上げる運用が選ばれやすくなります。</a:t>
            </a:r>
            <a:br>
              <a:rPr lang="ja-JP" altLang="en-US" dirty="0"/>
            </a:br>
            <a:r>
              <a:rPr lang="ja-JP" altLang="en-US" dirty="0"/>
              <a:t>一方で運用上の含意として，低</a:t>
            </a:r>
            <a:r>
              <a:rPr lang="en-US" altLang="ja-JP" dirty="0"/>
              <a:t>SOC</a:t>
            </a:r>
            <a:r>
              <a:rPr lang="ja-JP" altLang="en-US" dirty="0"/>
              <a:t>待機は，実運用での価格予測誤差や指令不確実性を考えると，機会損失や応動不能リスクにつながります。</a:t>
            </a:r>
            <a:br>
              <a:rPr lang="ja-JP" altLang="en-US" dirty="0"/>
            </a:br>
            <a:r>
              <a:rPr lang="ja-JP" altLang="en-US" dirty="0"/>
              <a:t>改善の方向性として，不確実性を考慮したロバスト化・確率化，および最低待機水準の導入などで極端解を抑えることが示唆されます。</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
        <p:nvSpPr>
          <p:cNvPr id="6" name="テキスト ボックス 5">
            <a:extLst>
              <a:ext uri="{FF2B5EF4-FFF2-40B4-BE49-F238E27FC236}">
                <a16:creationId xmlns:a16="http://schemas.microsoft.com/office/drawing/2014/main" id="{3EE1D5D2-EF85-1B88-F4A0-FED837BE9404}"/>
              </a:ext>
            </a:extLst>
          </p:cNvPr>
          <p:cNvSpPr txBox="1"/>
          <p:nvPr/>
        </p:nvSpPr>
        <p:spPr>
          <a:xfrm>
            <a:off x="1600200" y="3097802"/>
            <a:ext cx="3505200" cy="5909310"/>
          </a:xfrm>
          <a:prstGeom prst="rect">
            <a:avLst/>
          </a:prstGeom>
          <a:noFill/>
        </p:spPr>
        <p:txBody>
          <a:bodyPr wrap="square">
            <a:spAutoFit/>
          </a:bodyPr>
          <a:lstStyle/>
          <a:p>
            <a:pPr>
              <a:buNone/>
            </a:pPr>
            <a:r>
              <a:rPr lang="en-US" altLang="ja-JP" b="1" dirty="0"/>
              <a:t>Slide 12</a:t>
            </a:r>
            <a:r>
              <a:rPr lang="ja-JP" altLang="en-US" b="1" dirty="0"/>
              <a:t>「考察」</a:t>
            </a:r>
          </a:p>
          <a:p>
            <a:pPr>
              <a:buNone/>
            </a:pPr>
            <a:r>
              <a:rPr lang="ja-JP" altLang="en-US" dirty="0"/>
              <a:t>観測された傾向として，</a:t>
            </a:r>
            <a:r>
              <a:rPr lang="en-US" altLang="ja-JP" dirty="0"/>
              <a:t>DoD</a:t>
            </a:r>
            <a:r>
              <a:rPr lang="ja-JP" altLang="en-US" dirty="0"/>
              <a:t>が大きい運用，ならびに深い充放電の繰り返しが劣化コスト増加の主要因でした。</a:t>
            </a:r>
            <a:br>
              <a:rPr lang="ja-JP" altLang="en-US" dirty="0"/>
            </a:br>
            <a:r>
              <a:rPr lang="ja-JP" altLang="en-US" dirty="0"/>
              <a:t>二次元モデルでは</a:t>
            </a:r>
            <a:r>
              <a:rPr lang="en-US" altLang="ja-JP" dirty="0"/>
              <a:t>SOC</a:t>
            </a:r>
            <a:r>
              <a:rPr lang="ja-JP" altLang="en-US" dirty="0"/>
              <a:t>水準に応じた劣化感度が入るため，高</a:t>
            </a:r>
            <a:r>
              <a:rPr lang="en-US" altLang="ja-JP" dirty="0"/>
              <a:t>SOC</a:t>
            </a:r>
            <a:r>
              <a:rPr lang="ja-JP" altLang="en-US" dirty="0"/>
              <a:t>で待機するよりも，必要直前まで低</a:t>
            </a:r>
            <a:r>
              <a:rPr lang="en-US" altLang="ja-JP" dirty="0"/>
              <a:t>SOC</a:t>
            </a:r>
            <a:r>
              <a:rPr lang="ja-JP" altLang="en-US" dirty="0"/>
              <a:t>を維持し，引き上げる運用が選ばれやすくなります。</a:t>
            </a:r>
            <a:br>
              <a:rPr lang="ja-JP" altLang="en-US" dirty="0"/>
            </a:br>
            <a:r>
              <a:rPr lang="ja-JP" altLang="en-US" dirty="0"/>
              <a:t>一方で運用上の含意として，低</a:t>
            </a:r>
            <a:r>
              <a:rPr lang="en-US" altLang="ja-JP" dirty="0"/>
              <a:t>SOC</a:t>
            </a:r>
            <a:r>
              <a:rPr lang="ja-JP" altLang="en-US" dirty="0"/>
              <a:t>待機は，実運用での価格予測誤差や指令不確実性を考えると，機会損失や応動不能リスクにつながります。</a:t>
            </a:r>
            <a:br>
              <a:rPr lang="ja-JP" altLang="en-US" dirty="0"/>
            </a:br>
            <a:r>
              <a:rPr lang="ja-JP" altLang="en-US" dirty="0"/>
              <a:t>改善の方向性として，不確実性を考慮したロバスト化・確率化，および最低待機水準の導入などで極端解を抑えることが示唆されます。</a:t>
            </a: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pPr>
              <a:buNone/>
            </a:pPr>
            <a:r>
              <a:rPr lang="en-US" altLang="ja-JP" b="1" dirty="0"/>
              <a:t>Slide 13</a:t>
            </a:r>
            <a:r>
              <a:rPr lang="ja-JP" altLang="en-US" b="1" dirty="0"/>
              <a:t>「結論と今後の課題」</a:t>
            </a:r>
          </a:p>
          <a:p>
            <a:pPr>
              <a:buNone/>
            </a:pPr>
            <a:r>
              <a:rPr lang="ja-JP" altLang="en-US" dirty="0"/>
              <a:t>結論として，劣化コストを目的関数に組み込み，劣化表現の違いが運用に与える影響を確認しました。</a:t>
            </a:r>
            <a:br>
              <a:rPr lang="ja-JP" altLang="en-US" dirty="0"/>
            </a:br>
            <a:r>
              <a:rPr lang="ja-JP" altLang="en-US" dirty="0"/>
              <a:t>特に</a:t>
            </a:r>
            <a:r>
              <a:rPr lang="en-US" altLang="ja-JP" dirty="0"/>
              <a:t>2D</a:t>
            </a:r>
            <a:r>
              <a:rPr lang="ja-JP" altLang="en-US" dirty="0"/>
              <a:t>ピースワイズにより</a:t>
            </a:r>
            <a:r>
              <a:rPr lang="en-US" altLang="ja-JP" dirty="0"/>
              <a:t>SOC</a:t>
            </a:r>
            <a:r>
              <a:rPr lang="ja-JP" altLang="en-US" dirty="0"/>
              <a:t>水準の劣化感度を反映でき，劣化を考慮した最適化は深い充放電を抑制する方向に作用しました。</a:t>
            </a:r>
            <a:br>
              <a:rPr lang="ja-JP" altLang="en-US" dirty="0"/>
            </a:br>
            <a:r>
              <a:rPr lang="ja-JP" altLang="en-US" dirty="0"/>
              <a:t>今後の課題は，不確実性（価格予測・指令）の導入として確率モデル／ロバスト最適化，運用リスクを反映する制約設計として最低待機水準や急変抑制，劣化指標の精緻化と妥当性検証，および長期評価です。</a:t>
            </a:r>
            <a:br>
              <a:rPr lang="ja-JP" altLang="en-US" dirty="0"/>
            </a:br>
            <a:r>
              <a:rPr lang="ja-JP" altLang="en-US" dirty="0"/>
              <a:t>以上で発表を終わります。ご質問を承ります。</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
        <p:nvSpPr>
          <p:cNvPr id="6" name="テキスト ボックス 5">
            <a:extLst>
              <a:ext uri="{FF2B5EF4-FFF2-40B4-BE49-F238E27FC236}">
                <a16:creationId xmlns:a16="http://schemas.microsoft.com/office/drawing/2014/main" id="{83812637-5B9E-3C24-94FC-C8C26C4462E2}"/>
              </a:ext>
            </a:extLst>
          </p:cNvPr>
          <p:cNvSpPr txBox="1"/>
          <p:nvPr/>
        </p:nvSpPr>
        <p:spPr>
          <a:xfrm>
            <a:off x="1600200" y="3374801"/>
            <a:ext cx="3505200" cy="5355312"/>
          </a:xfrm>
          <a:prstGeom prst="rect">
            <a:avLst/>
          </a:prstGeom>
          <a:noFill/>
        </p:spPr>
        <p:txBody>
          <a:bodyPr wrap="square">
            <a:spAutoFit/>
          </a:bodyPr>
          <a:lstStyle/>
          <a:p>
            <a:pPr>
              <a:buNone/>
            </a:pPr>
            <a:r>
              <a:rPr lang="en-US" altLang="ja-JP" b="1" dirty="0"/>
              <a:t>Slide 13</a:t>
            </a:r>
            <a:r>
              <a:rPr lang="ja-JP" altLang="en-US" b="1" dirty="0"/>
              <a:t>「結論と今後の課題」</a:t>
            </a:r>
          </a:p>
          <a:p>
            <a:pPr>
              <a:buNone/>
            </a:pPr>
            <a:r>
              <a:rPr lang="ja-JP" altLang="en-US" dirty="0"/>
              <a:t>結論として，劣化コストを目的関数に組み込み，劣化表現の違いが運用に与える影響を確認しました。</a:t>
            </a:r>
            <a:br>
              <a:rPr lang="ja-JP" altLang="en-US" dirty="0"/>
            </a:br>
            <a:r>
              <a:rPr lang="ja-JP" altLang="en-US" dirty="0"/>
              <a:t>特に</a:t>
            </a:r>
            <a:r>
              <a:rPr lang="en-US" altLang="ja-JP" dirty="0"/>
              <a:t>2D</a:t>
            </a:r>
            <a:r>
              <a:rPr lang="ja-JP" altLang="en-US" dirty="0"/>
              <a:t>ピースワイズにより</a:t>
            </a:r>
            <a:r>
              <a:rPr lang="en-US" altLang="ja-JP" dirty="0"/>
              <a:t>SOC</a:t>
            </a:r>
            <a:r>
              <a:rPr lang="ja-JP" altLang="en-US" dirty="0"/>
              <a:t>水準の劣化感度を反映でき，劣化を考慮した最適化は深い充放電を抑制する方向に作用しました。</a:t>
            </a:r>
            <a:br>
              <a:rPr lang="ja-JP" altLang="en-US" dirty="0"/>
            </a:br>
            <a:r>
              <a:rPr lang="ja-JP" altLang="en-US" dirty="0"/>
              <a:t>今後の課題は，不確実性（価格予測・指令）の導入として確率モデル／ロバスト最適化，運用リスクを反映する制約設計として最低待機水準や急変抑制，劣化指標の精緻化と妥当性検証，および長期評価です。</a:t>
            </a:r>
            <a:br>
              <a:rPr lang="ja-JP" altLang="en-US" dirty="0"/>
            </a:br>
            <a:r>
              <a:rPr lang="ja-JP" altLang="en-US" dirty="0"/>
              <a:t>以上で発表を終わります。ご質問を承ります。</a:t>
            </a: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038BAEF-CDA3-D9D0-01B3-53B6C7E503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9360A7-EEA5-4AD2-BD89-71280A0E0857}" type="slidenum">
              <a:rPr kumimoji="1" lang="ja-JP" altLang="en-US" smtClean="0"/>
              <a:t>‹#›</a:t>
            </a:fld>
            <a:endParaRPr kumimoji="1" lang="ja-JP" altLang="en-US"/>
          </a:p>
        </p:txBody>
      </p:sp>
      <p:sp>
        <p:nvSpPr>
          <p:cNvPr id="3" name="フッター プレースホルダー 2">
            <a:extLst>
              <a:ext uri="{FF2B5EF4-FFF2-40B4-BE49-F238E27FC236}">
                <a16:creationId xmlns:a16="http://schemas.microsoft.com/office/drawing/2014/main" id="{D3B311CE-DD7A-BD53-AE80-D435F00161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822960" y="1371600"/>
            <a:ext cx="10545775" cy="1280160"/>
          </a:xfrm>
          <a:prstGeom prst="rect">
            <a:avLst/>
          </a:prstGeom>
          <a:noFill/>
          <a:ln/>
        </p:spPr>
        <p:txBody>
          <a:bodyPr wrap="square" rtlCol="0" anchor="t"/>
          <a:lstStyle/>
          <a:p>
            <a:pPr marL="0" indent="0">
              <a:buNone/>
            </a:pPr>
            <a:r>
              <a:rPr lang="en-US" sz="3600" b="1" dirty="0">
                <a:solidFill>
                  <a:srgbClr val="FFFFFF"/>
                </a:solidFill>
                <a:latin typeface="Meiryo" pitchFamily="34" charset="0"/>
                <a:ea typeface="Meiryo" pitchFamily="34" charset="-122"/>
                <a:cs typeface="Meiryo" pitchFamily="34" charset="-120"/>
              </a:rPr>
              <a:t>劣化特性を考慮した定置用蓄電池の</a:t>
            </a:r>
            <a:endParaRPr lang="en-US" sz="3600" dirty="0"/>
          </a:p>
          <a:p>
            <a:pPr marL="0" indent="0">
              <a:buNone/>
            </a:pPr>
            <a:r>
              <a:rPr lang="en-US" sz="3600" b="1" dirty="0">
                <a:solidFill>
                  <a:srgbClr val="FFFFFF"/>
                </a:solidFill>
                <a:latin typeface="Meiryo" pitchFamily="34" charset="0"/>
                <a:ea typeface="Meiryo" pitchFamily="34" charset="-122"/>
                <a:cs typeface="Meiryo" pitchFamily="34" charset="-120"/>
              </a:rPr>
              <a:t>複数市場への容量最適配分について</a:t>
            </a:r>
            <a:endParaRPr lang="en-US" sz="3600" dirty="0"/>
          </a:p>
        </p:txBody>
      </p:sp>
      <p:sp>
        <p:nvSpPr>
          <p:cNvPr id="3" name="Text 1"/>
          <p:cNvSpPr/>
          <p:nvPr/>
        </p:nvSpPr>
        <p:spPr>
          <a:xfrm>
            <a:off x="841248" y="2880360"/>
            <a:ext cx="10509199" cy="731520"/>
          </a:xfrm>
          <a:prstGeom prst="rect">
            <a:avLst/>
          </a:prstGeom>
          <a:noFill/>
          <a:ln/>
        </p:spPr>
        <p:txBody>
          <a:bodyPr wrap="square" rtlCol="0" anchor="ctr"/>
          <a:lstStyle/>
          <a:p>
            <a:pPr marL="0" indent="0">
              <a:buNone/>
            </a:pPr>
            <a:r>
              <a:rPr lang="en-US" sz="1600" dirty="0">
                <a:solidFill>
                  <a:srgbClr val="CBD5E1"/>
                </a:solidFill>
                <a:latin typeface="Meiryo" pitchFamily="34" charset="0"/>
                <a:ea typeface="Meiryo" pitchFamily="34" charset="-122"/>
                <a:cs typeface="Meiryo" pitchFamily="34" charset="-120"/>
              </a:rPr>
              <a:t>Optimal Capacity Allocation of Stationary BESS for Multiple Electricity Markets</a:t>
            </a:r>
            <a:endParaRPr lang="en-US" sz="1600" dirty="0"/>
          </a:p>
          <a:p>
            <a:pPr marL="0" indent="0">
              <a:buNone/>
            </a:pPr>
            <a:r>
              <a:rPr lang="en-US" sz="1600" dirty="0">
                <a:solidFill>
                  <a:srgbClr val="CBD5E1"/>
                </a:solidFill>
                <a:latin typeface="Meiryo" pitchFamily="34" charset="0"/>
                <a:ea typeface="Meiryo" pitchFamily="34" charset="-122"/>
                <a:cs typeface="Meiryo" pitchFamily="34" charset="-120"/>
              </a:rPr>
              <a:t>Considering Battery Degradation</a:t>
            </a:r>
            <a:endParaRPr lang="en-US" sz="1600" dirty="0"/>
          </a:p>
        </p:txBody>
      </p:sp>
      <p:sp>
        <p:nvSpPr>
          <p:cNvPr id="4" name="Shape 2"/>
          <p:cNvSpPr/>
          <p:nvPr/>
        </p:nvSpPr>
        <p:spPr>
          <a:xfrm>
            <a:off x="822960" y="3886200"/>
            <a:ext cx="10545775" cy="18288"/>
          </a:xfrm>
          <a:prstGeom prst="rect">
            <a:avLst/>
          </a:prstGeom>
          <a:solidFill>
            <a:srgbClr val="334155"/>
          </a:solidFill>
          <a:ln w="12700">
            <a:solidFill>
              <a:srgbClr val="334155"/>
            </a:solidFill>
            <a:prstDash val="solid"/>
          </a:ln>
        </p:spPr>
        <p:txBody>
          <a:bodyPr/>
          <a:lstStyle/>
          <a:p>
            <a:endParaRPr lang="ja-JP" altLang="en-US"/>
          </a:p>
        </p:txBody>
      </p:sp>
      <p:sp>
        <p:nvSpPr>
          <p:cNvPr id="5" name="Text 3"/>
          <p:cNvSpPr/>
          <p:nvPr/>
        </p:nvSpPr>
        <p:spPr>
          <a:xfrm>
            <a:off x="841248" y="4069080"/>
            <a:ext cx="10509199" cy="548640"/>
          </a:xfrm>
          <a:prstGeom prst="rect">
            <a:avLst/>
          </a:prstGeom>
          <a:noFill/>
          <a:ln/>
        </p:spPr>
        <p:txBody>
          <a:bodyPr wrap="square" rtlCol="0" anchor="ctr"/>
          <a:lstStyle/>
          <a:p>
            <a:pPr marL="0" indent="0">
              <a:buNone/>
            </a:pPr>
            <a:r>
              <a:rPr lang="en-US" sz="1400" dirty="0" err="1">
                <a:solidFill>
                  <a:srgbClr val="E2E8F0"/>
                </a:solidFill>
                <a:latin typeface="Meiryo" pitchFamily="34" charset="0"/>
                <a:ea typeface="Meiryo" pitchFamily="34" charset="-122"/>
                <a:cs typeface="Meiryo" pitchFamily="34" charset="-120"/>
              </a:rPr>
              <a:t>北野</a:t>
            </a:r>
            <a:r>
              <a:rPr lang="en-US" sz="1400" dirty="0">
                <a:solidFill>
                  <a:srgbClr val="E2E8F0"/>
                </a:solidFill>
                <a:latin typeface="Meiryo" pitchFamily="34" charset="0"/>
                <a:ea typeface="Meiryo" pitchFamily="34" charset="-122"/>
                <a:cs typeface="Meiryo" pitchFamily="34" charset="-120"/>
              </a:rPr>
              <a:t> </a:t>
            </a:r>
            <a:r>
              <a:rPr lang="en-US" sz="1400" dirty="0" err="1">
                <a:solidFill>
                  <a:srgbClr val="E2E8F0"/>
                </a:solidFill>
                <a:latin typeface="Meiryo" pitchFamily="34" charset="0"/>
                <a:ea typeface="Meiryo" pitchFamily="34" charset="-122"/>
                <a:cs typeface="Meiryo" pitchFamily="34" charset="-120"/>
              </a:rPr>
              <a:t>岳澄</a:t>
            </a:r>
            <a:r>
              <a:rPr lang="en-US" sz="1400" dirty="0">
                <a:solidFill>
                  <a:srgbClr val="E2E8F0"/>
                </a:solidFill>
                <a:latin typeface="Meiryo" pitchFamily="34" charset="0"/>
                <a:ea typeface="Meiryo" pitchFamily="34" charset="-122"/>
                <a:cs typeface="Meiryo" pitchFamily="34" charset="-120"/>
              </a:rPr>
              <a:t> </a:t>
            </a:r>
            <a:r>
              <a:rPr lang="en-US" sz="1400" dirty="0" err="1">
                <a:solidFill>
                  <a:srgbClr val="E2E8F0"/>
                </a:solidFill>
                <a:latin typeface="Meiryo" pitchFamily="34" charset="0"/>
                <a:ea typeface="Meiryo" pitchFamily="34" charset="-122"/>
                <a:cs typeface="Meiryo" pitchFamily="34" charset="-120"/>
              </a:rPr>
              <a:t>明治大学総合数理学部</a:t>
            </a:r>
            <a:r>
              <a:rPr lang="en-US" sz="1400" dirty="0">
                <a:solidFill>
                  <a:srgbClr val="E2E8F0"/>
                </a:solidFill>
                <a:latin typeface="Meiryo" pitchFamily="34" charset="0"/>
                <a:ea typeface="Meiryo" pitchFamily="34" charset="-122"/>
                <a:cs typeface="Meiryo" pitchFamily="34" charset="-120"/>
              </a:rPr>
              <a:t> </a:t>
            </a:r>
            <a:r>
              <a:rPr lang="en-US" sz="1400" dirty="0" err="1">
                <a:solidFill>
                  <a:srgbClr val="E2E8F0"/>
                </a:solidFill>
                <a:latin typeface="Meiryo" pitchFamily="34" charset="0"/>
                <a:ea typeface="Meiryo" pitchFamily="34" charset="-122"/>
                <a:cs typeface="Meiryo" pitchFamily="34" charset="-120"/>
              </a:rPr>
              <a:t>ネットワークデザイン学科</a:t>
            </a:r>
            <a:endParaRPr lang="en-US" sz="1400" dirty="0"/>
          </a:p>
          <a:p>
            <a:pPr marL="0" indent="0">
              <a:buNone/>
            </a:pPr>
            <a:r>
              <a:rPr lang="en-US" sz="1400" dirty="0">
                <a:solidFill>
                  <a:srgbClr val="E2E8F0"/>
                </a:solidFill>
                <a:latin typeface="Meiryo" pitchFamily="34" charset="0"/>
                <a:ea typeface="Meiryo" pitchFamily="34" charset="-122"/>
                <a:cs typeface="Meiryo" pitchFamily="34" charset="-120"/>
              </a:rPr>
              <a:t>2025年度 </a:t>
            </a:r>
            <a:r>
              <a:rPr lang="en-US" sz="1400" dirty="0" err="1">
                <a:solidFill>
                  <a:srgbClr val="E2E8F0"/>
                </a:solidFill>
                <a:latin typeface="Meiryo" pitchFamily="34" charset="0"/>
                <a:ea typeface="Meiryo" pitchFamily="34" charset="-122"/>
                <a:cs typeface="Meiryo" pitchFamily="34" charset="-120"/>
              </a:rPr>
              <a:t>卒業論文</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457200"/>
          </a:xfrm>
          <a:prstGeom prst="rect">
            <a:avLst/>
          </a:prstGeom>
          <a:noFill/>
          <a:ln/>
        </p:spPr>
        <p:txBody>
          <a:bodyPr wrap="square" rtlCol="0" anchor="ctr"/>
          <a:lstStyle/>
          <a:p>
            <a:pPr marL="0" indent="0">
              <a:buNone/>
            </a:pPr>
            <a:r>
              <a:rPr lang="en-US" sz="2800" b="1" dirty="0">
                <a:solidFill>
                  <a:srgbClr val="0B1220"/>
                </a:solidFill>
                <a:latin typeface="Meiryo" pitchFamily="34" charset="0"/>
                <a:ea typeface="Meiryo" pitchFamily="34" charset="-122"/>
                <a:cs typeface="Meiryo" pitchFamily="34" charset="-120"/>
              </a:rPr>
              <a:t>発表の流れ</a:t>
            </a:r>
            <a:endParaRPr lang="en-US" sz="2800" dirty="0"/>
          </a:p>
        </p:txBody>
      </p:sp>
      <p:sp>
        <p:nvSpPr>
          <p:cNvPr id="3" name="Text 1"/>
          <p:cNvSpPr/>
          <p:nvPr/>
        </p:nvSpPr>
        <p:spPr>
          <a:xfrm>
            <a:off x="548640" y="786384"/>
            <a:ext cx="11094415" cy="320040"/>
          </a:xfrm>
          <a:prstGeom prst="rect">
            <a:avLst/>
          </a:prstGeom>
          <a:noFill/>
          <a:ln/>
        </p:spPr>
        <p:txBody>
          <a:bodyPr wrap="square" rtlCol="0" anchor="ctr"/>
          <a:lstStyle/>
          <a:p>
            <a:pPr marL="0" indent="0">
              <a:buNone/>
            </a:pPr>
            <a:r>
              <a:rPr lang="en-US" sz="1400" dirty="0">
                <a:solidFill>
                  <a:srgbClr val="334155"/>
                </a:solidFill>
                <a:latin typeface="Meiryo" pitchFamily="34" charset="0"/>
                <a:ea typeface="Meiryo" pitchFamily="34" charset="-122"/>
                <a:cs typeface="Meiryo" pitchFamily="34" charset="-120"/>
              </a:rPr>
              <a:t>本研究の目的・モデル・結果を要点で整理</a:t>
            </a:r>
            <a:endParaRPr lang="en-US" sz="1400" dirty="0"/>
          </a:p>
        </p:txBody>
      </p:sp>
      <p:sp>
        <p:nvSpPr>
          <p:cNvPr id="4" name="Shape 2"/>
          <p:cNvSpPr/>
          <p:nvPr/>
        </p:nvSpPr>
        <p:spPr>
          <a:xfrm>
            <a:off x="548640" y="1115568"/>
            <a:ext cx="11094415" cy="0"/>
          </a:xfrm>
          <a:prstGeom prst="line">
            <a:avLst/>
          </a:prstGeom>
          <a:noFill/>
          <a:ln w="12700">
            <a:solidFill>
              <a:srgbClr val="E2E8F0"/>
            </a:solidFill>
            <a:prstDash val="solid"/>
          </a:ln>
        </p:spPr>
        <p:txBody>
          <a:bodyPr/>
          <a:lstStyle/>
          <a:p>
            <a:endParaRPr lang="ja-JP" altLang="en-US"/>
          </a:p>
        </p:txBody>
      </p:sp>
      <p:sp>
        <p:nvSpPr>
          <p:cNvPr id="5" name="Text 3"/>
          <p:cNvSpPr/>
          <p:nvPr/>
        </p:nvSpPr>
        <p:spPr>
          <a:xfrm>
            <a:off x="548640" y="1417320"/>
            <a:ext cx="11094415" cy="5120640"/>
          </a:xfrm>
          <a:prstGeom prst="rect">
            <a:avLst/>
          </a:prstGeom>
          <a:noFill/>
          <a:ln/>
        </p:spPr>
        <p:txBody>
          <a:bodyPr wrap="square" rtlCol="0" anchor="t"/>
          <a:lstStyle/>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研究背景：複数市場参加と劣化コストの重要性</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問題設定：スポット＋一次調整＋二次調整の同時最適化</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定式化：MILP（SOC制約＋容量配分＋劣化のピースワイズ近似）</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シミュレーション条件（5月/6月代表日）</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結果：劣化量・目的関数・SOC挙動の比較（Case0/1/2）</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考察・結論・今後の課題</a:t>
            </a:r>
            <a:endParaRPr lang="en-US" sz="1600" dirty="0"/>
          </a:p>
        </p:txBody>
      </p:sp>
      <p:sp>
        <p:nvSpPr>
          <p:cNvPr id="6" name="テキスト ボックス 5">
            <a:extLst>
              <a:ext uri="{FF2B5EF4-FFF2-40B4-BE49-F238E27FC236}">
                <a16:creationId xmlns:a16="http://schemas.microsoft.com/office/drawing/2014/main" id="{A2F25604-92EB-8EC8-9BF6-3F46B8F7781B}"/>
              </a:ext>
            </a:extLst>
          </p:cNvPr>
          <p:cNvSpPr txBox="1"/>
          <p:nvPr/>
        </p:nvSpPr>
        <p:spPr>
          <a:xfrm>
            <a:off x="11643055" y="6306207"/>
            <a:ext cx="412311" cy="369332"/>
          </a:xfrm>
          <a:prstGeom prst="rect">
            <a:avLst/>
          </a:prstGeom>
          <a:noFill/>
        </p:spPr>
        <p:txBody>
          <a:bodyPr wrap="square" rtlCol="0">
            <a:spAutoFit/>
          </a:bodyPr>
          <a:lstStyle/>
          <a:p>
            <a:r>
              <a:rPr kumimoji="1" lang="en-US" altLang="ja-JP" dirty="0"/>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457200"/>
          </a:xfrm>
          <a:prstGeom prst="rect">
            <a:avLst/>
          </a:prstGeom>
          <a:noFill/>
          <a:ln/>
        </p:spPr>
        <p:txBody>
          <a:bodyPr wrap="square" rtlCol="0" anchor="ctr"/>
          <a:lstStyle/>
          <a:p>
            <a:pPr marL="0" indent="0">
              <a:buNone/>
            </a:pPr>
            <a:r>
              <a:rPr lang="en-US" sz="2800" b="1" dirty="0">
                <a:solidFill>
                  <a:srgbClr val="0B1220"/>
                </a:solidFill>
                <a:latin typeface="Meiryo" pitchFamily="34" charset="0"/>
                <a:ea typeface="Meiryo" pitchFamily="34" charset="-122"/>
                <a:cs typeface="Meiryo" pitchFamily="34" charset="-120"/>
              </a:rPr>
              <a:t>研究背景</a:t>
            </a:r>
            <a:endParaRPr lang="en-US" sz="2800" dirty="0"/>
          </a:p>
        </p:txBody>
      </p:sp>
      <p:sp>
        <p:nvSpPr>
          <p:cNvPr id="3" name="Text 1"/>
          <p:cNvSpPr/>
          <p:nvPr/>
        </p:nvSpPr>
        <p:spPr>
          <a:xfrm>
            <a:off x="548640" y="786384"/>
            <a:ext cx="11094415" cy="320040"/>
          </a:xfrm>
          <a:prstGeom prst="rect">
            <a:avLst/>
          </a:prstGeom>
          <a:noFill/>
          <a:ln/>
        </p:spPr>
        <p:txBody>
          <a:bodyPr wrap="square" rtlCol="0" anchor="ctr"/>
          <a:lstStyle/>
          <a:p>
            <a:pPr marL="0" indent="0">
              <a:buNone/>
            </a:pPr>
            <a:r>
              <a:rPr lang="en-US" sz="1400" dirty="0">
                <a:solidFill>
                  <a:srgbClr val="334155"/>
                </a:solidFill>
                <a:latin typeface="Meiryo" pitchFamily="34" charset="0"/>
                <a:ea typeface="Meiryo" pitchFamily="34" charset="-122"/>
                <a:cs typeface="Meiryo" pitchFamily="34" charset="-120"/>
              </a:rPr>
              <a:t>変動型再エネの拡大と柔軟性資源としての蓄電池</a:t>
            </a:r>
            <a:endParaRPr lang="en-US" sz="1400" dirty="0"/>
          </a:p>
        </p:txBody>
      </p:sp>
      <p:sp>
        <p:nvSpPr>
          <p:cNvPr id="4" name="Shape 2"/>
          <p:cNvSpPr/>
          <p:nvPr/>
        </p:nvSpPr>
        <p:spPr>
          <a:xfrm>
            <a:off x="548640" y="1115568"/>
            <a:ext cx="11094415" cy="0"/>
          </a:xfrm>
          <a:prstGeom prst="line">
            <a:avLst/>
          </a:prstGeom>
          <a:noFill/>
          <a:ln w="12700">
            <a:solidFill>
              <a:srgbClr val="E2E8F0"/>
            </a:solidFill>
            <a:prstDash val="solid"/>
          </a:ln>
        </p:spPr>
        <p:txBody>
          <a:bodyPr/>
          <a:lstStyle/>
          <a:p>
            <a:endParaRPr lang="ja-JP" altLang="en-US"/>
          </a:p>
        </p:txBody>
      </p:sp>
      <p:sp>
        <p:nvSpPr>
          <p:cNvPr id="5" name="Shape 3"/>
          <p:cNvSpPr/>
          <p:nvPr/>
        </p:nvSpPr>
        <p:spPr>
          <a:xfrm>
            <a:off x="548640" y="1417320"/>
            <a:ext cx="5669280" cy="2331720"/>
          </a:xfrm>
          <a:prstGeom prst="rect">
            <a:avLst/>
          </a:prstGeom>
          <a:solidFill>
            <a:srgbClr val="F8FAFC"/>
          </a:solidFill>
          <a:ln w="12700">
            <a:solidFill>
              <a:srgbClr val="E2E8F0"/>
            </a:solidFill>
            <a:prstDash val="solid"/>
          </a:ln>
          <a:effectLst>
            <a:outerShdw blurRad="38100" dist="19050" dir="2700000" algn="bl" rotWithShape="0">
              <a:srgbClr val="000000">
                <a:alpha val="12000"/>
              </a:srgbClr>
            </a:outerShdw>
          </a:effectLst>
        </p:spPr>
        <p:txBody>
          <a:bodyPr/>
          <a:lstStyle/>
          <a:p>
            <a:endParaRPr lang="ja-JP" altLang="en-US"/>
          </a:p>
        </p:txBody>
      </p:sp>
      <p:sp>
        <p:nvSpPr>
          <p:cNvPr id="6" name="Text 4"/>
          <p:cNvSpPr/>
          <p:nvPr/>
        </p:nvSpPr>
        <p:spPr>
          <a:xfrm>
            <a:off x="822960" y="1618488"/>
            <a:ext cx="5120640" cy="320040"/>
          </a:xfrm>
          <a:prstGeom prst="rect">
            <a:avLst/>
          </a:prstGeom>
          <a:noFill/>
          <a:ln/>
        </p:spPr>
        <p:txBody>
          <a:bodyPr wrap="square" rtlCol="0" anchor="ctr"/>
          <a:lstStyle/>
          <a:p>
            <a:pPr marL="0" indent="0">
              <a:buNone/>
            </a:pPr>
            <a:r>
              <a:rPr lang="en-US" sz="1400" b="1" dirty="0">
                <a:solidFill>
                  <a:srgbClr val="334155"/>
                </a:solidFill>
                <a:latin typeface="Meiryo" pitchFamily="34" charset="0"/>
                <a:ea typeface="Meiryo" pitchFamily="34" charset="-122"/>
                <a:cs typeface="Meiryo" pitchFamily="34" charset="-120"/>
              </a:rPr>
              <a:t>システム側の背景</a:t>
            </a:r>
            <a:endParaRPr lang="en-US" sz="1400" dirty="0"/>
          </a:p>
        </p:txBody>
      </p:sp>
      <p:sp>
        <p:nvSpPr>
          <p:cNvPr id="7" name="Text 5"/>
          <p:cNvSpPr/>
          <p:nvPr/>
        </p:nvSpPr>
        <p:spPr>
          <a:xfrm>
            <a:off x="868680" y="1984248"/>
            <a:ext cx="5029200" cy="1581912"/>
          </a:xfrm>
          <a:prstGeom prst="rect">
            <a:avLst/>
          </a:prstGeom>
          <a:noFill/>
          <a:ln/>
        </p:spPr>
        <p:txBody>
          <a:bodyPr wrap="square" rtlCol="0" anchor="t"/>
          <a:lstStyle/>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再エネ導入で需給バランス維持が難化し、価格変動が拡大</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周波数調整・予備力など「柔軟性」の価値が増大</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定置用蓄電池は短時間で充放電を切替でき、</a:t>
            </a:r>
            <a:r>
              <a:rPr lang="ja-JP" altLang="en-US" sz="1600" dirty="0">
                <a:solidFill>
                  <a:srgbClr val="0B1220"/>
                </a:solidFill>
                <a:latin typeface="Meiryo" pitchFamily="34" charset="0"/>
                <a:ea typeface="Meiryo" pitchFamily="34" charset="-122"/>
                <a:cs typeface="Meiryo" pitchFamily="34" charset="-120"/>
              </a:rPr>
              <a:t>利益を生み出せる</a:t>
            </a:r>
            <a:endParaRPr lang="en-US" sz="1600" dirty="0"/>
          </a:p>
        </p:txBody>
      </p:sp>
      <p:sp>
        <p:nvSpPr>
          <p:cNvPr id="8" name="Shape 6"/>
          <p:cNvSpPr/>
          <p:nvPr/>
        </p:nvSpPr>
        <p:spPr>
          <a:xfrm>
            <a:off x="6309360" y="1417320"/>
            <a:ext cx="5330952" cy="2331720"/>
          </a:xfrm>
          <a:prstGeom prst="rect">
            <a:avLst/>
          </a:prstGeom>
          <a:solidFill>
            <a:srgbClr val="F8FAFC"/>
          </a:solidFill>
          <a:ln w="12700">
            <a:solidFill>
              <a:srgbClr val="E2E8F0"/>
            </a:solidFill>
            <a:prstDash val="solid"/>
          </a:ln>
          <a:effectLst>
            <a:outerShdw blurRad="38100" dist="19050" dir="2700000" algn="bl" rotWithShape="0">
              <a:srgbClr val="000000">
                <a:alpha val="12000"/>
              </a:srgbClr>
            </a:outerShdw>
          </a:effectLst>
        </p:spPr>
        <p:txBody>
          <a:bodyPr/>
          <a:lstStyle/>
          <a:p>
            <a:endParaRPr lang="ja-JP" altLang="en-US"/>
          </a:p>
        </p:txBody>
      </p:sp>
      <p:sp>
        <p:nvSpPr>
          <p:cNvPr id="9" name="Text 7"/>
          <p:cNvSpPr/>
          <p:nvPr/>
        </p:nvSpPr>
        <p:spPr>
          <a:xfrm>
            <a:off x="6583680" y="1618488"/>
            <a:ext cx="4782312" cy="320040"/>
          </a:xfrm>
          <a:prstGeom prst="rect">
            <a:avLst/>
          </a:prstGeom>
          <a:noFill/>
          <a:ln/>
        </p:spPr>
        <p:txBody>
          <a:bodyPr wrap="square" rtlCol="0" anchor="ctr"/>
          <a:lstStyle/>
          <a:p>
            <a:pPr marL="0" indent="0">
              <a:buNone/>
            </a:pPr>
            <a:r>
              <a:rPr lang="ja-JP" altLang="en-US" sz="1400" b="1" dirty="0">
                <a:solidFill>
                  <a:srgbClr val="334155"/>
                </a:solidFill>
                <a:latin typeface="Meiryo" pitchFamily="34" charset="0"/>
                <a:ea typeface="Meiryo" pitchFamily="34" charset="-122"/>
                <a:cs typeface="Meiryo" pitchFamily="34" charset="-120"/>
              </a:rPr>
              <a:t>バッテリー</a:t>
            </a:r>
            <a:r>
              <a:rPr lang="en-US" sz="1400" b="1" dirty="0" err="1">
                <a:solidFill>
                  <a:srgbClr val="334155"/>
                </a:solidFill>
                <a:latin typeface="Meiryo" pitchFamily="34" charset="0"/>
                <a:ea typeface="Meiryo" pitchFamily="34" charset="-122"/>
                <a:cs typeface="Meiryo" pitchFamily="34" charset="-120"/>
              </a:rPr>
              <a:t>運用側の課題</a:t>
            </a:r>
            <a:endParaRPr lang="en-US" sz="1400" dirty="0"/>
          </a:p>
        </p:txBody>
      </p:sp>
      <p:sp>
        <p:nvSpPr>
          <p:cNvPr id="10" name="Text 8"/>
          <p:cNvSpPr/>
          <p:nvPr/>
        </p:nvSpPr>
        <p:spPr>
          <a:xfrm>
            <a:off x="6629400" y="1984248"/>
            <a:ext cx="4690872" cy="1581912"/>
          </a:xfrm>
          <a:prstGeom prst="rect">
            <a:avLst/>
          </a:prstGeom>
          <a:noFill/>
          <a:ln/>
        </p:spPr>
        <p:txBody>
          <a:bodyPr wrap="square" rtlCol="0" anchor="t"/>
          <a:lstStyle/>
          <a:p>
            <a:pPr marL="228600" indent="-228600">
              <a:lnSpc>
                <a:spcPct val="115000"/>
              </a:lnSpc>
              <a:buSzPct val="100000"/>
              <a:buChar char="•"/>
            </a:pPr>
            <a:r>
              <a:rPr lang="en-US" sz="1600" dirty="0" err="1">
                <a:solidFill>
                  <a:srgbClr val="0B1220"/>
                </a:solidFill>
                <a:latin typeface="Meiryo" pitchFamily="34" charset="0"/>
                <a:ea typeface="Meiryo" pitchFamily="34" charset="-122"/>
                <a:cs typeface="Meiryo" pitchFamily="34" charset="-120"/>
              </a:rPr>
              <a:t>どの市場にどれだけ容量を割</a:t>
            </a:r>
            <a:r>
              <a:rPr lang="ja-JP" altLang="en-US" sz="1600" dirty="0">
                <a:solidFill>
                  <a:srgbClr val="0B1220"/>
                </a:solidFill>
                <a:latin typeface="Meiryo" pitchFamily="34" charset="0"/>
                <a:ea typeface="Meiryo" pitchFamily="34" charset="-122"/>
                <a:cs typeface="Meiryo" pitchFamily="34" charset="-120"/>
              </a:rPr>
              <a:t>り</a:t>
            </a:r>
            <a:r>
              <a:rPr lang="en-US" sz="1600" dirty="0" err="1">
                <a:solidFill>
                  <a:srgbClr val="0B1220"/>
                </a:solidFill>
                <a:latin typeface="Meiryo" pitchFamily="34" charset="0"/>
                <a:ea typeface="Meiryo" pitchFamily="34" charset="-122"/>
                <a:cs typeface="Meiryo" pitchFamily="34" charset="-120"/>
              </a:rPr>
              <a:t>当てるかが収益性を左右</a:t>
            </a:r>
            <a:endParaRPr lang="en-US" sz="1600" dirty="0"/>
          </a:p>
          <a:p>
            <a:pPr marL="228600" indent="-228600">
              <a:lnSpc>
                <a:spcPct val="115000"/>
              </a:lnSpc>
              <a:buSzPct val="100000"/>
              <a:buChar char="•"/>
            </a:pPr>
            <a:r>
              <a:rPr lang="en-US" sz="1600" dirty="0" err="1">
                <a:solidFill>
                  <a:srgbClr val="0B1220"/>
                </a:solidFill>
                <a:latin typeface="Meiryo" pitchFamily="34" charset="0"/>
                <a:ea typeface="Meiryo" pitchFamily="34" charset="-122"/>
                <a:cs typeface="Meiryo" pitchFamily="34" charset="-120"/>
              </a:rPr>
              <a:t>頻繁</a:t>
            </a:r>
            <a:r>
              <a:rPr lang="en-US" sz="1600" dirty="0">
                <a:solidFill>
                  <a:srgbClr val="0B1220"/>
                </a:solidFill>
                <a:latin typeface="Meiryo" pitchFamily="34" charset="0"/>
                <a:ea typeface="Meiryo" pitchFamily="34" charset="-122"/>
                <a:cs typeface="Meiryo" pitchFamily="34" charset="-120"/>
              </a:rPr>
              <a:t>・</a:t>
            </a:r>
            <a:r>
              <a:rPr lang="ja-JP" altLang="en-US" sz="1600" dirty="0">
                <a:solidFill>
                  <a:srgbClr val="0B1220"/>
                </a:solidFill>
                <a:latin typeface="Meiryo" pitchFamily="34" charset="0"/>
                <a:ea typeface="Meiryo" pitchFamily="34" charset="-122"/>
                <a:cs typeface="Meiryo" pitchFamily="34" charset="-120"/>
              </a:rPr>
              <a:t>過剰な</a:t>
            </a:r>
            <a:r>
              <a:rPr lang="en-US" sz="1600" dirty="0" err="1">
                <a:solidFill>
                  <a:srgbClr val="0B1220"/>
                </a:solidFill>
                <a:latin typeface="Meiryo" pitchFamily="34" charset="0"/>
                <a:ea typeface="Meiryo" pitchFamily="34" charset="-122"/>
                <a:cs typeface="Meiryo" pitchFamily="34" charset="-120"/>
              </a:rPr>
              <a:t>充放電は短期収益を押し上げる一方で劣化を加速</a:t>
            </a:r>
            <a:endParaRPr lang="en-US" sz="1600" dirty="0"/>
          </a:p>
        </p:txBody>
      </p:sp>
      <p:sp>
        <p:nvSpPr>
          <p:cNvPr id="11" name="Shape 9"/>
          <p:cNvSpPr/>
          <p:nvPr/>
        </p:nvSpPr>
        <p:spPr>
          <a:xfrm>
            <a:off x="548640" y="3977640"/>
            <a:ext cx="11094415" cy="2423160"/>
          </a:xfrm>
          <a:prstGeom prst="rect">
            <a:avLst/>
          </a:prstGeom>
          <a:solidFill>
            <a:srgbClr val="F8FAFC"/>
          </a:solidFill>
          <a:ln w="12700">
            <a:solidFill>
              <a:srgbClr val="E2E8F0"/>
            </a:solidFill>
            <a:prstDash val="solid"/>
          </a:ln>
          <a:effectLst>
            <a:outerShdw blurRad="38100" dist="19050" dir="2700000" algn="bl" rotWithShape="0">
              <a:srgbClr val="000000">
                <a:alpha val="12000"/>
              </a:srgbClr>
            </a:outerShdw>
          </a:effectLst>
        </p:spPr>
        <p:txBody>
          <a:bodyPr/>
          <a:lstStyle/>
          <a:p>
            <a:endParaRPr lang="ja-JP" altLang="en-US"/>
          </a:p>
        </p:txBody>
      </p:sp>
      <p:sp>
        <p:nvSpPr>
          <p:cNvPr id="12" name="Text 10"/>
          <p:cNvSpPr/>
          <p:nvPr/>
        </p:nvSpPr>
        <p:spPr>
          <a:xfrm>
            <a:off x="822960" y="4178808"/>
            <a:ext cx="10545775" cy="320040"/>
          </a:xfrm>
          <a:prstGeom prst="rect">
            <a:avLst/>
          </a:prstGeom>
          <a:noFill/>
          <a:ln/>
        </p:spPr>
        <p:txBody>
          <a:bodyPr wrap="square" rtlCol="0" anchor="ctr"/>
          <a:lstStyle/>
          <a:p>
            <a:pPr marL="0" indent="0">
              <a:buNone/>
            </a:pPr>
            <a:r>
              <a:rPr lang="en-US" sz="1400" b="1" dirty="0">
                <a:solidFill>
                  <a:srgbClr val="334155"/>
                </a:solidFill>
                <a:latin typeface="Meiryo" pitchFamily="34" charset="0"/>
                <a:ea typeface="Meiryo" pitchFamily="34" charset="-122"/>
                <a:cs typeface="Meiryo" pitchFamily="34" charset="-120"/>
              </a:rPr>
              <a:t>複数市場参加でさらに複雑化</a:t>
            </a:r>
            <a:endParaRPr lang="en-US" sz="1400" dirty="0"/>
          </a:p>
        </p:txBody>
      </p:sp>
      <p:sp>
        <p:nvSpPr>
          <p:cNvPr id="13" name="Text 11"/>
          <p:cNvSpPr/>
          <p:nvPr/>
        </p:nvSpPr>
        <p:spPr>
          <a:xfrm>
            <a:off x="868680" y="4544568"/>
            <a:ext cx="10454335" cy="1673352"/>
          </a:xfrm>
          <a:prstGeom prst="rect">
            <a:avLst/>
          </a:prstGeom>
          <a:noFill/>
          <a:ln/>
        </p:spPr>
        <p:txBody>
          <a:bodyPr wrap="square" rtlCol="0" anchor="t"/>
          <a:lstStyle/>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スポット取引（エネルギーの出し入れ）と調整力（容量確保・即応性）がSOC/</a:t>
            </a:r>
            <a:r>
              <a:rPr lang="en-US" sz="1600" dirty="0" err="1">
                <a:solidFill>
                  <a:srgbClr val="0B1220"/>
                </a:solidFill>
                <a:latin typeface="Meiryo" pitchFamily="34" charset="0"/>
                <a:ea typeface="Meiryo" pitchFamily="34" charset="-122"/>
                <a:cs typeface="Meiryo" pitchFamily="34" charset="-120"/>
              </a:rPr>
              <a:t>出力制約</a:t>
            </a:r>
            <a:r>
              <a:rPr lang="ja-JP" altLang="en-US" sz="1600" dirty="0">
                <a:solidFill>
                  <a:srgbClr val="0B1220"/>
                </a:solidFill>
                <a:latin typeface="Meiryo" pitchFamily="34" charset="0"/>
                <a:ea typeface="Meiryo" pitchFamily="34" charset="-122"/>
                <a:cs typeface="Meiryo" pitchFamily="34" charset="-120"/>
              </a:rPr>
              <a:t>によって</a:t>
            </a:r>
            <a:r>
              <a:rPr lang="en-US" sz="1600" dirty="0" err="1">
                <a:solidFill>
                  <a:srgbClr val="0B1220"/>
                </a:solidFill>
                <a:latin typeface="Meiryo" pitchFamily="34" charset="0"/>
                <a:ea typeface="Meiryo" pitchFamily="34" charset="-122"/>
                <a:cs typeface="Meiryo" pitchFamily="34" charset="-120"/>
              </a:rPr>
              <a:t>干渉</a:t>
            </a:r>
            <a:endParaRPr lang="en-US" sz="1600" dirty="0"/>
          </a:p>
          <a:p>
            <a:pPr marL="228600" indent="-228600">
              <a:lnSpc>
                <a:spcPct val="115000"/>
              </a:lnSpc>
              <a:buSzPct val="100000"/>
              <a:buChar char="•"/>
            </a:pPr>
            <a:r>
              <a:rPr lang="en-US" sz="1600" dirty="0" err="1">
                <a:solidFill>
                  <a:srgbClr val="0B1220"/>
                </a:solidFill>
                <a:latin typeface="Meiryo" pitchFamily="34" charset="0"/>
                <a:ea typeface="Meiryo" pitchFamily="34" charset="-122"/>
                <a:cs typeface="Meiryo" pitchFamily="34" charset="-120"/>
              </a:rPr>
              <a:t>市場ごとに目的が異なる中で、容量・出力余力をどう配分するかが</a:t>
            </a:r>
            <a:r>
              <a:rPr lang="ja-JP" altLang="en-US" sz="1600" dirty="0">
                <a:solidFill>
                  <a:srgbClr val="0B1220"/>
                </a:solidFill>
                <a:latin typeface="Meiryo" pitchFamily="34" charset="0"/>
                <a:ea typeface="Meiryo" pitchFamily="34" charset="-122"/>
                <a:cs typeface="Meiryo" pitchFamily="34" charset="-120"/>
              </a:rPr>
              <a:t>重要</a:t>
            </a:r>
            <a:endParaRPr lang="en-US" sz="1600" dirty="0"/>
          </a:p>
        </p:txBody>
      </p:sp>
      <p:sp>
        <p:nvSpPr>
          <p:cNvPr id="15" name="テキスト ボックス 14">
            <a:extLst>
              <a:ext uri="{FF2B5EF4-FFF2-40B4-BE49-F238E27FC236}">
                <a16:creationId xmlns:a16="http://schemas.microsoft.com/office/drawing/2014/main" id="{E89CC726-C885-AC91-8EC1-D8CEB63CFE49}"/>
              </a:ext>
            </a:extLst>
          </p:cNvPr>
          <p:cNvSpPr txBox="1"/>
          <p:nvPr/>
        </p:nvSpPr>
        <p:spPr>
          <a:xfrm>
            <a:off x="11734800" y="6400800"/>
            <a:ext cx="6096000" cy="369332"/>
          </a:xfrm>
          <a:prstGeom prst="rect">
            <a:avLst/>
          </a:prstGeom>
          <a:noFill/>
        </p:spPr>
        <p:txBody>
          <a:bodyPr wrap="square">
            <a:spAutoFit/>
          </a:bodyPr>
          <a:lstStyle/>
          <a:p>
            <a:r>
              <a:rPr kumimoji="1" lang="en-US" altLang="ja-JP" dirty="0"/>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457200"/>
          </a:xfrm>
          <a:prstGeom prst="rect">
            <a:avLst/>
          </a:prstGeom>
          <a:noFill/>
          <a:ln/>
        </p:spPr>
        <p:txBody>
          <a:bodyPr wrap="square" rtlCol="0" anchor="ctr"/>
          <a:lstStyle/>
          <a:p>
            <a:pPr marL="0" indent="0">
              <a:buNone/>
            </a:pPr>
            <a:r>
              <a:rPr lang="en-US" sz="2800" b="1" dirty="0" err="1">
                <a:solidFill>
                  <a:srgbClr val="0B1220"/>
                </a:solidFill>
                <a:latin typeface="Meiryo" pitchFamily="34" charset="0"/>
                <a:ea typeface="Meiryo" pitchFamily="34" charset="-122"/>
                <a:cs typeface="Meiryo" pitchFamily="34" charset="-120"/>
              </a:rPr>
              <a:t>研究目的</a:t>
            </a:r>
            <a:endParaRPr lang="en-US" sz="2800" dirty="0"/>
          </a:p>
        </p:txBody>
      </p:sp>
      <p:sp>
        <p:nvSpPr>
          <p:cNvPr id="3" name="Text 1"/>
          <p:cNvSpPr/>
          <p:nvPr/>
        </p:nvSpPr>
        <p:spPr>
          <a:xfrm>
            <a:off x="548640" y="786384"/>
            <a:ext cx="11094415" cy="320040"/>
          </a:xfrm>
          <a:prstGeom prst="rect">
            <a:avLst/>
          </a:prstGeom>
          <a:noFill/>
          <a:ln/>
        </p:spPr>
        <p:txBody>
          <a:bodyPr wrap="square" rtlCol="0" anchor="ctr"/>
          <a:lstStyle/>
          <a:p>
            <a:pPr marL="0" indent="0">
              <a:buNone/>
            </a:pPr>
            <a:r>
              <a:rPr lang="en-US" sz="1400" dirty="0">
                <a:solidFill>
                  <a:srgbClr val="334155"/>
                </a:solidFill>
                <a:latin typeface="Meiryo" pitchFamily="34" charset="0"/>
                <a:ea typeface="Meiryo" pitchFamily="34" charset="-122"/>
                <a:cs typeface="Meiryo" pitchFamily="34" charset="-120"/>
              </a:rPr>
              <a:t>収益最大化と劣化抑制を同一枠組みで扱う</a:t>
            </a:r>
            <a:endParaRPr lang="en-US" sz="1400" dirty="0"/>
          </a:p>
        </p:txBody>
      </p:sp>
      <p:sp>
        <p:nvSpPr>
          <p:cNvPr id="4" name="Shape 2"/>
          <p:cNvSpPr/>
          <p:nvPr/>
        </p:nvSpPr>
        <p:spPr>
          <a:xfrm>
            <a:off x="548640" y="1115568"/>
            <a:ext cx="11094415" cy="0"/>
          </a:xfrm>
          <a:prstGeom prst="line">
            <a:avLst/>
          </a:prstGeom>
          <a:noFill/>
          <a:ln w="12700">
            <a:solidFill>
              <a:srgbClr val="E2E8F0"/>
            </a:solidFill>
            <a:prstDash val="solid"/>
          </a:ln>
        </p:spPr>
        <p:txBody>
          <a:bodyPr/>
          <a:lstStyle/>
          <a:p>
            <a:endParaRPr lang="ja-JP" altLang="en-US"/>
          </a:p>
        </p:txBody>
      </p:sp>
      <p:sp>
        <p:nvSpPr>
          <p:cNvPr id="5" name="Shape 3"/>
          <p:cNvSpPr/>
          <p:nvPr/>
        </p:nvSpPr>
        <p:spPr>
          <a:xfrm>
            <a:off x="548640" y="1417320"/>
            <a:ext cx="5715000" cy="2651760"/>
          </a:xfrm>
          <a:prstGeom prst="rect">
            <a:avLst/>
          </a:prstGeom>
          <a:solidFill>
            <a:srgbClr val="F8FAFC"/>
          </a:solidFill>
          <a:ln w="12700">
            <a:solidFill>
              <a:srgbClr val="E2E8F0"/>
            </a:solidFill>
            <a:prstDash val="solid"/>
          </a:ln>
          <a:effectLst>
            <a:outerShdw blurRad="38100" dist="19050" dir="2700000" algn="bl" rotWithShape="0">
              <a:srgbClr val="000000">
                <a:alpha val="12000"/>
              </a:srgbClr>
            </a:outerShdw>
          </a:effectLst>
        </p:spPr>
        <p:txBody>
          <a:bodyPr/>
          <a:lstStyle/>
          <a:p>
            <a:endParaRPr lang="ja-JP" altLang="en-US"/>
          </a:p>
        </p:txBody>
      </p:sp>
      <p:sp>
        <p:nvSpPr>
          <p:cNvPr id="6" name="Text 4"/>
          <p:cNvSpPr/>
          <p:nvPr/>
        </p:nvSpPr>
        <p:spPr>
          <a:xfrm>
            <a:off x="822960" y="1618488"/>
            <a:ext cx="5166360" cy="320040"/>
          </a:xfrm>
          <a:prstGeom prst="rect">
            <a:avLst/>
          </a:prstGeom>
          <a:noFill/>
          <a:ln/>
        </p:spPr>
        <p:txBody>
          <a:bodyPr wrap="square" rtlCol="0" anchor="ctr"/>
          <a:lstStyle/>
          <a:p>
            <a:pPr marL="0" indent="0">
              <a:buNone/>
            </a:pPr>
            <a:r>
              <a:rPr lang="en-US" sz="1400" b="1" dirty="0">
                <a:solidFill>
                  <a:srgbClr val="334155"/>
                </a:solidFill>
                <a:latin typeface="Meiryo" pitchFamily="34" charset="0"/>
                <a:ea typeface="Meiryo" pitchFamily="34" charset="-122"/>
                <a:cs typeface="Meiryo" pitchFamily="34" charset="-120"/>
              </a:rPr>
              <a:t>研究目的（要約）</a:t>
            </a:r>
            <a:endParaRPr lang="en-US" sz="1400" dirty="0"/>
          </a:p>
        </p:txBody>
      </p:sp>
      <p:sp>
        <p:nvSpPr>
          <p:cNvPr id="7" name="Text 5"/>
          <p:cNvSpPr/>
          <p:nvPr/>
        </p:nvSpPr>
        <p:spPr>
          <a:xfrm>
            <a:off x="868680" y="1984248"/>
            <a:ext cx="5074920" cy="1901952"/>
          </a:xfrm>
          <a:prstGeom prst="rect">
            <a:avLst/>
          </a:prstGeom>
          <a:noFill/>
          <a:ln/>
        </p:spPr>
        <p:txBody>
          <a:bodyPr wrap="square" rtlCol="0" anchor="t"/>
          <a:lstStyle/>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複数市場（スポット／一次調整／二次調整）への同時参加を想定</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市場間で競合する運用要求を統合的に調整し、経済価値を最大化</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短期収益偏重を避け、劣化の累積をコストとして明示的に反映</a:t>
            </a:r>
            <a:endParaRPr lang="en-US" sz="1600" dirty="0"/>
          </a:p>
        </p:txBody>
      </p:sp>
      <p:sp>
        <p:nvSpPr>
          <p:cNvPr id="8" name="Shape 6"/>
          <p:cNvSpPr/>
          <p:nvPr/>
        </p:nvSpPr>
        <p:spPr>
          <a:xfrm>
            <a:off x="6309360" y="1417320"/>
            <a:ext cx="5330952" cy="2651760"/>
          </a:xfrm>
          <a:prstGeom prst="rect">
            <a:avLst/>
          </a:prstGeom>
          <a:solidFill>
            <a:srgbClr val="F8FAFC"/>
          </a:solidFill>
          <a:ln w="12700">
            <a:solidFill>
              <a:srgbClr val="E2E8F0"/>
            </a:solidFill>
            <a:prstDash val="solid"/>
          </a:ln>
          <a:effectLst>
            <a:outerShdw blurRad="38100" dist="19050" dir="2700000" algn="bl" rotWithShape="0">
              <a:srgbClr val="000000">
                <a:alpha val="12000"/>
              </a:srgbClr>
            </a:outerShdw>
          </a:effectLst>
        </p:spPr>
        <p:txBody>
          <a:bodyPr/>
          <a:lstStyle/>
          <a:p>
            <a:endParaRPr lang="ja-JP" altLang="en-US"/>
          </a:p>
        </p:txBody>
      </p:sp>
      <p:sp>
        <p:nvSpPr>
          <p:cNvPr id="9" name="Text 7"/>
          <p:cNvSpPr/>
          <p:nvPr/>
        </p:nvSpPr>
        <p:spPr>
          <a:xfrm>
            <a:off x="6583680" y="1618488"/>
            <a:ext cx="4782312" cy="320040"/>
          </a:xfrm>
          <a:prstGeom prst="rect">
            <a:avLst/>
          </a:prstGeom>
          <a:noFill/>
          <a:ln/>
        </p:spPr>
        <p:txBody>
          <a:bodyPr wrap="square" rtlCol="0" anchor="ctr"/>
          <a:lstStyle/>
          <a:p>
            <a:pPr marL="0" indent="0">
              <a:buNone/>
            </a:pPr>
            <a:r>
              <a:rPr lang="en-US" sz="1400" b="1" dirty="0">
                <a:solidFill>
                  <a:srgbClr val="334155"/>
                </a:solidFill>
                <a:latin typeface="Meiryo" pitchFamily="34" charset="0"/>
                <a:ea typeface="Meiryo" pitchFamily="34" charset="-122"/>
                <a:cs typeface="Meiryo" pitchFamily="34" charset="-120"/>
              </a:rPr>
              <a:t>本研究の貢献</a:t>
            </a:r>
            <a:endParaRPr lang="en-US" sz="1400" dirty="0"/>
          </a:p>
        </p:txBody>
      </p:sp>
      <p:sp>
        <p:nvSpPr>
          <p:cNvPr id="10" name="Text 8"/>
          <p:cNvSpPr/>
          <p:nvPr/>
        </p:nvSpPr>
        <p:spPr>
          <a:xfrm>
            <a:off x="6629400" y="1984248"/>
            <a:ext cx="4690872" cy="1901952"/>
          </a:xfrm>
          <a:prstGeom prst="rect">
            <a:avLst/>
          </a:prstGeom>
          <a:noFill/>
          <a:ln/>
        </p:spPr>
        <p:txBody>
          <a:bodyPr wrap="square" rtlCol="0" anchor="t"/>
          <a:lstStyle/>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劣化を DoD だけでなく SOC 水準にも依存させてモデル化</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DoD×SOC の二次元ピースワイズ線形化（10×10格子）で</a:t>
            </a:r>
            <a:r>
              <a:rPr lang="ja-JP" altLang="en-US" sz="1600" dirty="0">
                <a:solidFill>
                  <a:srgbClr val="0B1220"/>
                </a:solidFill>
                <a:latin typeface="Meiryo" pitchFamily="34" charset="0"/>
                <a:ea typeface="Meiryo" pitchFamily="34" charset="-122"/>
                <a:cs typeface="Meiryo" pitchFamily="34" charset="-120"/>
              </a:rPr>
              <a:t>計画問題に落とし込む</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劣化表現の違い（未考慮/1</a:t>
            </a:r>
            <a:r>
              <a:rPr lang="ja-JP" altLang="en-US" sz="1600" dirty="0">
                <a:solidFill>
                  <a:srgbClr val="0B1220"/>
                </a:solidFill>
                <a:latin typeface="Meiryo" pitchFamily="34" charset="0"/>
                <a:ea typeface="Meiryo" pitchFamily="34" charset="-122"/>
                <a:cs typeface="Meiryo" pitchFamily="34" charset="-120"/>
              </a:rPr>
              <a:t>次元ピースワイズ</a:t>
            </a:r>
            <a:r>
              <a:rPr lang="en-US" sz="1600" dirty="0">
                <a:solidFill>
                  <a:srgbClr val="0B1220"/>
                </a:solidFill>
                <a:latin typeface="Meiryo" pitchFamily="34" charset="0"/>
                <a:ea typeface="Meiryo" pitchFamily="34" charset="-122"/>
                <a:cs typeface="Meiryo" pitchFamily="34" charset="-120"/>
              </a:rPr>
              <a:t>/2</a:t>
            </a:r>
            <a:r>
              <a:rPr lang="ja-JP" altLang="en-US" sz="1600" dirty="0">
                <a:solidFill>
                  <a:srgbClr val="0B1220"/>
                </a:solidFill>
                <a:latin typeface="Meiryo" pitchFamily="34" charset="0"/>
                <a:ea typeface="Meiryo" pitchFamily="34" charset="-122"/>
                <a:cs typeface="Meiryo" pitchFamily="34" charset="-120"/>
              </a:rPr>
              <a:t>次元ピースワイズ</a:t>
            </a:r>
            <a:r>
              <a:rPr lang="en-US" sz="1600" dirty="0">
                <a:solidFill>
                  <a:srgbClr val="0B1220"/>
                </a:solidFill>
                <a:latin typeface="Meiryo" pitchFamily="34" charset="0"/>
                <a:ea typeface="Meiryo" pitchFamily="34" charset="-122"/>
                <a:cs typeface="Meiryo" pitchFamily="34" charset="-120"/>
              </a:rPr>
              <a:t>）が運用に与える影響を比較</a:t>
            </a:r>
            <a:endParaRPr lang="en-US" sz="1600" dirty="0"/>
          </a:p>
        </p:txBody>
      </p:sp>
      <p:sp>
        <p:nvSpPr>
          <p:cNvPr id="11" name="Shape 9"/>
          <p:cNvSpPr/>
          <p:nvPr/>
        </p:nvSpPr>
        <p:spPr>
          <a:xfrm>
            <a:off x="548640" y="4251960"/>
            <a:ext cx="11094415" cy="1920240"/>
          </a:xfrm>
          <a:prstGeom prst="rect">
            <a:avLst/>
          </a:prstGeom>
          <a:solidFill>
            <a:srgbClr val="EEF2FF"/>
          </a:solidFill>
          <a:ln w="12700">
            <a:solidFill>
              <a:srgbClr val="C7D2FE"/>
            </a:solidFill>
            <a:prstDash val="solid"/>
          </a:ln>
        </p:spPr>
        <p:txBody>
          <a:bodyPr/>
          <a:lstStyle/>
          <a:p>
            <a:endParaRPr lang="ja-JP" altLang="en-US"/>
          </a:p>
        </p:txBody>
      </p:sp>
      <p:sp>
        <p:nvSpPr>
          <p:cNvPr id="12" name="Text 10"/>
          <p:cNvSpPr/>
          <p:nvPr/>
        </p:nvSpPr>
        <p:spPr>
          <a:xfrm>
            <a:off x="868680" y="4434840"/>
            <a:ext cx="10454335" cy="1371600"/>
          </a:xfrm>
          <a:prstGeom prst="rect">
            <a:avLst/>
          </a:prstGeom>
          <a:noFill/>
          <a:ln/>
        </p:spPr>
        <p:txBody>
          <a:bodyPr wrap="square" rtlCol="0" anchor="ctr"/>
          <a:lstStyle/>
          <a:p>
            <a:pPr marL="0" indent="0">
              <a:buNone/>
            </a:pPr>
            <a:r>
              <a:rPr lang="en-US" sz="1800" b="1" dirty="0" err="1">
                <a:solidFill>
                  <a:srgbClr val="0B1220"/>
                </a:solidFill>
                <a:latin typeface="Meiryo" pitchFamily="34" charset="0"/>
                <a:ea typeface="Meiryo" pitchFamily="34" charset="-122"/>
                <a:cs typeface="Meiryo" pitchFamily="34" charset="-120"/>
              </a:rPr>
              <a:t>ポイント：劣化を考慮すると「いつ／どの市場で稼ぐか」の最適解が変わ</a:t>
            </a:r>
            <a:r>
              <a:rPr lang="ja-JP" altLang="en-US" sz="1800" b="1" dirty="0">
                <a:solidFill>
                  <a:srgbClr val="0B1220"/>
                </a:solidFill>
                <a:latin typeface="Meiryo" pitchFamily="34" charset="0"/>
                <a:ea typeface="Meiryo" pitchFamily="34" charset="-122"/>
                <a:cs typeface="Meiryo" pitchFamily="34" charset="-120"/>
              </a:rPr>
              <a:t>る</a:t>
            </a:r>
            <a:endParaRPr lang="en-US" sz="1800" dirty="0"/>
          </a:p>
        </p:txBody>
      </p:sp>
      <p:sp>
        <p:nvSpPr>
          <p:cNvPr id="16" name="テキスト ボックス 15">
            <a:extLst>
              <a:ext uri="{FF2B5EF4-FFF2-40B4-BE49-F238E27FC236}">
                <a16:creationId xmlns:a16="http://schemas.microsoft.com/office/drawing/2014/main" id="{BBFA12EF-4BF5-C4D8-F619-4AE682DCFDC7}"/>
              </a:ext>
            </a:extLst>
          </p:cNvPr>
          <p:cNvSpPr txBox="1"/>
          <p:nvPr/>
        </p:nvSpPr>
        <p:spPr>
          <a:xfrm>
            <a:off x="11692759" y="6313355"/>
            <a:ext cx="357352" cy="369332"/>
          </a:xfrm>
          <a:prstGeom prst="rect">
            <a:avLst/>
          </a:prstGeom>
          <a:noFill/>
        </p:spPr>
        <p:txBody>
          <a:bodyPr wrap="square">
            <a:spAutoFit/>
          </a:bodyPr>
          <a:lstStyle/>
          <a:p>
            <a:r>
              <a:rPr kumimoji="1" lang="en-US" altLang="ja-JP" dirty="0"/>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457200"/>
          </a:xfrm>
          <a:prstGeom prst="rect">
            <a:avLst/>
          </a:prstGeom>
          <a:noFill/>
          <a:ln/>
        </p:spPr>
        <p:txBody>
          <a:bodyPr wrap="square" rtlCol="0" anchor="ctr"/>
          <a:lstStyle/>
          <a:p>
            <a:pPr marL="0" indent="0">
              <a:buNone/>
            </a:pPr>
            <a:r>
              <a:rPr lang="en-US" sz="2800" b="1" dirty="0" err="1">
                <a:solidFill>
                  <a:srgbClr val="0B1220"/>
                </a:solidFill>
                <a:latin typeface="Meiryo" pitchFamily="34" charset="0"/>
                <a:ea typeface="Meiryo" pitchFamily="34" charset="-122"/>
                <a:cs typeface="Meiryo" pitchFamily="34" charset="-120"/>
              </a:rPr>
              <a:t>問題設定</a:t>
            </a:r>
            <a:endParaRPr lang="en-US" sz="2800" dirty="0"/>
          </a:p>
        </p:txBody>
      </p:sp>
      <p:sp>
        <p:nvSpPr>
          <p:cNvPr id="3" name="Text 1"/>
          <p:cNvSpPr/>
          <p:nvPr/>
        </p:nvSpPr>
        <p:spPr>
          <a:xfrm>
            <a:off x="548640" y="786384"/>
            <a:ext cx="11094415" cy="320040"/>
          </a:xfrm>
          <a:prstGeom prst="rect">
            <a:avLst/>
          </a:prstGeom>
          <a:noFill/>
          <a:ln/>
        </p:spPr>
        <p:txBody>
          <a:bodyPr wrap="square" rtlCol="0" anchor="ctr"/>
          <a:lstStyle/>
          <a:p>
            <a:pPr marL="0" indent="0">
              <a:buNone/>
            </a:pPr>
            <a:r>
              <a:rPr lang="en-US" altLang="ja-JP" sz="1400" dirty="0">
                <a:solidFill>
                  <a:srgbClr val="334155"/>
                </a:solidFill>
                <a:latin typeface="Meiryo" pitchFamily="34" charset="0"/>
                <a:ea typeface="Meiryo" pitchFamily="34" charset="-122"/>
                <a:cs typeface="Meiryo" pitchFamily="34" charset="-120"/>
              </a:rPr>
              <a:t>1</a:t>
            </a:r>
            <a:r>
              <a:rPr lang="ja-JP" altLang="en-US" sz="1400" dirty="0">
                <a:solidFill>
                  <a:srgbClr val="334155"/>
                </a:solidFill>
                <a:latin typeface="Meiryo" pitchFamily="34" charset="0"/>
                <a:ea typeface="Meiryo" pitchFamily="34" charset="-122"/>
                <a:cs typeface="Meiryo" pitchFamily="34" charset="-120"/>
              </a:rPr>
              <a:t>日を</a:t>
            </a:r>
            <a:r>
              <a:rPr lang="en-US" sz="1400" dirty="0">
                <a:solidFill>
                  <a:srgbClr val="334155"/>
                </a:solidFill>
                <a:latin typeface="Meiryo" pitchFamily="34" charset="0"/>
                <a:ea typeface="Meiryo" pitchFamily="34" charset="-122"/>
                <a:cs typeface="Meiryo" pitchFamily="34" charset="-120"/>
              </a:rPr>
              <a:t>30分刻み（48区間）で運用計画を決定</a:t>
            </a:r>
            <a:endParaRPr lang="en-US" sz="1400" dirty="0"/>
          </a:p>
        </p:txBody>
      </p:sp>
      <p:sp>
        <p:nvSpPr>
          <p:cNvPr id="4" name="Shape 2"/>
          <p:cNvSpPr/>
          <p:nvPr/>
        </p:nvSpPr>
        <p:spPr>
          <a:xfrm>
            <a:off x="548640" y="1115568"/>
            <a:ext cx="11094415" cy="0"/>
          </a:xfrm>
          <a:prstGeom prst="line">
            <a:avLst/>
          </a:prstGeom>
          <a:noFill/>
          <a:ln w="12700">
            <a:solidFill>
              <a:srgbClr val="E2E8F0"/>
            </a:solidFill>
            <a:prstDash val="solid"/>
          </a:ln>
        </p:spPr>
        <p:txBody>
          <a:bodyPr/>
          <a:lstStyle/>
          <a:p>
            <a:endParaRPr lang="ja-JP" altLang="en-US"/>
          </a:p>
        </p:txBody>
      </p:sp>
      <p:sp>
        <p:nvSpPr>
          <p:cNvPr id="5" name="Text 3"/>
          <p:cNvSpPr/>
          <p:nvPr/>
        </p:nvSpPr>
        <p:spPr>
          <a:xfrm>
            <a:off x="548640" y="1325880"/>
            <a:ext cx="2926080" cy="320040"/>
          </a:xfrm>
          <a:prstGeom prst="rect">
            <a:avLst/>
          </a:prstGeom>
          <a:noFill/>
          <a:ln/>
        </p:spPr>
        <p:txBody>
          <a:bodyPr wrap="square" rtlCol="0" anchor="ctr"/>
          <a:lstStyle/>
          <a:p>
            <a:pPr marL="0" indent="0">
              <a:buNone/>
            </a:pPr>
            <a:r>
              <a:rPr lang="en-US" sz="1600" b="1" dirty="0">
                <a:solidFill>
                  <a:srgbClr val="334155"/>
                </a:solidFill>
                <a:latin typeface="Meiryo" pitchFamily="34" charset="0"/>
                <a:ea typeface="Meiryo" pitchFamily="34" charset="-122"/>
                <a:cs typeface="Meiryo" pitchFamily="34" charset="-120"/>
              </a:rPr>
              <a:t>対象市場</a:t>
            </a:r>
            <a:endParaRPr lang="en-US" sz="1600" dirty="0"/>
          </a:p>
        </p:txBody>
      </p:sp>
      <p:sp>
        <p:nvSpPr>
          <p:cNvPr id="6" name="Shape 4"/>
          <p:cNvSpPr/>
          <p:nvPr/>
        </p:nvSpPr>
        <p:spPr>
          <a:xfrm>
            <a:off x="548640" y="1737360"/>
            <a:ext cx="3200400" cy="685800"/>
          </a:xfrm>
          <a:prstGeom prst="rect">
            <a:avLst/>
          </a:prstGeom>
          <a:solidFill>
            <a:srgbClr val="DBEAFE"/>
          </a:solidFill>
          <a:ln w="12700">
            <a:solidFill>
              <a:srgbClr val="E2E8F0"/>
            </a:solidFill>
            <a:prstDash val="solid"/>
          </a:ln>
        </p:spPr>
        <p:txBody>
          <a:bodyPr/>
          <a:lstStyle/>
          <a:p>
            <a:endParaRPr lang="ja-JP" altLang="en-US"/>
          </a:p>
        </p:txBody>
      </p:sp>
      <p:sp>
        <p:nvSpPr>
          <p:cNvPr id="7" name="Text 5"/>
          <p:cNvSpPr/>
          <p:nvPr/>
        </p:nvSpPr>
        <p:spPr>
          <a:xfrm>
            <a:off x="777240" y="1847088"/>
            <a:ext cx="2743200" cy="256032"/>
          </a:xfrm>
          <a:prstGeom prst="rect">
            <a:avLst/>
          </a:prstGeom>
          <a:noFill/>
          <a:ln/>
        </p:spPr>
        <p:txBody>
          <a:bodyPr wrap="square" rtlCol="0" anchor="ctr"/>
          <a:lstStyle/>
          <a:p>
            <a:pPr marL="0" indent="0">
              <a:buNone/>
            </a:pPr>
            <a:r>
              <a:rPr lang="en-US" sz="1600" b="1" dirty="0">
                <a:solidFill>
                  <a:srgbClr val="0B1220"/>
                </a:solidFill>
                <a:latin typeface="Meiryo" pitchFamily="34" charset="0"/>
                <a:ea typeface="Meiryo" pitchFamily="34" charset="-122"/>
                <a:cs typeface="Meiryo" pitchFamily="34" charset="-120"/>
              </a:rPr>
              <a:t>スポット市場</a:t>
            </a:r>
            <a:endParaRPr lang="en-US" sz="1600" dirty="0"/>
          </a:p>
        </p:txBody>
      </p:sp>
      <p:sp>
        <p:nvSpPr>
          <p:cNvPr id="8" name="Text 6"/>
          <p:cNvSpPr/>
          <p:nvPr/>
        </p:nvSpPr>
        <p:spPr>
          <a:xfrm>
            <a:off x="777240" y="2103120"/>
            <a:ext cx="2743200" cy="228600"/>
          </a:xfrm>
          <a:prstGeom prst="rect">
            <a:avLst/>
          </a:prstGeom>
          <a:noFill/>
          <a:ln/>
        </p:spPr>
        <p:txBody>
          <a:bodyPr wrap="square" rtlCol="0" anchor="ctr"/>
          <a:lstStyle/>
          <a:p>
            <a:pPr marL="0" indent="0">
              <a:buNone/>
            </a:pPr>
            <a:r>
              <a:rPr lang="en-US" sz="1200" dirty="0">
                <a:solidFill>
                  <a:srgbClr val="334155"/>
                </a:solidFill>
                <a:latin typeface="Meiryo" pitchFamily="34" charset="0"/>
                <a:ea typeface="Meiryo" pitchFamily="34" charset="-122"/>
                <a:cs typeface="Meiryo" pitchFamily="34" charset="-120"/>
              </a:rPr>
              <a:t>売買量（買い/売り）</a:t>
            </a:r>
            <a:endParaRPr lang="en-US" sz="1200" dirty="0"/>
          </a:p>
        </p:txBody>
      </p:sp>
      <p:sp>
        <p:nvSpPr>
          <p:cNvPr id="9" name="Shape 7"/>
          <p:cNvSpPr/>
          <p:nvPr/>
        </p:nvSpPr>
        <p:spPr>
          <a:xfrm>
            <a:off x="548640" y="2743200"/>
            <a:ext cx="3200400" cy="685800"/>
          </a:xfrm>
          <a:prstGeom prst="rect">
            <a:avLst/>
          </a:prstGeom>
          <a:solidFill>
            <a:srgbClr val="ECFDF5"/>
          </a:solidFill>
          <a:ln w="12700">
            <a:solidFill>
              <a:srgbClr val="E2E8F0"/>
            </a:solidFill>
            <a:prstDash val="solid"/>
          </a:ln>
        </p:spPr>
        <p:txBody>
          <a:bodyPr/>
          <a:lstStyle/>
          <a:p>
            <a:endParaRPr lang="ja-JP" altLang="en-US"/>
          </a:p>
        </p:txBody>
      </p:sp>
      <p:sp>
        <p:nvSpPr>
          <p:cNvPr id="10" name="Text 8"/>
          <p:cNvSpPr/>
          <p:nvPr/>
        </p:nvSpPr>
        <p:spPr>
          <a:xfrm>
            <a:off x="777240" y="2852928"/>
            <a:ext cx="2743200" cy="256032"/>
          </a:xfrm>
          <a:prstGeom prst="rect">
            <a:avLst/>
          </a:prstGeom>
          <a:noFill/>
          <a:ln/>
        </p:spPr>
        <p:txBody>
          <a:bodyPr wrap="square" rtlCol="0" anchor="ctr"/>
          <a:lstStyle/>
          <a:p>
            <a:pPr marL="0" indent="0">
              <a:buNone/>
            </a:pPr>
            <a:r>
              <a:rPr lang="en-US" sz="1600" b="1" dirty="0">
                <a:solidFill>
                  <a:srgbClr val="0B1220"/>
                </a:solidFill>
                <a:latin typeface="Meiryo" pitchFamily="34" charset="0"/>
                <a:ea typeface="Meiryo" pitchFamily="34" charset="-122"/>
                <a:cs typeface="Meiryo" pitchFamily="34" charset="-120"/>
              </a:rPr>
              <a:t>一次調整市場</a:t>
            </a:r>
            <a:endParaRPr lang="en-US" sz="1600" dirty="0"/>
          </a:p>
        </p:txBody>
      </p:sp>
      <p:sp>
        <p:nvSpPr>
          <p:cNvPr id="11" name="Text 9"/>
          <p:cNvSpPr/>
          <p:nvPr/>
        </p:nvSpPr>
        <p:spPr>
          <a:xfrm>
            <a:off x="777240" y="3108960"/>
            <a:ext cx="2743200" cy="228600"/>
          </a:xfrm>
          <a:prstGeom prst="rect">
            <a:avLst/>
          </a:prstGeom>
          <a:noFill/>
          <a:ln/>
        </p:spPr>
        <p:txBody>
          <a:bodyPr wrap="square" rtlCol="0" anchor="ctr"/>
          <a:lstStyle/>
          <a:p>
            <a:pPr marL="0" indent="0">
              <a:buNone/>
            </a:pPr>
            <a:r>
              <a:rPr lang="en-US" sz="1200" dirty="0">
                <a:solidFill>
                  <a:srgbClr val="334155"/>
                </a:solidFill>
                <a:latin typeface="Meiryo" pitchFamily="34" charset="0"/>
                <a:ea typeface="Meiryo" pitchFamily="34" charset="-122"/>
                <a:cs typeface="Meiryo" pitchFamily="34" charset="-120"/>
              </a:rPr>
              <a:t>提供量（容量）</a:t>
            </a:r>
            <a:endParaRPr lang="en-US" sz="1200" dirty="0"/>
          </a:p>
        </p:txBody>
      </p:sp>
      <p:sp>
        <p:nvSpPr>
          <p:cNvPr id="12" name="Shape 10"/>
          <p:cNvSpPr/>
          <p:nvPr/>
        </p:nvSpPr>
        <p:spPr>
          <a:xfrm>
            <a:off x="548640" y="3749040"/>
            <a:ext cx="3200400" cy="685800"/>
          </a:xfrm>
          <a:prstGeom prst="rect">
            <a:avLst/>
          </a:prstGeom>
          <a:solidFill>
            <a:srgbClr val="FEF3C7"/>
          </a:solidFill>
          <a:ln w="12700">
            <a:solidFill>
              <a:srgbClr val="E2E8F0"/>
            </a:solidFill>
            <a:prstDash val="solid"/>
          </a:ln>
        </p:spPr>
        <p:txBody>
          <a:bodyPr/>
          <a:lstStyle/>
          <a:p>
            <a:endParaRPr lang="ja-JP" altLang="en-US"/>
          </a:p>
        </p:txBody>
      </p:sp>
      <p:sp>
        <p:nvSpPr>
          <p:cNvPr id="13" name="Text 11"/>
          <p:cNvSpPr/>
          <p:nvPr/>
        </p:nvSpPr>
        <p:spPr>
          <a:xfrm>
            <a:off x="777240" y="3858768"/>
            <a:ext cx="2743200" cy="256032"/>
          </a:xfrm>
          <a:prstGeom prst="rect">
            <a:avLst/>
          </a:prstGeom>
          <a:noFill/>
          <a:ln/>
        </p:spPr>
        <p:txBody>
          <a:bodyPr wrap="square" rtlCol="0" anchor="ctr"/>
          <a:lstStyle/>
          <a:p>
            <a:pPr marL="0" indent="0">
              <a:buNone/>
            </a:pPr>
            <a:r>
              <a:rPr lang="en-US" sz="1600" b="1" dirty="0">
                <a:solidFill>
                  <a:srgbClr val="0B1220"/>
                </a:solidFill>
                <a:latin typeface="Meiryo" pitchFamily="34" charset="0"/>
                <a:ea typeface="Meiryo" pitchFamily="34" charset="-122"/>
                <a:cs typeface="Meiryo" pitchFamily="34" charset="-120"/>
              </a:rPr>
              <a:t>二次調整市場</a:t>
            </a:r>
            <a:endParaRPr lang="en-US" sz="1600" dirty="0"/>
          </a:p>
        </p:txBody>
      </p:sp>
      <p:sp>
        <p:nvSpPr>
          <p:cNvPr id="14" name="Text 12"/>
          <p:cNvSpPr/>
          <p:nvPr/>
        </p:nvSpPr>
        <p:spPr>
          <a:xfrm>
            <a:off x="777240" y="4114800"/>
            <a:ext cx="2743200" cy="228600"/>
          </a:xfrm>
          <a:prstGeom prst="rect">
            <a:avLst/>
          </a:prstGeom>
          <a:noFill/>
          <a:ln/>
        </p:spPr>
        <p:txBody>
          <a:bodyPr wrap="square" rtlCol="0" anchor="ctr"/>
          <a:lstStyle/>
          <a:p>
            <a:pPr marL="0" indent="0">
              <a:buNone/>
            </a:pPr>
            <a:r>
              <a:rPr lang="en-US" sz="1200" dirty="0">
                <a:solidFill>
                  <a:srgbClr val="334155"/>
                </a:solidFill>
                <a:latin typeface="Meiryo" pitchFamily="34" charset="0"/>
                <a:ea typeface="Meiryo" pitchFamily="34" charset="-122"/>
                <a:cs typeface="Meiryo" pitchFamily="34" charset="-120"/>
              </a:rPr>
              <a:t>提供量（容量）</a:t>
            </a:r>
            <a:endParaRPr lang="en-US" sz="1200" dirty="0"/>
          </a:p>
        </p:txBody>
      </p:sp>
      <p:sp>
        <p:nvSpPr>
          <p:cNvPr id="15" name="Shape 13"/>
          <p:cNvSpPr/>
          <p:nvPr/>
        </p:nvSpPr>
        <p:spPr>
          <a:xfrm>
            <a:off x="4069080" y="2240280"/>
            <a:ext cx="1005840" cy="1508760"/>
          </a:xfrm>
          <a:prstGeom prst="rightArrow">
            <a:avLst/>
          </a:prstGeom>
          <a:solidFill>
            <a:srgbClr val="2563EB"/>
          </a:solidFill>
          <a:ln w="12700">
            <a:solidFill>
              <a:srgbClr val="2563EB"/>
            </a:solidFill>
            <a:prstDash val="solid"/>
          </a:ln>
        </p:spPr>
        <p:txBody>
          <a:bodyPr/>
          <a:lstStyle/>
          <a:p>
            <a:endParaRPr lang="ja-JP" altLang="en-US"/>
          </a:p>
        </p:txBody>
      </p:sp>
      <p:sp>
        <p:nvSpPr>
          <p:cNvPr id="16" name="Text 14"/>
          <p:cNvSpPr/>
          <p:nvPr/>
        </p:nvSpPr>
        <p:spPr>
          <a:xfrm>
            <a:off x="4023360" y="3749040"/>
            <a:ext cx="1097280" cy="274320"/>
          </a:xfrm>
          <a:prstGeom prst="rect">
            <a:avLst/>
          </a:prstGeom>
          <a:noFill/>
          <a:ln/>
        </p:spPr>
        <p:txBody>
          <a:bodyPr wrap="square" rtlCol="0" anchor="ctr"/>
          <a:lstStyle/>
          <a:p>
            <a:pPr marL="0" indent="0" algn="ctr">
              <a:buNone/>
            </a:pPr>
            <a:r>
              <a:rPr lang="en-US" sz="1200" dirty="0">
                <a:solidFill>
                  <a:srgbClr val="334155"/>
                </a:solidFill>
                <a:latin typeface="Meiryo" pitchFamily="34" charset="0"/>
                <a:ea typeface="Meiryo" pitchFamily="34" charset="-122"/>
                <a:cs typeface="Meiryo" pitchFamily="34" charset="-120"/>
              </a:rPr>
              <a:t>同時最適化</a:t>
            </a:r>
            <a:endParaRPr lang="en-US" sz="1200" dirty="0"/>
          </a:p>
        </p:txBody>
      </p:sp>
      <p:sp>
        <p:nvSpPr>
          <p:cNvPr id="17" name="Shape 15"/>
          <p:cNvSpPr/>
          <p:nvPr/>
        </p:nvSpPr>
        <p:spPr>
          <a:xfrm>
            <a:off x="5349240" y="1691640"/>
            <a:ext cx="6293815" cy="3657600"/>
          </a:xfrm>
          <a:prstGeom prst="rect">
            <a:avLst/>
          </a:prstGeom>
          <a:solidFill>
            <a:srgbClr val="F8FAFC"/>
          </a:solidFill>
          <a:ln w="12700">
            <a:solidFill>
              <a:srgbClr val="E2E8F0"/>
            </a:solidFill>
            <a:prstDash val="solid"/>
          </a:ln>
          <a:effectLst>
            <a:outerShdw blurRad="38100" dist="19050" dir="2700000" algn="bl" rotWithShape="0">
              <a:srgbClr val="000000">
                <a:alpha val="10000"/>
              </a:srgbClr>
            </a:outerShdw>
          </a:effectLst>
        </p:spPr>
        <p:txBody>
          <a:bodyPr/>
          <a:lstStyle/>
          <a:p>
            <a:endParaRPr lang="ja-JP" altLang="en-US"/>
          </a:p>
        </p:txBody>
      </p:sp>
      <p:sp>
        <p:nvSpPr>
          <p:cNvPr id="18" name="Text 16"/>
          <p:cNvSpPr/>
          <p:nvPr/>
        </p:nvSpPr>
        <p:spPr>
          <a:xfrm>
            <a:off x="5623560" y="1874520"/>
            <a:ext cx="6019495" cy="320040"/>
          </a:xfrm>
          <a:prstGeom prst="rect">
            <a:avLst/>
          </a:prstGeom>
          <a:noFill/>
          <a:ln/>
        </p:spPr>
        <p:txBody>
          <a:bodyPr wrap="square" rtlCol="0" anchor="ctr"/>
          <a:lstStyle/>
          <a:p>
            <a:pPr marL="0" indent="0">
              <a:buNone/>
            </a:pPr>
            <a:r>
              <a:rPr lang="en-US" sz="1600" b="1" dirty="0" err="1">
                <a:solidFill>
                  <a:srgbClr val="0B1220"/>
                </a:solidFill>
                <a:latin typeface="Meiryo" pitchFamily="34" charset="0"/>
                <a:ea typeface="Meiryo" pitchFamily="34" charset="-122"/>
                <a:cs typeface="Meiryo" pitchFamily="34" charset="-120"/>
              </a:rPr>
              <a:t>意思決定</a:t>
            </a:r>
            <a:endParaRPr lang="en-US" sz="1600" dirty="0"/>
          </a:p>
        </p:txBody>
      </p:sp>
      <mc:AlternateContent xmlns:mc="http://schemas.openxmlformats.org/markup-compatibility/2006" xmlns:a14="http://schemas.microsoft.com/office/drawing/2010/main">
        <mc:Choice Requires="a14">
          <p:sp>
            <p:nvSpPr>
              <p:cNvPr id="19" name="Text 17"/>
              <p:cNvSpPr/>
              <p:nvPr/>
            </p:nvSpPr>
            <p:spPr>
              <a:xfrm>
                <a:off x="5623560" y="2240280"/>
                <a:ext cx="5836615" cy="2560320"/>
              </a:xfrm>
              <a:prstGeom prst="rect">
                <a:avLst/>
              </a:prstGeom>
              <a:noFill/>
              <a:ln/>
            </p:spPr>
            <p:txBody>
              <a:bodyPr wrap="square" rtlCol="0" anchor="t"/>
              <a:lstStyle/>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スポット：購入量 </a:t>
                </a:r>
                <a14:m>
                  <m:oMath xmlns:m="http://schemas.openxmlformats.org/officeDocument/2006/math">
                    <m:sSub>
                      <m:sSubPr>
                        <m:ctrlPr>
                          <a:rPr lang="en-US" sz="1600" i="1" dirty="0" smtClean="0">
                            <a:solidFill>
                              <a:srgbClr val="0B1220"/>
                            </a:solidFill>
                            <a:latin typeface="Cambria Math" panose="02040503050406030204" pitchFamily="18" charset="0"/>
                            <a:ea typeface="Meiryo" pitchFamily="34" charset="-122"/>
                            <a:cs typeface="Meiryo" pitchFamily="34" charset="-120"/>
                          </a:rPr>
                        </m:ctrlPr>
                      </m:sSubPr>
                      <m:e>
                        <m:r>
                          <a:rPr lang="en-US" sz="1600" i="1" dirty="0" smtClean="0">
                            <a:solidFill>
                              <a:srgbClr val="0B1220"/>
                            </a:solidFill>
                            <a:latin typeface="Cambria Math" panose="02040503050406030204" pitchFamily="18" charset="0"/>
                            <a:ea typeface="Meiryo" pitchFamily="34" charset="-122"/>
                            <a:cs typeface="Meiryo" pitchFamily="34" charset="-120"/>
                          </a:rPr>
                          <m:t>𝑃</m:t>
                        </m:r>
                      </m:e>
                      <m:sub>
                        <m:r>
                          <a:rPr lang="en-US" sz="1600" i="1" dirty="0" smtClean="0">
                            <a:solidFill>
                              <a:srgbClr val="0B1220"/>
                            </a:solidFill>
                            <a:latin typeface="Cambria Math" panose="02040503050406030204" pitchFamily="18" charset="0"/>
                            <a:ea typeface="Meiryo" pitchFamily="34" charset="-122"/>
                            <a:cs typeface="Meiryo" pitchFamily="34" charset="-120"/>
                          </a:rPr>
                          <m:t>𝑏𝑢𝑦</m:t>
                        </m:r>
                      </m:sub>
                    </m:sSub>
                    <m:d>
                      <m:dPr>
                        <m:begChr m:val="["/>
                        <m:endChr m:val="]"/>
                        <m:ctrlPr>
                          <a:rPr lang="en-US" sz="1600" i="1" dirty="0" smtClean="0">
                            <a:solidFill>
                              <a:srgbClr val="0B1220"/>
                            </a:solidFill>
                            <a:latin typeface="Cambria Math" panose="02040503050406030204" pitchFamily="18" charset="0"/>
                            <a:ea typeface="Meiryo" pitchFamily="34" charset="-122"/>
                            <a:cs typeface="Meiryo" pitchFamily="34" charset="-120"/>
                          </a:rPr>
                        </m:ctrlPr>
                      </m:dPr>
                      <m:e>
                        <m:r>
                          <a:rPr lang="en-US" sz="1600" i="1" dirty="0">
                            <a:solidFill>
                              <a:srgbClr val="0B1220"/>
                            </a:solidFill>
                            <a:latin typeface="Cambria Math" panose="02040503050406030204" pitchFamily="18" charset="0"/>
                            <a:ea typeface="Meiryo" pitchFamily="34" charset="-122"/>
                            <a:cs typeface="Meiryo" pitchFamily="34" charset="-120"/>
                          </a:rPr>
                          <m:t>𝑡</m:t>
                        </m:r>
                      </m:e>
                    </m:d>
                    <m:r>
                      <m:rPr>
                        <m:lit/>
                      </m:rPr>
                      <a:rPr lang="en-US" sz="1600" b="0" i="1" dirty="0" smtClean="0">
                        <a:solidFill>
                          <a:srgbClr val="0B1220"/>
                        </a:solidFill>
                        <a:latin typeface="Cambria Math" panose="02040503050406030204" pitchFamily="18" charset="0"/>
                        <a:ea typeface="Meiryo" pitchFamily="34" charset="-122"/>
                        <a:cs typeface="Meiryo" pitchFamily="34" charset="-120"/>
                      </a:rPr>
                      <m:t>/</m:t>
                    </m:r>
                  </m:oMath>
                </a14:m>
                <a:r>
                  <a:rPr lang="en-US" sz="1600" dirty="0">
                    <a:solidFill>
                      <a:srgbClr val="0B1220"/>
                    </a:solidFill>
                    <a:latin typeface="Meiryo" pitchFamily="34" charset="0"/>
                    <a:ea typeface="Meiryo" pitchFamily="34" charset="-122"/>
                    <a:cs typeface="Meiryo" pitchFamily="34" charset="-120"/>
                  </a:rPr>
                  <a:t>売却量 </a:t>
                </a:r>
                <a14:m>
                  <m:oMath xmlns:m="http://schemas.openxmlformats.org/officeDocument/2006/math">
                    <m:sSub>
                      <m:sSubPr>
                        <m:ctrlPr>
                          <a:rPr lang="en-US" sz="1600" i="1" dirty="0" smtClean="0">
                            <a:solidFill>
                              <a:srgbClr val="0B1220"/>
                            </a:solidFill>
                            <a:latin typeface="Cambria Math" panose="02040503050406030204" pitchFamily="18" charset="0"/>
                            <a:ea typeface="Meiryo" pitchFamily="34" charset="-122"/>
                            <a:cs typeface="Meiryo" pitchFamily="34" charset="-120"/>
                          </a:rPr>
                        </m:ctrlPr>
                      </m:sSubPr>
                      <m:e>
                        <m:r>
                          <a:rPr lang="en-US" sz="1600" i="1" dirty="0" smtClean="0">
                            <a:solidFill>
                              <a:srgbClr val="0B1220"/>
                            </a:solidFill>
                            <a:latin typeface="Cambria Math" panose="02040503050406030204" pitchFamily="18" charset="0"/>
                            <a:ea typeface="Meiryo" pitchFamily="34" charset="-122"/>
                            <a:cs typeface="Meiryo" pitchFamily="34" charset="-120"/>
                          </a:rPr>
                          <m:t>𝑃</m:t>
                        </m:r>
                      </m:e>
                      <m:sub>
                        <m:r>
                          <a:rPr lang="en-US" sz="1600" i="1" dirty="0" err="1" smtClean="0">
                            <a:solidFill>
                              <a:srgbClr val="0B1220"/>
                            </a:solidFill>
                            <a:latin typeface="Cambria Math" panose="02040503050406030204" pitchFamily="18" charset="0"/>
                            <a:ea typeface="Meiryo" pitchFamily="34" charset="-122"/>
                            <a:cs typeface="Meiryo" pitchFamily="34" charset="-120"/>
                          </a:rPr>
                          <m:t>𝑠𝑒𝑙</m:t>
                        </m:r>
                      </m:sub>
                    </m:sSub>
                    <m:d>
                      <m:dPr>
                        <m:begChr m:val="["/>
                        <m:endChr m:val="]"/>
                        <m:ctrlPr>
                          <a:rPr lang="en-US" sz="1600" i="1" dirty="0" smtClean="0">
                            <a:solidFill>
                              <a:srgbClr val="0B1220"/>
                            </a:solidFill>
                            <a:latin typeface="Cambria Math" panose="02040503050406030204" pitchFamily="18" charset="0"/>
                            <a:ea typeface="Meiryo" pitchFamily="34" charset="-122"/>
                            <a:cs typeface="Meiryo" pitchFamily="34" charset="-120"/>
                          </a:rPr>
                        </m:ctrlPr>
                      </m:dPr>
                      <m:e>
                        <m:r>
                          <a:rPr lang="en-US" sz="1600" i="1" dirty="0">
                            <a:solidFill>
                              <a:srgbClr val="0B1220"/>
                            </a:solidFill>
                            <a:latin typeface="Cambria Math" panose="02040503050406030204" pitchFamily="18" charset="0"/>
                            <a:ea typeface="Meiryo" pitchFamily="34" charset="-122"/>
                            <a:cs typeface="Meiryo" pitchFamily="34" charset="-120"/>
                          </a:rPr>
                          <m:t>𝑡</m:t>
                        </m:r>
                      </m:e>
                    </m:d>
                  </m:oMath>
                </a14:m>
                <a:endParaRPr lang="en-US" sz="1600" dirty="0">
                  <a:solidFill>
                    <a:srgbClr val="0B1220"/>
                  </a:solidFill>
                  <a:latin typeface="Meiryo" pitchFamily="34" charset="0"/>
                  <a:ea typeface="Meiryo" pitchFamily="34" charset="-122"/>
                  <a:cs typeface="Meiryo" pitchFamily="34" charset="-120"/>
                </a:endParaRPr>
              </a:p>
              <a:p>
                <a:pPr marL="228600" indent="-228600">
                  <a:lnSpc>
                    <a:spcPct val="115000"/>
                  </a:lnSpc>
                  <a:buSzPct val="100000"/>
                  <a:buChar char="•"/>
                </a:pPr>
                <a:r>
                  <a:rPr lang="en-US" sz="1600" dirty="0" err="1">
                    <a:solidFill>
                      <a:srgbClr val="0B1220"/>
                    </a:solidFill>
                    <a:latin typeface="Meiryo" pitchFamily="34" charset="0"/>
                    <a:ea typeface="Meiryo" pitchFamily="34" charset="-122"/>
                    <a:cs typeface="Meiryo" pitchFamily="34" charset="-120"/>
                  </a:rPr>
                  <a:t>調整：ブロック</a:t>
                </a:r>
                <a:r>
                  <a:rPr lang="ja-JP" altLang="en-US" sz="1600" dirty="0">
                    <a:solidFill>
                      <a:srgbClr val="0B1220"/>
                    </a:solidFill>
                    <a:latin typeface="Meiryo" pitchFamily="34" charset="0"/>
                    <a:ea typeface="Meiryo" pitchFamily="34" charset="-122"/>
                    <a:cs typeface="Meiryo" pitchFamily="34" charset="-120"/>
                  </a:rPr>
                  <a:t>売り電力</a:t>
                </a:r>
                <a:r>
                  <a:rPr lang="en-US" sz="1600" dirty="0">
                    <a:solidFill>
                      <a:srgbClr val="0B1220"/>
                    </a:solidFill>
                    <a:latin typeface="Meiryo" pitchFamily="34" charset="0"/>
                    <a:ea typeface="Meiryo" pitchFamily="34" charset="-122"/>
                    <a:cs typeface="Meiryo" pitchFamily="34" charset="-120"/>
                  </a:rPr>
                  <a:t> </a:t>
                </a:r>
                <a14:m>
                  <m:oMath xmlns:m="http://schemas.openxmlformats.org/officeDocument/2006/math">
                    <m:r>
                      <m:rPr>
                        <m:sty m:val="p"/>
                      </m:rPr>
                      <a:rPr lang="en-US" sz="1600" i="0" dirty="0" smtClean="0">
                        <a:solidFill>
                          <a:srgbClr val="0B1220"/>
                        </a:solidFill>
                        <a:latin typeface="Cambria Math" panose="02040503050406030204" pitchFamily="18" charset="0"/>
                        <a:ea typeface="Meiryo" pitchFamily="34" charset="-122"/>
                        <a:cs typeface="Meiryo" pitchFamily="34" charset="-120"/>
                      </a:rPr>
                      <m:t>Δ</m:t>
                    </m:r>
                    <m:r>
                      <a:rPr lang="en-US" sz="1600" i="1" dirty="0" err="1">
                        <a:solidFill>
                          <a:srgbClr val="0B1220"/>
                        </a:solidFill>
                        <a:latin typeface="Cambria Math" panose="02040503050406030204" pitchFamily="18" charset="0"/>
                        <a:ea typeface="Meiryo" pitchFamily="34" charset="-122"/>
                        <a:cs typeface="Meiryo" pitchFamily="34" charset="-120"/>
                      </a:rPr>
                      <m:t>𝑘</m:t>
                    </m:r>
                    <m:sSub>
                      <m:sSubPr>
                        <m:ctrlPr>
                          <a:rPr lang="en-US" sz="1600" i="1" dirty="0" smtClean="0">
                            <a:solidFill>
                              <a:srgbClr val="0B1220"/>
                            </a:solidFill>
                            <a:latin typeface="Cambria Math" panose="02040503050406030204" pitchFamily="18" charset="0"/>
                            <a:ea typeface="Meiryo" pitchFamily="34" charset="-122"/>
                            <a:cs typeface="Meiryo" pitchFamily="34" charset="-120"/>
                          </a:rPr>
                        </m:ctrlPr>
                      </m:sSubPr>
                      <m:e>
                        <m:r>
                          <a:rPr lang="en-US" sz="1600" i="1" dirty="0" err="1">
                            <a:solidFill>
                              <a:srgbClr val="0B1220"/>
                            </a:solidFill>
                            <a:latin typeface="Cambria Math" panose="02040503050406030204" pitchFamily="18" charset="0"/>
                            <a:ea typeface="Meiryo" pitchFamily="34" charset="-122"/>
                            <a:cs typeface="Meiryo" pitchFamily="34" charset="-120"/>
                          </a:rPr>
                          <m:t>𝑊</m:t>
                        </m:r>
                      </m:e>
                      <m:sub>
                        <m:r>
                          <a:rPr lang="en-US" sz="1600" i="1" dirty="0" smtClean="0">
                            <a:solidFill>
                              <a:srgbClr val="0B1220"/>
                            </a:solidFill>
                            <a:latin typeface="Cambria Math" panose="02040503050406030204" pitchFamily="18" charset="0"/>
                            <a:ea typeface="Meiryo" pitchFamily="34" charset="-122"/>
                            <a:cs typeface="Meiryo" pitchFamily="34" charset="-120"/>
                          </a:rPr>
                          <m:t>𝑟</m:t>
                        </m:r>
                        <m:r>
                          <a:rPr lang="en-US" sz="1600" i="1" dirty="0" smtClean="0">
                            <a:solidFill>
                              <a:srgbClr val="0B1220"/>
                            </a:solidFill>
                            <a:latin typeface="Cambria Math" panose="02040503050406030204" pitchFamily="18" charset="0"/>
                            <a:ea typeface="Meiryo" pitchFamily="34" charset="-122"/>
                            <a:cs typeface="Meiryo" pitchFamily="34" charset="-120"/>
                          </a:rPr>
                          <m:t>1</m:t>
                        </m:r>
                      </m:sub>
                    </m:sSub>
                    <m:d>
                      <m:dPr>
                        <m:begChr m:val="["/>
                        <m:endChr m:val="]"/>
                        <m:ctrlPr>
                          <a:rPr lang="en-US" sz="1600" i="1" dirty="0" smtClean="0">
                            <a:solidFill>
                              <a:srgbClr val="0B1220"/>
                            </a:solidFill>
                            <a:latin typeface="Cambria Math" panose="02040503050406030204" pitchFamily="18" charset="0"/>
                            <a:ea typeface="Meiryo" pitchFamily="34" charset="-122"/>
                            <a:cs typeface="Meiryo" pitchFamily="34" charset="-120"/>
                          </a:rPr>
                        </m:ctrlPr>
                      </m:dPr>
                      <m:e>
                        <m:r>
                          <a:rPr lang="en-US" sz="1600" i="1" dirty="0">
                            <a:solidFill>
                              <a:srgbClr val="0B1220"/>
                            </a:solidFill>
                            <a:latin typeface="Cambria Math" panose="02040503050406030204" pitchFamily="18" charset="0"/>
                            <a:ea typeface="Meiryo" pitchFamily="34" charset="-122"/>
                            <a:cs typeface="Meiryo" pitchFamily="34" charset="-120"/>
                          </a:rPr>
                          <m:t>𝑏</m:t>
                        </m:r>
                      </m:e>
                    </m:d>
                    <m:r>
                      <a:rPr lang="en-US" sz="1600" i="1" dirty="0">
                        <a:solidFill>
                          <a:srgbClr val="0B1220"/>
                        </a:solidFill>
                        <a:latin typeface="Cambria Math" panose="02040503050406030204" pitchFamily="18" charset="0"/>
                        <a:ea typeface="Meiryo" pitchFamily="34" charset="-122"/>
                        <a:cs typeface="Meiryo" pitchFamily="34" charset="-120"/>
                      </a:rPr>
                      <m:t>,</m:t>
                    </m:r>
                    <m:r>
                      <m:rPr>
                        <m:sty m:val="p"/>
                      </m:rPr>
                      <a:rPr lang="en-US" sz="1600" i="0" dirty="0" err="1">
                        <a:solidFill>
                          <a:srgbClr val="0B1220"/>
                        </a:solidFill>
                        <a:latin typeface="Cambria Math" panose="02040503050406030204" pitchFamily="18" charset="0"/>
                        <a:ea typeface="Meiryo" pitchFamily="34" charset="-122"/>
                        <a:cs typeface="Meiryo" pitchFamily="34" charset="-120"/>
                      </a:rPr>
                      <m:t>Δ</m:t>
                    </m:r>
                    <m:r>
                      <a:rPr lang="en-US" sz="1600" i="1" dirty="0" err="1">
                        <a:solidFill>
                          <a:srgbClr val="0B1220"/>
                        </a:solidFill>
                        <a:latin typeface="Cambria Math" panose="02040503050406030204" pitchFamily="18" charset="0"/>
                        <a:ea typeface="Meiryo" pitchFamily="34" charset="-122"/>
                        <a:cs typeface="Meiryo" pitchFamily="34" charset="-120"/>
                      </a:rPr>
                      <m:t>𝑘</m:t>
                    </m:r>
                    <m:sSub>
                      <m:sSubPr>
                        <m:ctrlPr>
                          <a:rPr lang="en-US" sz="1600" i="1" dirty="0" smtClean="0">
                            <a:solidFill>
                              <a:srgbClr val="0B1220"/>
                            </a:solidFill>
                            <a:latin typeface="Cambria Math" panose="02040503050406030204" pitchFamily="18" charset="0"/>
                            <a:ea typeface="Meiryo" pitchFamily="34" charset="-122"/>
                            <a:cs typeface="Meiryo" pitchFamily="34" charset="-120"/>
                          </a:rPr>
                        </m:ctrlPr>
                      </m:sSubPr>
                      <m:e>
                        <m:r>
                          <a:rPr lang="en-US" sz="1600" i="1" dirty="0" err="1">
                            <a:solidFill>
                              <a:srgbClr val="0B1220"/>
                            </a:solidFill>
                            <a:latin typeface="Cambria Math" panose="02040503050406030204" pitchFamily="18" charset="0"/>
                            <a:ea typeface="Meiryo" pitchFamily="34" charset="-122"/>
                            <a:cs typeface="Meiryo" pitchFamily="34" charset="-120"/>
                          </a:rPr>
                          <m:t>𝑊</m:t>
                        </m:r>
                      </m:e>
                      <m:sub>
                        <m:r>
                          <a:rPr lang="en-US" sz="1600" i="1" dirty="0" smtClean="0">
                            <a:solidFill>
                              <a:srgbClr val="0B1220"/>
                            </a:solidFill>
                            <a:latin typeface="Cambria Math" panose="02040503050406030204" pitchFamily="18" charset="0"/>
                            <a:ea typeface="Meiryo" pitchFamily="34" charset="-122"/>
                            <a:cs typeface="Meiryo" pitchFamily="34" charset="-120"/>
                          </a:rPr>
                          <m:t>𝑟</m:t>
                        </m:r>
                        <m:r>
                          <a:rPr lang="en-US" sz="1600" i="1" dirty="0" smtClean="0">
                            <a:solidFill>
                              <a:srgbClr val="0B1220"/>
                            </a:solidFill>
                            <a:latin typeface="Cambria Math" panose="02040503050406030204" pitchFamily="18" charset="0"/>
                            <a:ea typeface="Meiryo" pitchFamily="34" charset="-122"/>
                            <a:cs typeface="Meiryo" pitchFamily="34" charset="-120"/>
                          </a:rPr>
                          <m:t>2</m:t>
                        </m:r>
                      </m:sub>
                    </m:sSub>
                    <m:d>
                      <m:dPr>
                        <m:begChr m:val="["/>
                        <m:endChr m:val="]"/>
                        <m:ctrlPr>
                          <a:rPr lang="en-US" sz="1600" i="1" dirty="0" smtClean="0">
                            <a:solidFill>
                              <a:srgbClr val="0B1220"/>
                            </a:solidFill>
                            <a:latin typeface="Cambria Math" panose="02040503050406030204" pitchFamily="18" charset="0"/>
                            <a:ea typeface="Meiryo" pitchFamily="34" charset="-122"/>
                            <a:cs typeface="Meiryo" pitchFamily="34" charset="-120"/>
                          </a:rPr>
                        </m:ctrlPr>
                      </m:dPr>
                      <m:e>
                        <m:r>
                          <a:rPr lang="en-US" sz="1600" i="1" dirty="0">
                            <a:solidFill>
                              <a:srgbClr val="0B1220"/>
                            </a:solidFill>
                            <a:latin typeface="Cambria Math" panose="02040503050406030204" pitchFamily="18" charset="0"/>
                            <a:ea typeface="Meiryo" pitchFamily="34" charset="-122"/>
                            <a:cs typeface="Meiryo" pitchFamily="34" charset="-120"/>
                          </a:rPr>
                          <m:t>𝑏</m:t>
                        </m:r>
                      </m:e>
                    </m:d>
                  </m:oMath>
                </a14:m>
                <a:endParaRPr lang="en-US" sz="1600" dirty="0">
                  <a:solidFill>
                    <a:srgbClr val="0B1220"/>
                  </a:solidFill>
                  <a:latin typeface="Meiryo" pitchFamily="34" charset="0"/>
                  <a:ea typeface="Meiryo" pitchFamily="34" charset="-122"/>
                  <a:cs typeface="Meiryo" pitchFamily="34" charset="-120"/>
                </a:endParaRPr>
              </a:p>
              <a:p>
                <a:pPr marL="228600" indent="-228600">
                  <a:lnSpc>
                    <a:spcPct val="115000"/>
                  </a:lnSpc>
                  <a:buSzPct val="100000"/>
                  <a:buChar char="•"/>
                </a:pPr>
                <a:r>
                  <a:rPr lang="en-US" sz="1600" dirty="0" err="1">
                    <a:solidFill>
                      <a:srgbClr val="0B1220"/>
                    </a:solidFill>
                    <a:latin typeface="Meiryo" pitchFamily="34" charset="0"/>
                    <a:ea typeface="Meiryo" pitchFamily="34" charset="-122"/>
                    <a:cs typeface="Meiryo" pitchFamily="34" charset="-120"/>
                  </a:rPr>
                  <a:t>充電電力・放電電力、SOC</a:t>
                </a:r>
                <a:r>
                  <a:rPr lang="en-US" sz="1600" dirty="0">
                    <a:solidFill>
                      <a:srgbClr val="0B1220"/>
                    </a:solidFill>
                    <a:latin typeface="Meiryo" pitchFamily="34" charset="0"/>
                    <a:ea typeface="Meiryo" pitchFamily="34" charset="-122"/>
                    <a:cs typeface="Meiryo" pitchFamily="34" charset="-120"/>
                  </a:rPr>
                  <a:t>（</a:t>
                </a:r>
                <a:r>
                  <a:rPr lang="ja-JP" altLang="en-US" sz="1600" dirty="0">
                    <a:solidFill>
                      <a:srgbClr val="0B1220"/>
                    </a:solidFill>
                    <a:latin typeface="Meiryo" pitchFamily="34" charset="0"/>
                    <a:ea typeface="Meiryo" pitchFamily="34" charset="-122"/>
                    <a:cs typeface="Meiryo" pitchFamily="34" charset="-120"/>
                  </a:rPr>
                  <a:t>充電</a:t>
                </a:r>
                <a:r>
                  <a:rPr lang="en-US" sz="1600" dirty="0">
                    <a:solidFill>
                      <a:srgbClr val="0B1220"/>
                    </a:solidFill>
                    <a:latin typeface="Meiryo" pitchFamily="34" charset="0"/>
                    <a:ea typeface="Meiryo" pitchFamily="34" charset="-122"/>
                    <a:cs typeface="Meiryo" pitchFamily="34" charset="-120"/>
                  </a:rPr>
                  <a:t>量）</a:t>
                </a:r>
                <a:endParaRPr lang="en-US" sz="1600" dirty="0"/>
              </a:p>
              <a:p>
                <a:pPr marL="228600" indent="-228600">
                  <a:lnSpc>
                    <a:spcPct val="115000"/>
                  </a:lnSpc>
                  <a:buSzPct val="100000"/>
                  <a:buChar char="•"/>
                </a:pPr>
                <a:r>
                  <a:rPr lang="en-US" sz="1600" dirty="0" err="1">
                    <a:solidFill>
                      <a:srgbClr val="0B1220"/>
                    </a:solidFill>
                    <a:latin typeface="Meiryo" pitchFamily="34" charset="0"/>
                    <a:ea typeface="Meiryo" pitchFamily="34" charset="-122"/>
                    <a:cs typeface="Meiryo" pitchFamily="34" charset="-120"/>
                  </a:rPr>
                  <a:t>容量配分比</a:t>
                </a:r>
                <a:r>
                  <a:rPr lang="en-US" sz="1600" dirty="0">
                    <a:solidFill>
                      <a:srgbClr val="0B1220"/>
                    </a:solidFill>
                    <a:latin typeface="Meiryo" pitchFamily="34" charset="0"/>
                    <a:ea typeface="Meiryo" pitchFamily="34" charset="-122"/>
                    <a:cs typeface="Meiryo" pitchFamily="34" charset="-120"/>
                  </a:rPr>
                  <a:t> </a:t>
                </a:r>
                <a14:m>
                  <m:oMath xmlns:m="http://schemas.openxmlformats.org/officeDocument/2006/math">
                    <m:sSub>
                      <m:sSubPr>
                        <m:ctrlPr>
                          <a:rPr lang="en-US" sz="1600" i="1" dirty="0" smtClean="0">
                            <a:solidFill>
                              <a:srgbClr val="0B1220"/>
                            </a:solidFill>
                            <a:latin typeface="Cambria Math" panose="02040503050406030204" pitchFamily="18" charset="0"/>
                            <a:ea typeface="Meiryo" pitchFamily="34" charset="-122"/>
                            <a:cs typeface="Meiryo" pitchFamily="34" charset="-120"/>
                          </a:rPr>
                        </m:ctrlPr>
                      </m:sSubPr>
                      <m:e>
                        <m:r>
                          <a:rPr lang="en-US" sz="1600" i="1" dirty="0" smtClean="0">
                            <a:solidFill>
                              <a:srgbClr val="0B1220"/>
                            </a:solidFill>
                            <a:latin typeface="Cambria Math" panose="02040503050406030204" pitchFamily="18" charset="0"/>
                            <a:ea typeface="Meiryo" pitchFamily="34" charset="-122"/>
                            <a:cs typeface="Meiryo" pitchFamily="34" charset="-120"/>
                          </a:rPr>
                          <m:t>𝑘</m:t>
                        </m:r>
                      </m:e>
                      <m:sub>
                        <m:r>
                          <a:rPr lang="en-US" sz="1600" i="1" dirty="0" smtClean="0">
                            <a:solidFill>
                              <a:srgbClr val="0B1220"/>
                            </a:solidFill>
                            <a:latin typeface="Cambria Math" panose="02040503050406030204" pitchFamily="18" charset="0"/>
                            <a:ea typeface="Meiryo" pitchFamily="34" charset="-122"/>
                            <a:cs typeface="Meiryo" pitchFamily="34" charset="-120"/>
                          </a:rPr>
                          <m:t>0</m:t>
                        </m:r>
                      </m:sub>
                    </m:sSub>
                    <m:d>
                      <m:dPr>
                        <m:begChr m:val="["/>
                        <m:endChr m:val="]"/>
                        <m:ctrlPr>
                          <a:rPr lang="en-US" sz="1600" i="1" dirty="0">
                            <a:solidFill>
                              <a:srgbClr val="0B1220"/>
                            </a:solidFill>
                            <a:latin typeface="Cambria Math" panose="02040503050406030204" pitchFamily="18" charset="0"/>
                            <a:ea typeface="Meiryo" pitchFamily="34" charset="-122"/>
                            <a:cs typeface="Meiryo" pitchFamily="34" charset="-120"/>
                          </a:rPr>
                        </m:ctrlPr>
                      </m:dPr>
                      <m:e>
                        <m:r>
                          <a:rPr lang="en-US" sz="1600" i="1" dirty="0">
                            <a:solidFill>
                              <a:srgbClr val="0B1220"/>
                            </a:solidFill>
                            <a:latin typeface="Cambria Math" panose="02040503050406030204" pitchFamily="18" charset="0"/>
                            <a:ea typeface="Meiryo" pitchFamily="34" charset="-122"/>
                            <a:cs typeface="Meiryo" pitchFamily="34" charset="-120"/>
                          </a:rPr>
                          <m:t>𝑡</m:t>
                        </m:r>
                      </m:e>
                    </m:d>
                    <m:r>
                      <a:rPr lang="en-US" sz="1600" i="1" dirty="0">
                        <a:solidFill>
                          <a:srgbClr val="0B1220"/>
                        </a:solidFill>
                        <a:latin typeface="Cambria Math" panose="02040503050406030204" pitchFamily="18" charset="0"/>
                        <a:ea typeface="Meiryo" pitchFamily="34" charset="-122"/>
                        <a:cs typeface="Meiryo" pitchFamily="34" charset="-120"/>
                      </a:rPr>
                      <m:t>,</m:t>
                    </m:r>
                    <m:sSub>
                      <m:sSubPr>
                        <m:ctrlPr>
                          <a:rPr lang="en-US" sz="1600" i="1" dirty="0" smtClean="0">
                            <a:solidFill>
                              <a:srgbClr val="0B1220"/>
                            </a:solidFill>
                            <a:latin typeface="Cambria Math" panose="02040503050406030204" pitchFamily="18" charset="0"/>
                            <a:ea typeface="Meiryo" pitchFamily="34" charset="-122"/>
                            <a:cs typeface="Meiryo" pitchFamily="34" charset="-120"/>
                          </a:rPr>
                        </m:ctrlPr>
                      </m:sSubPr>
                      <m:e>
                        <m:r>
                          <a:rPr lang="en-US" sz="1600" i="1" dirty="0" smtClean="0">
                            <a:solidFill>
                              <a:srgbClr val="0B1220"/>
                            </a:solidFill>
                            <a:latin typeface="Cambria Math" panose="02040503050406030204" pitchFamily="18" charset="0"/>
                            <a:ea typeface="Meiryo" pitchFamily="34" charset="-122"/>
                            <a:cs typeface="Meiryo" pitchFamily="34" charset="-120"/>
                          </a:rPr>
                          <m:t>𝑘</m:t>
                        </m:r>
                      </m:e>
                      <m:sub>
                        <m:r>
                          <a:rPr lang="en-US" sz="1600" i="1" dirty="0" smtClean="0">
                            <a:solidFill>
                              <a:srgbClr val="0B1220"/>
                            </a:solidFill>
                            <a:latin typeface="Cambria Math" panose="02040503050406030204" pitchFamily="18" charset="0"/>
                            <a:ea typeface="Meiryo" pitchFamily="34" charset="-122"/>
                            <a:cs typeface="Meiryo" pitchFamily="34" charset="-120"/>
                          </a:rPr>
                          <m:t>1</m:t>
                        </m:r>
                      </m:sub>
                    </m:sSub>
                    <m:d>
                      <m:dPr>
                        <m:begChr m:val="["/>
                        <m:endChr m:val="]"/>
                        <m:ctrlPr>
                          <a:rPr lang="en-US" sz="1600" i="1" dirty="0">
                            <a:solidFill>
                              <a:srgbClr val="0B1220"/>
                            </a:solidFill>
                            <a:latin typeface="Cambria Math" panose="02040503050406030204" pitchFamily="18" charset="0"/>
                            <a:ea typeface="Meiryo" pitchFamily="34" charset="-122"/>
                            <a:cs typeface="Meiryo" pitchFamily="34" charset="-120"/>
                          </a:rPr>
                        </m:ctrlPr>
                      </m:dPr>
                      <m:e>
                        <m:r>
                          <a:rPr lang="en-US" sz="1600" i="1" dirty="0">
                            <a:solidFill>
                              <a:srgbClr val="0B1220"/>
                            </a:solidFill>
                            <a:latin typeface="Cambria Math" panose="02040503050406030204" pitchFamily="18" charset="0"/>
                            <a:ea typeface="Meiryo" pitchFamily="34" charset="-122"/>
                            <a:cs typeface="Meiryo" pitchFamily="34" charset="-120"/>
                          </a:rPr>
                          <m:t>𝑡</m:t>
                        </m:r>
                      </m:e>
                    </m:d>
                    <m:r>
                      <a:rPr lang="en-US" sz="1600" i="1" dirty="0">
                        <a:solidFill>
                          <a:srgbClr val="0B1220"/>
                        </a:solidFill>
                        <a:latin typeface="Cambria Math" panose="02040503050406030204" pitchFamily="18" charset="0"/>
                        <a:ea typeface="Meiryo" pitchFamily="34" charset="-122"/>
                        <a:cs typeface="Meiryo" pitchFamily="34" charset="-120"/>
                      </a:rPr>
                      <m:t>,</m:t>
                    </m:r>
                    <m:sSub>
                      <m:sSubPr>
                        <m:ctrlPr>
                          <a:rPr lang="en-US" sz="1600" i="1" dirty="0" smtClean="0">
                            <a:solidFill>
                              <a:srgbClr val="0B1220"/>
                            </a:solidFill>
                            <a:latin typeface="Cambria Math" panose="02040503050406030204" pitchFamily="18" charset="0"/>
                            <a:ea typeface="Meiryo" pitchFamily="34" charset="-122"/>
                            <a:cs typeface="Meiryo" pitchFamily="34" charset="-120"/>
                          </a:rPr>
                        </m:ctrlPr>
                      </m:sSubPr>
                      <m:e>
                        <m:r>
                          <a:rPr lang="en-US" sz="1600" i="1" dirty="0" smtClean="0">
                            <a:solidFill>
                              <a:srgbClr val="0B1220"/>
                            </a:solidFill>
                            <a:latin typeface="Cambria Math" panose="02040503050406030204" pitchFamily="18" charset="0"/>
                            <a:ea typeface="Meiryo" pitchFamily="34" charset="-122"/>
                            <a:cs typeface="Meiryo" pitchFamily="34" charset="-120"/>
                          </a:rPr>
                          <m:t>𝑘</m:t>
                        </m:r>
                      </m:e>
                      <m:sub>
                        <m:r>
                          <a:rPr lang="en-US" sz="1600" i="1" dirty="0" smtClean="0">
                            <a:solidFill>
                              <a:srgbClr val="0B1220"/>
                            </a:solidFill>
                            <a:latin typeface="Cambria Math" panose="02040503050406030204" pitchFamily="18" charset="0"/>
                            <a:ea typeface="Meiryo" pitchFamily="34" charset="-122"/>
                            <a:cs typeface="Meiryo" pitchFamily="34" charset="-120"/>
                          </a:rPr>
                          <m:t>2</m:t>
                        </m:r>
                      </m:sub>
                    </m:sSub>
                    <m:d>
                      <m:dPr>
                        <m:begChr m:val="["/>
                        <m:endChr m:val="]"/>
                        <m:ctrlPr>
                          <a:rPr lang="en-US" sz="1600" i="1" dirty="0">
                            <a:solidFill>
                              <a:srgbClr val="0B1220"/>
                            </a:solidFill>
                            <a:latin typeface="Cambria Math" panose="02040503050406030204" pitchFamily="18" charset="0"/>
                            <a:ea typeface="Meiryo" pitchFamily="34" charset="-122"/>
                            <a:cs typeface="Meiryo" pitchFamily="34" charset="-120"/>
                          </a:rPr>
                        </m:ctrlPr>
                      </m:dPr>
                      <m:e>
                        <m:r>
                          <a:rPr lang="en-US" sz="1600" i="1" dirty="0">
                            <a:solidFill>
                              <a:srgbClr val="0B1220"/>
                            </a:solidFill>
                            <a:latin typeface="Cambria Math" panose="02040503050406030204" pitchFamily="18" charset="0"/>
                            <a:ea typeface="Meiryo" pitchFamily="34" charset="-122"/>
                            <a:cs typeface="Meiryo" pitchFamily="34" charset="-120"/>
                          </a:rPr>
                          <m:t>𝑡</m:t>
                        </m:r>
                      </m:e>
                    </m:d>
                    <m:d>
                      <m:dPr>
                        <m:begChr m:val="（"/>
                        <m:endChr m:val="）"/>
                        <m:ctrlPr>
                          <a:rPr lang="en-US" sz="1600" i="1" dirty="0">
                            <a:solidFill>
                              <a:srgbClr val="0B1220"/>
                            </a:solidFill>
                            <a:latin typeface="Cambria Math" panose="02040503050406030204" pitchFamily="18" charset="0"/>
                            <a:ea typeface="Meiryo" pitchFamily="34" charset="-122"/>
                            <a:cs typeface="Meiryo" pitchFamily="34" charset="-120"/>
                          </a:rPr>
                        </m:ctrlPr>
                      </m:dPr>
                      <m:e>
                        <m:r>
                          <a:rPr lang="en-US" sz="1600" i="1" dirty="0">
                            <a:solidFill>
                              <a:srgbClr val="0B1220"/>
                            </a:solidFill>
                            <a:latin typeface="Cambria Math" panose="02040503050406030204" pitchFamily="18" charset="0"/>
                            <a:ea typeface="Meiryo" pitchFamily="34" charset="-122"/>
                            <a:cs typeface="Meiryo" pitchFamily="34" charset="-120"/>
                          </a:rPr>
                          <m:t>合計</m:t>
                        </m:r>
                        <m:r>
                          <a:rPr lang="en-US" sz="1600" i="1" dirty="0">
                            <a:solidFill>
                              <a:srgbClr val="0B1220"/>
                            </a:solidFill>
                            <a:latin typeface="Cambria Math" panose="02040503050406030204" pitchFamily="18" charset="0"/>
                            <a:ea typeface="Meiryo" pitchFamily="34" charset="-122"/>
                            <a:cs typeface="Meiryo" pitchFamily="34" charset="-120"/>
                          </a:rPr>
                          <m:t>=1</m:t>
                        </m:r>
                      </m:e>
                    </m:d>
                  </m:oMath>
                </a14:m>
                <a:endParaRPr lang="en-US" sz="1600" dirty="0"/>
              </a:p>
            </p:txBody>
          </p:sp>
        </mc:Choice>
        <mc:Fallback xmlns="">
          <p:sp>
            <p:nvSpPr>
              <p:cNvPr id="19" name="Text 17"/>
              <p:cNvSpPr>
                <a:spLocks noRot="1" noChangeAspect="1" noMove="1" noResize="1" noEditPoints="1" noAdjustHandles="1" noChangeArrowheads="1" noChangeShapeType="1" noTextEdit="1"/>
              </p:cNvSpPr>
              <p:nvPr/>
            </p:nvSpPr>
            <p:spPr>
              <a:xfrm>
                <a:off x="5623560" y="2240280"/>
                <a:ext cx="5836615" cy="2560320"/>
              </a:xfrm>
              <a:prstGeom prst="rect">
                <a:avLst/>
              </a:prstGeom>
              <a:blipFill>
                <a:blip r:embed="rId3"/>
                <a:stretch>
                  <a:fillRect l="-1149" t="-952"/>
                </a:stretch>
              </a:blipFill>
              <a:ln/>
            </p:spPr>
            <p:txBody>
              <a:bodyPr/>
              <a:lstStyle/>
              <a:p>
                <a:r>
                  <a:rPr lang="ja-JP" altLang="en-US">
                    <a:noFill/>
                  </a:rPr>
                  <a:t> </a:t>
                </a:r>
              </a:p>
            </p:txBody>
          </p:sp>
        </mc:Fallback>
      </mc:AlternateContent>
      <p:sp>
        <p:nvSpPr>
          <p:cNvPr id="20" name="Shape 18"/>
          <p:cNvSpPr/>
          <p:nvPr/>
        </p:nvSpPr>
        <p:spPr>
          <a:xfrm>
            <a:off x="5349240" y="5486400"/>
            <a:ext cx="6293815" cy="1051560"/>
          </a:xfrm>
          <a:prstGeom prst="rect">
            <a:avLst/>
          </a:prstGeom>
          <a:solidFill>
            <a:srgbClr val="FEE2E2"/>
          </a:solidFill>
          <a:ln w="12700">
            <a:solidFill>
              <a:srgbClr val="FCA5A5"/>
            </a:solidFill>
            <a:prstDash val="solid"/>
          </a:ln>
        </p:spPr>
        <p:txBody>
          <a:bodyPr/>
          <a:lstStyle/>
          <a:p>
            <a:endParaRPr lang="ja-JP" altLang="en-US"/>
          </a:p>
        </p:txBody>
      </p:sp>
      <p:sp>
        <p:nvSpPr>
          <p:cNvPr id="21" name="Text 19"/>
          <p:cNvSpPr/>
          <p:nvPr/>
        </p:nvSpPr>
        <p:spPr>
          <a:xfrm>
            <a:off x="5623560" y="5715000"/>
            <a:ext cx="5836615" cy="685800"/>
          </a:xfrm>
          <a:prstGeom prst="rect">
            <a:avLst/>
          </a:prstGeom>
          <a:noFill/>
          <a:ln/>
        </p:spPr>
        <p:txBody>
          <a:bodyPr wrap="square" rtlCol="0" anchor="ctr"/>
          <a:lstStyle/>
          <a:p>
            <a:pPr marL="0" indent="0">
              <a:buNone/>
            </a:pPr>
            <a:r>
              <a:rPr lang="en-US" sz="1400" b="1" dirty="0" err="1">
                <a:solidFill>
                  <a:srgbClr val="0B1220"/>
                </a:solidFill>
                <a:latin typeface="Meiryo" pitchFamily="34" charset="0"/>
                <a:ea typeface="Meiryo" pitchFamily="34" charset="-122"/>
                <a:cs typeface="Meiryo" pitchFamily="34" charset="-120"/>
              </a:rPr>
              <a:t>狙い</a:t>
            </a:r>
            <a:r>
              <a:rPr lang="en-US" sz="1400" b="1" dirty="0">
                <a:solidFill>
                  <a:srgbClr val="0B1220"/>
                </a:solidFill>
                <a:latin typeface="Meiryo" pitchFamily="34" charset="0"/>
                <a:ea typeface="Meiryo" pitchFamily="34" charset="-122"/>
                <a:cs typeface="Meiryo" pitchFamily="34" charset="-120"/>
              </a:rPr>
              <a:t>：</a:t>
            </a:r>
            <a:r>
              <a:rPr lang="ja-JP" altLang="en-US" sz="1400" b="1" dirty="0">
                <a:solidFill>
                  <a:srgbClr val="0B1220"/>
                </a:solidFill>
                <a:latin typeface="Meiryo" pitchFamily="34" charset="0"/>
                <a:ea typeface="Meiryo" pitchFamily="34" charset="-122"/>
                <a:cs typeface="Meiryo" pitchFamily="34" charset="-120"/>
              </a:rPr>
              <a:t>裁定・調整収益と劣化コストを考慮した総利益最大化</a:t>
            </a:r>
            <a:endParaRPr lang="en-US" sz="1400" dirty="0"/>
          </a:p>
        </p:txBody>
      </p:sp>
      <p:sp>
        <p:nvSpPr>
          <p:cNvPr id="22" name="テキスト ボックス 21">
            <a:extLst>
              <a:ext uri="{FF2B5EF4-FFF2-40B4-BE49-F238E27FC236}">
                <a16:creationId xmlns:a16="http://schemas.microsoft.com/office/drawing/2014/main" id="{5A4D4EE5-7A3E-C395-359F-8D796064EF0E}"/>
              </a:ext>
            </a:extLst>
          </p:cNvPr>
          <p:cNvSpPr txBox="1"/>
          <p:nvPr/>
        </p:nvSpPr>
        <p:spPr>
          <a:xfrm>
            <a:off x="11761076" y="6400800"/>
            <a:ext cx="320565" cy="369332"/>
          </a:xfrm>
          <a:prstGeom prst="rect">
            <a:avLst/>
          </a:prstGeom>
          <a:noFill/>
        </p:spPr>
        <p:txBody>
          <a:bodyPr wrap="square" rtlCol="0">
            <a:spAutoFit/>
          </a:bodyPr>
          <a:lstStyle/>
          <a:p>
            <a:r>
              <a:rPr kumimoji="1" lang="en-US" altLang="ja-JP" dirty="0"/>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457200"/>
          </a:xfrm>
          <a:prstGeom prst="rect">
            <a:avLst/>
          </a:prstGeom>
          <a:noFill/>
          <a:ln/>
        </p:spPr>
        <p:txBody>
          <a:bodyPr wrap="square" rtlCol="0" anchor="ctr"/>
          <a:lstStyle/>
          <a:p>
            <a:pPr marL="0" indent="0">
              <a:buNone/>
            </a:pPr>
            <a:r>
              <a:rPr lang="en-US" sz="2800" b="1" dirty="0" err="1">
                <a:solidFill>
                  <a:srgbClr val="0B1220"/>
                </a:solidFill>
                <a:latin typeface="Meiryo" pitchFamily="34" charset="0"/>
                <a:ea typeface="Meiryo" pitchFamily="34" charset="-122"/>
                <a:cs typeface="Meiryo" pitchFamily="34" charset="-120"/>
              </a:rPr>
              <a:t>定式化：目的関数</a:t>
            </a:r>
            <a:r>
              <a:rPr lang="en-US" sz="2800" b="1" dirty="0">
                <a:solidFill>
                  <a:srgbClr val="0B1220"/>
                </a:solidFill>
                <a:latin typeface="Meiryo" pitchFamily="34" charset="0"/>
                <a:ea typeface="Meiryo" pitchFamily="34" charset="-122"/>
                <a:cs typeface="Meiryo" pitchFamily="34" charset="-120"/>
              </a:rPr>
              <a:t>（</a:t>
            </a:r>
            <a:r>
              <a:rPr lang="ja-JP" altLang="en-US" sz="2800" b="1" dirty="0">
                <a:solidFill>
                  <a:srgbClr val="0B1220"/>
                </a:solidFill>
                <a:latin typeface="Meiryo" pitchFamily="34" charset="0"/>
                <a:ea typeface="Meiryo" pitchFamily="34" charset="-122"/>
                <a:cs typeface="Meiryo" pitchFamily="34" charset="-120"/>
              </a:rPr>
              <a:t>最小化問題</a:t>
            </a:r>
            <a:r>
              <a:rPr lang="en-US" sz="2800" b="1" dirty="0">
                <a:solidFill>
                  <a:srgbClr val="0B1220"/>
                </a:solidFill>
                <a:latin typeface="Meiryo" pitchFamily="34" charset="0"/>
                <a:ea typeface="Meiryo" pitchFamily="34" charset="-122"/>
                <a:cs typeface="Meiryo" pitchFamily="34" charset="-120"/>
              </a:rPr>
              <a:t>）</a:t>
            </a:r>
            <a:endParaRPr lang="en-US" sz="2800" dirty="0"/>
          </a:p>
        </p:txBody>
      </p:sp>
      <p:sp>
        <p:nvSpPr>
          <p:cNvPr id="3" name="Text 1"/>
          <p:cNvSpPr/>
          <p:nvPr/>
        </p:nvSpPr>
        <p:spPr>
          <a:xfrm>
            <a:off x="548640" y="786384"/>
            <a:ext cx="11094415" cy="320040"/>
          </a:xfrm>
          <a:prstGeom prst="rect">
            <a:avLst/>
          </a:prstGeom>
          <a:noFill/>
          <a:ln/>
        </p:spPr>
        <p:txBody>
          <a:bodyPr wrap="square" rtlCol="0" anchor="ctr"/>
          <a:lstStyle/>
          <a:p>
            <a:pPr marL="0" indent="0">
              <a:buNone/>
            </a:pPr>
            <a:r>
              <a:rPr lang="en-US" sz="1400" dirty="0">
                <a:solidFill>
                  <a:srgbClr val="334155"/>
                </a:solidFill>
                <a:latin typeface="Meiryo" pitchFamily="34" charset="0"/>
                <a:ea typeface="Meiryo" pitchFamily="34" charset="-122"/>
                <a:cs typeface="Meiryo" pitchFamily="34" charset="-120"/>
              </a:rPr>
              <a:t>市場損益 − 調整市場収益 ＋ 劣化コスト</a:t>
            </a:r>
            <a:endParaRPr lang="en-US" sz="1400" dirty="0"/>
          </a:p>
        </p:txBody>
      </p:sp>
      <p:sp>
        <p:nvSpPr>
          <p:cNvPr id="4" name="Shape 2"/>
          <p:cNvSpPr/>
          <p:nvPr/>
        </p:nvSpPr>
        <p:spPr>
          <a:xfrm>
            <a:off x="548640" y="1115568"/>
            <a:ext cx="11094415" cy="0"/>
          </a:xfrm>
          <a:prstGeom prst="line">
            <a:avLst/>
          </a:prstGeom>
          <a:noFill/>
          <a:ln w="12700">
            <a:solidFill>
              <a:srgbClr val="E2E8F0"/>
            </a:solidFill>
            <a:prstDash val="solid"/>
          </a:ln>
        </p:spPr>
        <p:txBody>
          <a:bodyPr/>
          <a:lstStyle/>
          <a:p>
            <a:endParaRPr lang="ja-JP" altLang="en-US"/>
          </a:p>
        </p:txBody>
      </p:sp>
      <p:sp>
        <p:nvSpPr>
          <p:cNvPr id="5" name="Shape 3"/>
          <p:cNvSpPr/>
          <p:nvPr/>
        </p:nvSpPr>
        <p:spPr>
          <a:xfrm>
            <a:off x="548640" y="1417320"/>
            <a:ext cx="5989320" cy="2971800"/>
          </a:xfrm>
          <a:prstGeom prst="rect">
            <a:avLst/>
          </a:prstGeom>
          <a:solidFill>
            <a:srgbClr val="F8FAFC"/>
          </a:solidFill>
          <a:ln w="12700">
            <a:solidFill>
              <a:srgbClr val="E2E8F0"/>
            </a:solidFill>
            <a:prstDash val="solid"/>
          </a:ln>
          <a:effectLst>
            <a:outerShdw blurRad="38100" dist="19050" dir="2700000" algn="bl" rotWithShape="0">
              <a:srgbClr val="000000">
                <a:alpha val="12000"/>
              </a:srgbClr>
            </a:outerShdw>
          </a:effectLst>
        </p:spPr>
        <p:txBody>
          <a:bodyPr/>
          <a:lstStyle/>
          <a:p>
            <a:endParaRPr lang="ja-JP" altLang="en-US"/>
          </a:p>
        </p:txBody>
      </p:sp>
      <p:sp>
        <p:nvSpPr>
          <p:cNvPr id="6" name="Text 4"/>
          <p:cNvSpPr/>
          <p:nvPr/>
        </p:nvSpPr>
        <p:spPr>
          <a:xfrm>
            <a:off x="822960" y="1618488"/>
            <a:ext cx="5440680" cy="320040"/>
          </a:xfrm>
          <a:prstGeom prst="rect">
            <a:avLst/>
          </a:prstGeom>
          <a:noFill/>
          <a:ln/>
        </p:spPr>
        <p:txBody>
          <a:bodyPr wrap="square" rtlCol="0" anchor="ctr"/>
          <a:lstStyle/>
          <a:p>
            <a:pPr marL="0" indent="0">
              <a:buNone/>
            </a:pPr>
            <a:r>
              <a:rPr lang="en-US" sz="1400" b="1" dirty="0">
                <a:solidFill>
                  <a:srgbClr val="334155"/>
                </a:solidFill>
                <a:latin typeface="Meiryo" pitchFamily="34" charset="0"/>
                <a:ea typeface="Meiryo" pitchFamily="34" charset="-122"/>
                <a:cs typeface="Meiryo" pitchFamily="34" charset="-120"/>
              </a:rPr>
              <a:t>目的関数の構造（要約）</a:t>
            </a:r>
            <a:endParaRPr lang="en-US" sz="1400" dirty="0"/>
          </a:p>
        </p:txBody>
      </p:sp>
      <mc:AlternateContent xmlns:mc="http://schemas.openxmlformats.org/markup-compatibility/2006" xmlns:a14="http://schemas.microsoft.com/office/drawing/2010/main">
        <mc:Choice Requires="a14">
          <p:sp>
            <p:nvSpPr>
              <p:cNvPr id="7" name="Text 5"/>
              <p:cNvSpPr/>
              <p:nvPr/>
            </p:nvSpPr>
            <p:spPr>
              <a:xfrm>
                <a:off x="868680" y="1984248"/>
                <a:ext cx="5349240" cy="2221992"/>
              </a:xfrm>
              <a:prstGeom prst="rect">
                <a:avLst/>
              </a:prstGeom>
              <a:noFill/>
              <a:ln/>
            </p:spPr>
            <p:txBody>
              <a:bodyPr wrap="square" rtlCol="0" anchor="t"/>
              <a:lstStyle/>
              <a:p>
                <a:pPr marL="228600" indent="-228600">
                  <a:lnSpc>
                    <a:spcPct val="115000"/>
                  </a:lnSpc>
                  <a:buSzPct val="100000"/>
                  <a:buChar char="•"/>
                </a:pPr>
                <a:r>
                  <a:rPr lang="en-US" sz="1600" dirty="0" err="1">
                    <a:solidFill>
                      <a:srgbClr val="0B1220"/>
                    </a:solidFill>
                    <a:latin typeface="Meiryo" pitchFamily="34" charset="0"/>
                    <a:ea typeface="Meiryo" pitchFamily="34" charset="-122"/>
                    <a:cs typeface="Meiryo" pitchFamily="34" charset="-120"/>
                  </a:rPr>
                  <a:t>スポット市場：価格</a:t>
                </a:r>
                <a:r>
                  <a:rPr lang="en-US" sz="1600" dirty="0">
                    <a:solidFill>
                      <a:srgbClr val="0B1220"/>
                    </a:solidFill>
                    <a:latin typeface="Meiryo" pitchFamily="34" charset="0"/>
                    <a:ea typeface="Meiryo" pitchFamily="34" charset="-122"/>
                    <a:cs typeface="Meiryo" pitchFamily="34" charset="-120"/>
                  </a:rPr>
                  <a:t> </a:t>
                </a:r>
                <a14:m>
                  <m:oMath xmlns:m="http://schemas.openxmlformats.org/officeDocument/2006/math">
                    <m:r>
                      <a:rPr lang="en-US" altLang="ja-JP" sz="1600" i="1" dirty="0" smtClean="0">
                        <a:solidFill>
                          <a:srgbClr val="0B1220"/>
                        </a:solidFill>
                        <a:latin typeface="Cambria Math" panose="02040503050406030204" pitchFamily="18" charset="0"/>
                        <a:ea typeface="Meiryo" pitchFamily="34" charset="-122"/>
                        <a:cs typeface="Meiryo" pitchFamily="34" charset="-120"/>
                      </a:rPr>
                      <m:t>𝜆</m:t>
                    </m:r>
                    <m:r>
                      <a:rPr lang="en-US" altLang="ja-JP" sz="1600" i="1" dirty="0" smtClean="0">
                        <a:solidFill>
                          <a:srgbClr val="0B1220"/>
                        </a:solidFill>
                        <a:latin typeface="Cambria Math" panose="02040503050406030204" pitchFamily="18" charset="0"/>
                        <a:ea typeface="Meiryo" pitchFamily="34" charset="-122"/>
                        <a:cs typeface="Meiryo" pitchFamily="34" charset="-120"/>
                      </a:rPr>
                      <m:t>[</m:t>
                    </m:r>
                    <m:r>
                      <a:rPr lang="en-US" altLang="ja-JP" sz="1600" i="1" dirty="0" smtClean="0">
                        <a:solidFill>
                          <a:srgbClr val="0B1220"/>
                        </a:solidFill>
                        <a:latin typeface="Cambria Math" panose="02040503050406030204" pitchFamily="18" charset="0"/>
                        <a:ea typeface="Meiryo" pitchFamily="34" charset="-122"/>
                        <a:cs typeface="Meiryo" pitchFamily="34" charset="-120"/>
                      </a:rPr>
                      <m:t>𝑡</m:t>
                    </m:r>
                    <m:r>
                      <a:rPr lang="en-US" altLang="ja-JP" sz="1600" i="1" dirty="0" smtClean="0">
                        <a:solidFill>
                          <a:srgbClr val="0B1220"/>
                        </a:solidFill>
                        <a:latin typeface="Cambria Math" panose="02040503050406030204" pitchFamily="18" charset="0"/>
                        <a:ea typeface="Meiryo" pitchFamily="34" charset="-122"/>
                        <a:cs typeface="Meiryo" pitchFamily="34" charset="-120"/>
                      </a:rPr>
                      <m:t>]</m:t>
                    </m:r>
                  </m:oMath>
                </a14:m>
                <a:r>
                  <a:rPr lang="en-US" sz="1600" dirty="0">
                    <a:solidFill>
                      <a:srgbClr val="0B1220"/>
                    </a:solidFill>
                    <a:latin typeface="Meiryo" pitchFamily="34" charset="0"/>
                    <a:ea typeface="Meiryo" pitchFamily="34" charset="-122"/>
                    <a:cs typeface="Meiryo" pitchFamily="34" charset="-120"/>
                  </a:rPr>
                  <a:t>と</a:t>
                </a:r>
                <a:r>
                  <a:rPr lang="ja-JP" altLang="en-US" sz="1600" dirty="0">
                    <a:solidFill>
                      <a:srgbClr val="0B1220"/>
                    </a:solidFill>
                    <a:latin typeface="Meiryo" pitchFamily="34" charset="0"/>
                    <a:ea typeface="Meiryo" pitchFamily="34" charset="-122"/>
                    <a:cs typeface="Meiryo" pitchFamily="34" charset="-120"/>
                  </a:rPr>
                  <a:t>売電単価</a:t>
                </a:r>
                <a14:m>
                  <m:oMath xmlns:m="http://schemas.openxmlformats.org/officeDocument/2006/math">
                    <m:sSub>
                      <m:sSubPr>
                        <m:ctrlPr>
                          <a:rPr lang="en-US" sz="1600" i="1" dirty="0" smtClean="0">
                            <a:solidFill>
                              <a:srgbClr val="0B1220"/>
                            </a:solidFill>
                            <a:latin typeface="Cambria Math" panose="02040503050406030204" pitchFamily="18" charset="0"/>
                            <a:ea typeface="Meiryo" pitchFamily="34" charset="-122"/>
                            <a:cs typeface="Meiryo" pitchFamily="34" charset="-120"/>
                          </a:rPr>
                        </m:ctrlPr>
                      </m:sSubPr>
                      <m:e>
                        <m:r>
                          <a:rPr lang="en-US" sz="1600" i="1" dirty="0" smtClean="0">
                            <a:solidFill>
                              <a:srgbClr val="0B1220"/>
                            </a:solidFill>
                            <a:latin typeface="Cambria Math" panose="02040503050406030204" pitchFamily="18" charset="0"/>
                            <a:ea typeface="Meiryo" pitchFamily="34" charset="-122"/>
                            <a:cs typeface="Meiryo" pitchFamily="34" charset="-120"/>
                          </a:rPr>
                          <m:t>𝑃</m:t>
                        </m:r>
                      </m:e>
                      <m:sub>
                        <m:r>
                          <a:rPr lang="en-US" sz="1600" i="1" dirty="0" smtClean="0">
                            <a:solidFill>
                              <a:srgbClr val="0B1220"/>
                            </a:solidFill>
                            <a:latin typeface="Cambria Math" panose="02040503050406030204" pitchFamily="18" charset="0"/>
                            <a:ea typeface="Meiryo" pitchFamily="34" charset="-122"/>
                            <a:cs typeface="Meiryo" pitchFamily="34" charset="-120"/>
                          </a:rPr>
                          <m:t>𝑏𝑢𝑦</m:t>
                        </m:r>
                      </m:sub>
                    </m:sSub>
                    <m:d>
                      <m:dPr>
                        <m:begChr m:val="["/>
                        <m:endChr m:val="]"/>
                        <m:ctrlPr>
                          <a:rPr lang="en-US" sz="1600" i="1" dirty="0" smtClean="0">
                            <a:solidFill>
                              <a:srgbClr val="0B1220"/>
                            </a:solidFill>
                            <a:latin typeface="Cambria Math" panose="02040503050406030204" pitchFamily="18" charset="0"/>
                            <a:ea typeface="Meiryo" pitchFamily="34" charset="-122"/>
                            <a:cs typeface="Meiryo" pitchFamily="34" charset="-120"/>
                          </a:rPr>
                        </m:ctrlPr>
                      </m:dPr>
                      <m:e>
                        <m:r>
                          <a:rPr lang="en-US" sz="1600" i="1" dirty="0" smtClean="0">
                            <a:solidFill>
                              <a:srgbClr val="0B1220"/>
                            </a:solidFill>
                            <a:latin typeface="Cambria Math" panose="02040503050406030204" pitchFamily="18" charset="0"/>
                            <a:ea typeface="Meiryo" pitchFamily="34" charset="-122"/>
                            <a:cs typeface="Meiryo" pitchFamily="34" charset="-120"/>
                          </a:rPr>
                          <m:t>𝑡</m:t>
                        </m:r>
                      </m:e>
                    </m:d>
                    <m:r>
                      <a:rPr lang="en-US" sz="1600" i="1" dirty="0" smtClean="0">
                        <a:solidFill>
                          <a:srgbClr val="0B1220"/>
                        </a:solidFill>
                        <a:latin typeface="Cambria Math" panose="02040503050406030204" pitchFamily="18" charset="0"/>
                        <a:ea typeface="Meiryo" pitchFamily="34" charset="-122"/>
                        <a:cs typeface="Meiryo" pitchFamily="34" charset="-120"/>
                      </a:rPr>
                      <m:t>,</m:t>
                    </m:r>
                    <m:sSub>
                      <m:sSubPr>
                        <m:ctrlPr>
                          <a:rPr lang="en-US" sz="1600" i="1" dirty="0" smtClean="0">
                            <a:solidFill>
                              <a:srgbClr val="0B1220"/>
                            </a:solidFill>
                            <a:latin typeface="Cambria Math" panose="02040503050406030204" pitchFamily="18" charset="0"/>
                            <a:ea typeface="Meiryo" pitchFamily="34" charset="-122"/>
                            <a:cs typeface="Meiryo" pitchFamily="34" charset="-120"/>
                          </a:rPr>
                        </m:ctrlPr>
                      </m:sSubPr>
                      <m:e>
                        <m:r>
                          <a:rPr lang="ja-JP" altLang="en-US" sz="1600" i="1" dirty="0">
                            <a:solidFill>
                              <a:srgbClr val="0B1220"/>
                            </a:solidFill>
                            <a:latin typeface="Cambria Math" panose="02040503050406030204" pitchFamily="18" charset="0"/>
                            <a:ea typeface="Meiryo" pitchFamily="34" charset="-122"/>
                            <a:cs typeface="Meiryo" pitchFamily="34" charset="-120"/>
                          </a:rPr>
                          <m:t>売電単価</m:t>
                        </m:r>
                        <m:r>
                          <a:rPr lang="en-US" sz="1600" i="1" dirty="0" smtClean="0">
                            <a:solidFill>
                              <a:srgbClr val="0B1220"/>
                            </a:solidFill>
                            <a:latin typeface="Cambria Math" panose="02040503050406030204" pitchFamily="18" charset="0"/>
                            <a:ea typeface="Meiryo" pitchFamily="34" charset="-122"/>
                            <a:cs typeface="Meiryo" pitchFamily="34" charset="-120"/>
                          </a:rPr>
                          <m:t>𝑃</m:t>
                        </m:r>
                      </m:e>
                      <m:sub>
                        <m:r>
                          <a:rPr lang="en-US" sz="1600" i="1" dirty="0" smtClean="0">
                            <a:solidFill>
                              <a:srgbClr val="0B1220"/>
                            </a:solidFill>
                            <a:latin typeface="Cambria Math" panose="02040503050406030204" pitchFamily="18" charset="0"/>
                            <a:ea typeface="Meiryo" pitchFamily="34" charset="-122"/>
                            <a:cs typeface="Meiryo" pitchFamily="34" charset="-120"/>
                          </a:rPr>
                          <m:t>𝑠𝑒𝑙</m:t>
                        </m:r>
                      </m:sub>
                    </m:sSub>
                    <m:d>
                      <m:dPr>
                        <m:begChr m:val="["/>
                        <m:endChr m:val="]"/>
                        <m:ctrlPr>
                          <a:rPr lang="en-US" sz="1600" i="1" dirty="0" smtClean="0">
                            <a:solidFill>
                              <a:srgbClr val="0B1220"/>
                            </a:solidFill>
                            <a:latin typeface="Cambria Math" panose="02040503050406030204" pitchFamily="18" charset="0"/>
                            <a:ea typeface="Meiryo" pitchFamily="34" charset="-122"/>
                            <a:cs typeface="Meiryo" pitchFamily="34" charset="-120"/>
                          </a:rPr>
                        </m:ctrlPr>
                      </m:dPr>
                      <m:e>
                        <m:r>
                          <a:rPr lang="en-US" sz="1600" i="1" dirty="0" smtClean="0">
                            <a:solidFill>
                              <a:srgbClr val="0B1220"/>
                            </a:solidFill>
                            <a:latin typeface="Cambria Math" panose="02040503050406030204" pitchFamily="18" charset="0"/>
                            <a:ea typeface="Meiryo" pitchFamily="34" charset="-122"/>
                            <a:cs typeface="Meiryo" pitchFamily="34" charset="-120"/>
                          </a:rPr>
                          <m:t>𝑡</m:t>
                        </m:r>
                      </m:e>
                    </m:d>
                  </m:oMath>
                </a14:m>
                <a:r>
                  <a:rPr lang="en-US" sz="1600" dirty="0">
                    <a:solidFill>
                      <a:srgbClr val="0B1220"/>
                    </a:solidFill>
                    <a:latin typeface="Meiryo" pitchFamily="34" charset="0"/>
                    <a:ea typeface="Meiryo" pitchFamily="34" charset="-122"/>
                    <a:cs typeface="Meiryo" pitchFamily="34" charset="-120"/>
                  </a:rPr>
                  <a:t>から取引コストを算定</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一次/</a:t>
                </a:r>
                <a:r>
                  <a:rPr lang="en-US" sz="1600" dirty="0" err="1">
                    <a:solidFill>
                      <a:srgbClr val="0B1220"/>
                    </a:solidFill>
                    <a:latin typeface="Meiryo" pitchFamily="34" charset="0"/>
                    <a:ea typeface="Meiryo" pitchFamily="34" charset="-122"/>
                    <a:cs typeface="Meiryo" pitchFamily="34" charset="-120"/>
                  </a:rPr>
                  <a:t>二次調整</a:t>
                </a:r>
                <a:r>
                  <a:rPr lang="ja-JP" altLang="en-US" sz="1600" dirty="0">
                    <a:solidFill>
                      <a:srgbClr val="0B1220"/>
                    </a:solidFill>
                    <a:latin typeface="Meiryo" pitchFamily="34" charset="0"/>
                    <a:ea typeface="Meiryo" pitchFamily="34" charset="-122"/>
                    <a:cs typeface="Meiryo" pitchFamily="34" charset="-120"/>
                  </a:rPr>
                  <a:t>市場</a:t>
                </a:r>
                <a:r>
                  <a:rPr lang="en-US" sz="1600" dirty="0">
                    <a:solidFill>
                      <a:srgbClr val="0B1220"/>
                    </a:solidFill>
                    <a:latin typeface="Meiryo" pitchFamily="34" charset="0"/>
                    <a:ea typeface="Meiryo" pitchFamily="34" charset="-122"/>
                    <a:cs typeface="Meiryo" pitchFamily="34" charset="-120"/>
                  </a:rPr>
                  <a:t>：ブロック価格 </a:t>
                </a:r>
                <a14:m>
                  <m:oMath xmlns:m="http://schemas.openxmlformats.org/officeDocument/2006/math">
                    <m:sSub>
                      <m:sSubPr>
                        <m:ctrlPr>
                          <a:rPr lang="en-US" sz="1600" i="1" dirty="0" smtClean="0">
                            <a:solidFill>
                              <a:srgbClr val="0B1220"/>
                            </a:solidFill>
                            <a:latin typeface="Cambria Math" panose="02040503050406030204" pitchFamily="18" charset="0"/>
                            <a:ea typeface="Meiryo" pitchFamily="34" charset="-122"/>
                            <a:cs typeface="Meiryo" pitchFamily="34" charset="-120"/>
                          </a:rPr>
                        </m:ctrlPr>
                      </m:sSubPr>
                      <m:e>
                        <m:r>
                          <a:rPr lang="en-US" sz="1600" i="1" dirty="0" smtClean="0">
                            <a:solidFill>
                              <a:srgbClr val="0B1220"/>
                            </a:solidFill>
                            <a:latin typeface="Cambria Math" panose="02040503050406030204" pitchFamily="18" charset="0"/>
                            <a:ea typeface="Meiryo" pitchFamily="34" charset="-122"/>
                            <a:cs typeface="Meiryo" pitchFamily="34" charset="-120"/>
                          </a:rPr>
                          <m:t>𝑅</m:t>
                        </m:r>
                      </m:e>
                      <m:sub>
                        <m:r>
                          <a:rPr lang="en-US" sz="1600" i="1" dirty="0" smtClean="0">
                            <a:solidFill>
                              <a:srgbClr val="0B1220"/>
                            </a:solidFill>
                            <a:latin typeface="Cambria Math" panose="02040503050406030204" pitchFamily="18" charset="0"/>
                            <a:ea typeface="Meiryo" pitchFamily="34" charset="-122"/>
                            <a:cs typeface="Meiryo" pitchFamily="34" charset="-120"/>
                          </a:rPr>
                          <m:t>𝑟</m:t>
                        </m:r>
                        <m:r>
                          <a:rPr lang="en-US" sz="1600" i="1" dirty="0" smtClean="0">
                            <a:solidFill>
                              <a:srgbClr val="0B1220"/>
                            </a:solidFill>
                            <a:latin typeface="Cambria Math" panose="02040503050406030204" pitchFamily="18" charset="0"/>
                            <a:ea typeface="Meiryo" pitchFamily="34" charset="-122"/>
                            <a:cs typeface="Meiryo" pitchFamily="34" charset="-120"/>
                          </a:rPr>
                          <m:t>1</m:t>
                        </m:r>
                      </m:sub>
                    </m:sSub>
                    <m:d>
                      <m:dPr>
                        <m:begChr m:val="["/>
                        <m:endChr m:val="]"/>
                        <m:ctrlPr>
                          <a:rPr lang="en-US" sz="1600" i="1" dirty="0" smtClean="0">
                            <a:solidFill>
                              <a:srgbClr val="0B1220"/>
                            </a:solidFill>
                            <a:latin typeface="Cambria Math" panose="02040503050406030204" pitchFamily="18" charset="0"/>
                            <a:ea typeface="Meiryo" pitchFamily="34" charset="-122"/>
                            <a:cs typeface="Meiryo" pitchFamily="34" charset="-120"/>
                          </a:rPr>
                        </m:ctrlPr>
                      </m:dPr>
                      <m:e>
                        <m:r>
                          <a:rPr lang="en-US" sz="1600" i="1" dirty="0" smtClean="0">
                            <a:solidFill>
                              <a:srgbClr val="0B1220"/>
                            </a:solidFill>
                            <a:latin typeface="Cambria Math" panose="02040503050406030204" pitchFamily="18" charset="0"/>
                            <a:ea typeface="Meiryo" pitchFamily="34" charset="-122"/>
                            <a:cs typeface="Meiryo" pitchFamily="34" charset="-120"/>
                          </a:rPr>
                          <m:t>𝑏</m:t>
                        </m:r>
                      </m:e>
                    </m:d>
                    <m:r>
                      <a:rPr lang="en-US" sz="1600" i="1" dirty="0" smtClean="0">
                        <a:solidFill>
                          <a:srgbClr val="0B1220"/>
                        </a:solidFill>
                        <a:latin typeface="Cambria Math" panose="02040503050406030204" pitchFamily="18" charset="0"/>
                        <a:ea typeface="Meiryo" pitchFamily="34" charset="-122"/>
                        <a:cs typeface="Meiryo" pitchFamily="34" charset="-120"/>
                      </a:rPr>
                      <m:t>,</m:t>
                    </m:r>
                    <m:sSub>
                      <m:sSubPr>
                        <m:ctrlPr>
                          <a:rPr lang="en-US" sz="1600" i="1" dirty="0" smtClean="0">
                            <a:solidFill>
                              <a:srgbClr val="0B1220"/>
                            </a:solidFill>
                            <a:latin typeface="Cambria Math" panose="02040503050406030204" pitchFamily="18" charset="0"/>
                            <a:ea typeface="Meiryo" pitchFamily="34" charset="-122"/>
                            <a:cs typeface="Meiryo" pitchFamily="34" charset="-120"/>
                          </a:rPr>
                        </m:ctrlPr>
                      </m:sSubPr>
                      <m:e>
                        <m:r>
                          <a:rPr lang="en-US" sz="1600" i="1" dirty="0" smtClean="0">
                            <a:solidFill>
                              <a:srgbClr val="0B1220"/>
                            </a:solidFill>
                            <a:latin typeface="Cambria Math" panose="02040503050406030204" pitchFamily="18" charset="0"/>
                            <a:ea typeface="Meiryo" pitchFamily="34" charset="-122"/>
                            <a:cs typeface="Meiryo" pitchFamily="34" charset="-120"/>
                          </a:rPr>
                          <m:t>𝑅</m:t>
                        </m:r>
                      </m:e>
                      <m:sub>
                        <m:r>
                          <a:rPr lang="en-US" sz="1600" i="1" dirty="0" smtClean="0">
                            <a:solidFill>
                              <a:srgbClr val="0B1220"/>
                            </a:solidFill>
                            <a:latin typeface="Cambria Math" panose="02040503050406030204" pitchFamily="18" charset="0"/>
                            <a:ea typeface="Meiryo" pitchFamily="34" charset="-122"/>
                            <a:cs typeface="Meiryo" pitchFamily="34" charset="-120"/>
                          </a:rPr>
                          <m:t>𝑟</m:t>
                        </m:r>
                        <m:r>
                          <a:rPr lang="en-US" sz="1600" i="1" dirty="0" smtClean="0">
                            <a:solidFill>
                              <a:srgbClr val="0B1220"/>
                            </a:solidFill>
                            <a:latin typeface="Cambria Math" panose="02040503050406030204" pitchFamily="18" charset="0"/>
                            <a:ea typeface="Meiryo" pitchFamily="34" charset="-122"/>
                            <a:cs typeface="Meiryo" pitchFamily="34" charset="-120"/>
                          </a:rPr>
                          <m:t>2</m:t>
                        </m:r>
                      </m:sub>
                    </m:sSub>
                    <m:d>
                      <m:dPr>
                        <m:begChr m:val="["/>
                        <m:endChr m:val="]"/>
                        <m:ctrlPr>
                          <a:rPr lang="en-US" sz="1600" i="1" dirty="0" smtClean="0">
                            <a:solidFill>
                              <a:srgbClr val="0B1220"/>
                            </a:solidFill>
                            <a:latin typeface="Cambria Math" panose="02040503050406030204" pitchFamily="18" charset="0"/>
                            <a:ea typeface="Meiryo" pitchFamily="34" charset="-122"/>
                            <a:cs typeface="Meiryo" pitchFamily="34" charset="-120"/>
                          </a:rPr>
                        </m:ctrlPr>
                      </m:dPr>
                      <m:e>
                        <m:r>
                          <a:rPr lang="en-US" sz="1600" i="1" dirty="0">
                            <a:solidFill>
                              <a:srgbClr val="0B1220"/>
                            </a:solidFill>
                            <a:latin typeface="Cambria Math" panose="02040503050406030204" pitchFamily="18" charset="0"/>
                            <a:ea typeface="Meiryo" pitchFamily="34" charset="-122"/>
                            <a:cs typeface="Meiryo" pitchFamily="34" charset="-120"/>
                          </a:rPr>
                          <m:t>𝑏</m:t>
                        </m:r>
                      </m:e>
                    </m:d>
                  </m:oMath>
                </a14:m>
                <a:r>
                  <a:rPr lang="en-US" sz="1600" dirty="0">
                    <a:solidFill>
                      <a:srgbClr val="0B1220"/>
                    </a:solidFill>
                    <a:latin typeface="Meiryo" pitchFamily="34" charset="0"/>
                    <a:ea typeface="Meiryo" pitchFamily="34" charset="-122"/>
                    <a:cs typeface="Meiryo" pitchFamily="34" charset="-120"/>
                  </a:rPr>
                  <a:t>と提供量で収益を算定</a:t>
                </a:r>
                <a:endParaRPr lang="en-US" sz="1600" dirty="0"/>
              </a:p>
              <a:p>
                <a:pPr marL="228600" indent="-228600">
                  <a:lnSpc>
                    <a:spcPct val="115000"/>
                  </a:lnSpc>
                  <a:buSzPct val="100000"/>
                  <a:buChar char="•"/>
                </a:pPr>
                <a:r>
                  <a:rPr lang="en-US" sz="1600" dirty="0" err="1">
                    <a:solidFill>
                      <a:srgbClr val="0B1220"/>
                    </a:solidFill>
                    <a:latin typeface="Meiryo" pitchFamily="34" charset="0"/>
                    <a:ea typeface="Meiryo" pitchFamily="34" charset="-122"/>
                    <a:cs typeface="Meiryo" pitchFamily="34" charset="-120"/>
                  </a:rPr>
                  <a:t>劣化</a:t>
                </a:r>
                <a:r>
                  <a:rPr lang="ja-JP" altLang="en-US" sz="1600" dirty="0">
                    <a:solidFill>
                      <a:srgbClr val="0B1220"/>
                    </a:solidFill>
                    <a:latin typeface="Meiryo" pitchFamily="34" charset="0"/>
                    <a:ea typeface="Meiryo" pitchFamily="34" charset="-122"/>
                    <a:cs typeface="Meiryo" pitchFamily="34" charset="-120"/>
                  </a:rPr>
                  <a:t>項</a:t>
                </a:r>
                <a:r>
                  <a:rPr lang="en-US" sz="1600" dirty="0">
                    <a:solidFill>
                      <a:srgbClr val="0B1220"/>
                    </a:solidFill>
                    <a:latin typeface="Meiryo" pitchFamily="34" charset="0"/>
                    <a:ea typeface="Meiryo" pitchFamily="34" charset="-122"/>
                    <a:cs typeface="Meiryo" pitchFamily="34" charset="-120"/>
                  </a:rPr>
                  <a:t>：DoD と SOC に依存する非線形関数を近似し、コストとして加算</a:t>
                </a:r>
                <a:endParaRPr lang="en-US" sz="1600" dirty="0"/>
              </a:p>
            </p:txBody>
          </p:sp>
        </mc:Choice>
        <mc:Fallback xmlns="">
          <p:sp>
            <p:nvSpPr>
              <p:cNvPr id="7" name="Text 5"/>
              <p:cNvSpPr>
                <a:spLocks noRot="1" noChangeAspect="1" noMove="1" noResize="1" noEditPoints="1" noAdjustHandles="1" noChangeArrowheads="1" noChangeShapeType="1" noTextEdit="1"/>
              </p:cNvSpPr>
              <p:nvPr/>
            </p:nvSpPr>
            <p:spPr>
              <a:xfrm>
                <a:off x="868680" y="1984248"/>
                <a:ext cx="5349240" cy="2221992"/>
              </a:xfrm>
              <a:prstGeom prst="rect">
                <a:avLst/>
              </a:prstGeom>
              <a:blipFill>
                <a:blip r:embed="rId3"/>
                <a:stretch>
                  <a:fillRect l="-1254" t="-1923"/>
                </a:stretch>
              </a:blipFill>
              <a:ln/>
            </p:spPr>
            <p:txBody>
              <a:bodyPr/>
              <a:lstStyle/>
              <a:p>
                <a:r>
                  <a:rPr lang="ja-JP" altLang="en-US">
                    <a:noFill/>
                  </a:rPr>
                  <a:t> </a:t>
                </a:r>
              </a:p>
            </p:txBody>
          </p:sp>
        </mc:Fallback>
      </mc:AlternateContent>
      <p:sp>
        <p:nvSpPr>
          <p:cNvPr id="8" name="Shape 6"/>
          <p:cNvSpPr/>
          <p:nvPr/>
        </p:nvSpPr>
        <p:spPr>
          <a:xfrm>
            <a:off x="6629400" y="1417320"/>
            <a:ext cx="5013655" cy="2971800"/>
          </a:xfrm>
          <a:prstGeom prst="rect">
            <a:avLst/>
          </a:prstGeom>
          <a:solidFill>
            <a:srgbClr val="F1F5F9"/>
          </a:solidFill>
          <a:ln w="12700">
            <a:solidFill>
              <a:srgbClr val="E2E8F0"/>
            </a:solidFill>
            <a:prstDash val="solid"/>
          </a:ln>
        </p:spPr>
        <p:txBody>
          <a:bodyPr/>
          <a:lstStyle/>
          <a:p>
            <a:endParaRPr lang="ja-JP" altLang="en-US"/>
          </a:p>
        </p:txBody>
      </p:sp>
      <p:sp>
        <p:nvSpPr>
          <p:cNvPr id="9" name="Text 7"/>
          <p:cNvSpPr/>
          <p:nvPr/>
        </p:nvSpPr>
        <p:spPr>
          <a:xfrm>
            <a:off x="6903720" y="1600200"/>
            <a:ext cx="4647895" cy="320040"/>
          </a:xfrm>
          <a:prstGeom prst="rect">
            <a:avLst/>
          </a:prstGeom>
          <a:noFill/>
          <a:ln/>
        </p:spPr>
        <p:txBody>
          <a:bodyPr wrap="square" rtlCol="0" anchor="ctr"/>
          <a:lstStyle/>
          <a:p>
            <a:pPr marL="0" indent="0">
              <a:buNone/>
            </a:pPr>
            <a:r>
              <a:rPr lang="en-US" sz="1400" b="1" dirty="0">
                <a:solidFill>
                  <a:srgbClr val="334155"/>
                </a:solidFill>
                <a:latin typeface="Meiryo" pitchFamily="34" charset="0"/>
                <a:ea typeface="Meiryo" pitchFamily="34" charset="-122"/>
                <a:cs typeface="Meiryo" pitchFamily="34" charset="-120"/>
              </a:rPr>
              <a:t>劣化関数（正規化）</a:t>
            </a:r>
            <a:endParaRPr lang="en-US" sz="1400" dirty="0"/>
          </a:p>
        </p:txBody>
      </p:sp>
      <mc:AlternateContent xmlns:mc="http://schemas.openxmlformats.org/markup-compatibility/2006" xmlns:a14="http://schemas.microsoft.com/office/drawing/2010/main">
        <mc:Choice Requires="a14">
          <p:sp>
            <p:nvSpPr>
              <p:cNvPr id="10" name="Text 8"/>
              <p:cNvSpPr/>
              <p:nvPr/>
            </p:nvSpPr>
            <p:spPr>
              <a:xfrm>
                <a:off x="6858000" y="2103120"/>
                <a:ext cx="4693615" cy="747260"/>
              </a:xfrm>
              <a:prstGeom prst="rect">
                <a:avLst/>
              </a:prstGeom>
              <a:noFill/>
              <a:ln/>
            </p:spPr>
            <p:txBody>
              <a:bodyPr wrap="square" rtlCol="0" anchor="ctr"/>
              <a:lstStyle/>
              <a:p>
                <a:pPr/>
                <a14:m>
                  <m:oMathPara xmlns:m="http://schemas.openxmlformats.org/officeDocument/2006/math">
                    <m:oMathParaPr>
                      <m:jc m:val="centerGroup"/>
                    </m:oMathParaPr>
                    <m:oMath xmlns:m="http://schemas.openxmlformats.org/officeDocument/2006/math">
                      <m:r>
                        <a:rPr lang="en-US" sz="2000" i="1" dirty="0" smtClean="0">
                          <a:solidFill>
                            <a:srgbClr val="0B1220"/>
                          </a:solidFill>
                          <a:latin typeface="Cambria Math" panose="02040503050406030204" pitchFamily="18" charset="0"/>
                          <a:ea typeface="Consolas" pitchFamily="34" charset="-122"/>
                          <a:cs typeface="Consolas" pitchFamily="34" charset="-120"/>
                        </a:rPr>
                        <m:t>𝑔</m:t>
                      </m:r>
                      <m:d>
                        <m:dPr>
                          <m:ctrlPr>
                            <a:rPr lang="en-US" sz="2000" i="1" dirty="0" smtClean="0">
                              <a:solidFill>
                                <a:srgbClr val="0B1220"/>
                              </a:solidFill>
                              <a:latin typeface="Cambria Math" panose="02040503050406030204" pitchFamily="18" charset="0"/>
                              <a:ea typeface="Consolas" pitchFamily="34" charset="-122"/>
                              <a:cs typeface="Consolas" pitchFamily="34" charset="-120"/>
                            </a:rPr>
                          </m:ctrlPr>
                        </m:dPr>
                        <m:e>
                          <m:r>
                            <a:rPr lang="en-US" sz="2000" i="1" dirty="0" smtClean="0">
                              <a:solidFill>
                                <a:srgbClr val="0B1220"/>
                              </a:solidFill>
                              <a:latin typeface="Cambria Math" panose="02040503050406030204" pitchFamily="18" charset="0"/>
                              <a:ea typeface="Consolas" pitchFamily="34" charset="-122"/>
                              <a:cs typeface="Consolas" pitchFamily="34" charset="-120"/>
                            </a:rPr>
                            <m:t>𝜎</m:t>
                          </m:r>
                          <m:r>
                            <a:rPr lang="en-US" sz="2000" i="1" dirty="0" smtClean="0">
                              <a:solidFill>
                                <a:srgbClr val="0B1220"/>
                              </a:solidFill>
                              <a:latin typeface="Cambria Math" panose="02040503050406030204" pitchFamily="18" charset="0"/>
                              <a:ea typeface="Consolas" pitchFamily="34" charset="-122"/>
                              <a:cs typeface="Consolas" pitchFamily="34" charset="-120"/>
                            </a:rPr>
                            <m:t>,</m:t>
                          </m:r>
                          <m:r>
                            <a:rPr lang="en-US" sz="2000" i="1" dirty="0" smtClean="0">
                              <a:solidFill>
                                <a:srgbClr val="0B1220"/>
                              </a:solidFill>
                              <a:latin typeface="Cambria Math" panose="02040503050406030204" pitchFamily="18" charset="0"/>
                              <a:ea typeface="Consolas" pitchFamily="34" charset="-122"/>
                              <a:cs typeface="Consolas" pitchFamily="34" charset="-120"/>
                            </a:rPr>
                            <m:t>𝛿</m:t>
                          </m:r>
                        </m:e>
                      </m:d>
                      <m:r>
                        <a:rPr lang="en-US" sz="2000" i="1" dirty="0" smtClean="0">
                          <a:solidFill>
                            <a:srgbClr val="0B1220"/>
                          </a:solidFill>
                          <a:latin typeface="Cambria Math" panose="02040503050406030204" pitchFamily="18" charset="0"/>
                          <a:ea typeface="Consolas" pitchFamily="34" charset="-122"/>
                          <a:cs typeface="Consolas" pitchFamily="34" charset="-120"/>
                        </a:rPr>
                        <m:t>=</m:t>
                      </m:r>
                      <m:sSup>
                        <m:sSupPr>
                          <m:ctrlPr>
                            <a:rPr lang="en-US" sz="2000" i="1" dirty="0" smtClean="0">
                              <a:solidFill>
                                <a:srgbClr val="0B1220"/>
                              </a:solidFill>
                              <a:latin typeface="Cambria Math" panose="02040503050406030204" pitchFamily="18" charset="0"/>
                              <a:ea typeface="Consolas" pitchFamily="34" charset="-122"/>
                              <a:cs typeface="Consolas" pitchFamily="34" charset="-120"/>
                            </a:rPr>
                          </m:ctrlPr>
                        </m:sSupPr>
                        <m:e>
                          <m:r>
                            <a:rPr lang="en-US" sz="2000" i="1" dirty="0" smtClean="0">
                              <a:solidFill>
                                <a:srgbClr val="0B1220"/>
                              </a:solidFill>
                              <a:latin typeface="Cambria Math" panose="02040503050406030204" pitchFamily="18" charset="0"/>
                              <a:ea typeface="Consolas" pitchFamily="34" charset="-122"/>
                              <a:cs typeface="Consolas" pitchFamily="34" charset="-120"/>
                            </a:rPr>
                            <m:t>𝑒</m:t>
                          </m:r>
                        </m:e>
                        <m:sup>
                          <m:d>
                            <m:dPr>
                              <m:ctrlPr>
                                <a:rPr lang="en-US" altLang="ja-JP" sz="2000" i="1" dirty="0">
                                  <a:solidFill>
                                    <a:srgbClr val="0B1220"/>
                                  </a:solidFill>
                                  <a:latin typeface="Cambria Math" panose="02040503050406030204" pitchFamily="18" charset="0"/>
                                  <a:ea typeface="Consolas" pitchFamily="34" charset="-122"/>
                                  <a:cs typeface="Consolas" pitchFamily="34" charset="-120"/>
                                </a:rPr>
                              </m:ctrlPr>
                            </m:dPr>
                            <m:e>
                              <m:r>
                                <a:rPr lang="en-US" altLang="ja-JP" sz="2000" i="1" dirty="0">
                                  <a:solidFill>
                                    <a:srgbClr val="0B1220"/>
                                  </a:solidFill>
                                  <a:latin typeface="Cambria Math" panose="02040503050406030204" pitchFamily="18" charset="0"/>
                                  <a:ea typeface="Consolas" pitchFamily="34" charset="-122"/>
                                  <a:cs typeface="Consolas" pitchFamily="34" charset="-120"/>
                                </a:rPr>
                                <m:t>𝑘</m:t>
                              </m:r>
                              <m:r>
                                <a:rPr lang="en-US" altLang="ja-JP" sz="2000" i="1" dirty="0">
                                  <a:solidFill>
                                    <a:srgbClr val="0B1220"/>
                                  </a:solidFill>
                                  <a:latin typeface="Cambria Math" panose="02040503050406030204" pitchFamily="18" charset="0"/>
                                  <a:ea typeface="Consolas" pitchFamily="34" charset="-122"/>
                                  <a:cs typeface="Consolas" pitchFamily="34" charset="-120"/>
                                </a:rPr>
                                <m:t>𝜎</m:t>
                              </m:r>
                              <m:d>
                                <m:dPr>
                                  <m:ctrlPr>
                                    <a:rPr lang="en-US" altLang="ja-JP" sz="2000" i="1" dirty="0">
                                      <a:solidFill>
                                        <a:srgbClr val="0B1220"/>
                                      </a:solidFill>
                                      <a:latin typeface="Cambria Math" panose="02040503050406030204" pitchFamily="18" charset="0"/>
                                      <a:ea typeface="Consolas" pitchFamily="34" charset="-122"/>
                                      <a:cs typeface="Consolas" pitchFamily="34" charset="-120"/>
                                    </a:rPr>
                                  </m:ctrlPr>
                                </m:dPr>
                                <m:e>
                                  <m:r>
                                    <a:rPr lang="en-US" altLang="ja-JP" sz="2000" i="1" dirty="0">
                                      <a:solidFill>
                                        <a:srgbClr val="0B1220"/>
                                      </a:solidFill>
                                      <a:latin typeface="Cambria Math" panose="02040503050406030204" pitchFamily="18" charset="0"/>
                                      <a:ea typeface="Consolas" pitchFamily="34" charset="-122"/>
                                      <a:cs typeface="Consolas" pitchFamily="34" charset="-120"/>
                                    </a:rPr>
                                    <m:t>𝜎</m:t>
                                  </m:r>
                                  <m:r>
                                    <a:rPr lang="en-US" altLang="ja-JP" sz="2000" i="1" dirty="0">
                                      <a:solidFill>
                                        <a:srgbClr val="0B1220"/>
                                      </a:solidFill>
                                      <a:latin typeface="Cambria Math" panose="02040503050406030204" pitchFamily="18" charset="0"/>
                                      <a:ea typeface="Consolas" pitchFamily="34" charset="-122"/>
                                      <a:cs typeface="Consolas" pitchFamily="34" charset="-120"/>
                                    </a:rPr>
                                    <m:t>−</m:t>
                                  </m:r>
                                  <m:sSub>
                                    <m:sSubPr>
                                      <m:ctrlPr>
                                        <a:rPr lang="en-US" altLang="ja-JP" sz="2000" i="1" dirty="0">
                                          <a:solidFill>
                                            <a:srgbClr val="0B1220"/>
                                          </a:solidFill>
                                          <a:latin typeface="Cambria Math" panose="02040503050406030204" pitchFamily="18" charset="0"/>
                                          <a:ea typeface="Consolas" pitchFamily="34" charset="-122"/>
                                          <a:cs typeface="Consolas" pitchFamily="34" charset="-120"/>
                                        </a:rPr>
                                      </m:ctrlPr>
                                    </m:sSubPr>
                                    <m:e>
                                      <m:r>
                                        <a:rPr lang="en-US" altLang="ja-JP" sz="2000" i="1" dirty="0">
                                          <a:solidFill>
                                            <a:srgbClr val="0B1220"/>
                                          </a:solidFill>
                                          <a:latin typeface="Cambria Math" panose="02040503050406030204" pitchFamily="18" charset="0"/>
                                          <a:ea typeface="Consolas" pitchFamily="34" charset="-122"/>
                                          <a:cs typeface="Consolas" pitchFamily="34" charset="-120"/>
                                        </a:rPr>
                                        <m:t>𝜎</m:t>
                                      </m:r>
                                    </m:e>
                                    <m:sub>
                                      <m:r>
                                        <a:rPr lang="en-US" altLang="ja-JP" sz="2000" i="1" dirty="0">
                                          <a:solidFill>
                                            <a:srgbClr val="0B1220"/>
                                          </a:solidFill>
                                          <a:latin typeface="Cambria Math" panose="02040503050406030204" pitchFamily="18" charset="0"/>
                                          <a:ea typeface="Consolas" pitchFamily="34" charset="-122"/>
                                          <a:cs typeface="Consolas" pitchFamily="34" charset="-120"/>
                                        </a:rPr>
                                        <m:t>𝑟</m:t>
                                      </m:r>
                                    </m:sub>
                                  </m:sSub>
                                  <m:r>
                                    <a:rPr lang="en-US" altLang="ja-JP" sz="2000" i="1" dirty="0">
                                      <a:solidFill>
                                        <a:srgbClr val="0B1220"/>
                                      </a:solidFill>
                                      <a:latin typeface="Cambria Math" panose="02040503050406030204" pitchFamily="18" charset="0"/>
                                      <a:ea typeface="Consolas" pitchFamily="34" charset="-122"/>
                                      <a:cs typeface="Consolas" pitchFamily="34" charset="-120"/>
                                    </a:rPr>
                                    <m:t>𝑒𝑓</m:t>
                                  </m:r>
                                </m:e>
                              </m:d>
                            </m:e>
                          </m:d>
                        </m:sup>
                      </m:sSup>
                      <m:r>
                        <a:rPr lang="en-US" sz="2000" i="1" dirty="0" smtClean="0">
                          <a:solidFill>
                            <a:srgbClr val="0B1220"/>
                          </a:solidFill>
                          <a:latin typeface="Cambria Math" panose="02040503050406030204" pitchFamily="18" charset="0"/>
                          <a:ea typeface="Consolas" pitchFamily="34" charset="-122"/>
                          <a:cs typeface="Consolas" pitchFamily="34" charset="-120"/>
                        </a:rPr>
                        <m:t>·</m:t>
                      </m:r>
                      <m:sSub>
                        <m:sSubPr>
                          <m:ctrlPr>
                            <a:rPr lang="en-US" sz="2000" b="0" i="1" dirty="0" smtClean="0">
                              <a:solidFill>
                                <a:srgbClr val="0B1220"/>
                              </a:solidFill>
                              <a:latin typeface="Cambria Math" panose="02040503050406030204" pitchFamily="18" charset="0"/>
                              <a:ea typeface="Consolas" pitchFamily="34" charset="-122"/>
                              <a:cs typeface="Consolas" pitchFamily="34" charset="-120"/>
                            </a:rPr>
                          </m:ctrlPr>
                        </m:sSubPr>
                        <m:e>
                          <m:r>
                            <a:rPr lang="en-US" sz="2000" i="1" dirty="0" smtClean="0">
                              <a:solidFill>
                                <a:srgbClr val="0B1220"/>
                              </a:solidFill>
                              <a:latin typeface="Cambria Math" panose="02040503050406030204" pitchFamily="18" charset="0"/>
                              <a:ea typeface="Consolas" pitchFamily="34" charset="-122"/>
                              <a:cs typeface="Consolas" pitchFamily="34" charset="-120"/>
                            </a:rPr>
                            <m:t>𝑘</m:t>
                          </m:r>
                        </m:e>
                        <m:sub>
                          <m:r>
                            <a:rPr lang="en-US" sz="2000" i="1" dirty="0" smtClean="0">
                              <a:solidFill>
                                <a:srgbClr val="0B1220"/>
                              </a:solidFill>
                              <a:latin typeface="Cambria Math" panose="02040503050406030204" pitchFamily="18" charset="0"/>
                              <a:ea typeface="Consolas" pitchFamily="34" charset="-122"/>
                              <a:cs typeface="Consolas" pitchFamily="34" charset="-120"/>
                            </a:rPr>
                            <m:t>𝛿</m:t>
                          </m:r>
                          <m:r>
                            <a:rPr lang="en-US" sz="2000" b="0" i="1" dirty="0" smtClean="0">
                              <a:solidFill>
                                <a:srgbClr val="0B1220"/>
                              </a:solidFill>
                              <a:latin typeface="Cambria Math" panose="02040503050406030204" pitchFamily="18" charset="0"/>
                              <a:ea typeface="Consolas" pitchFamily="34" charset="-122"/>
                              <a:cs typeface="Consolas" pitchFamily="34" charset="-120"/>
                            </a:rPr>
                            <m:t>1</m:t>
                          </m:r>
                        </m:sub>
                      </m:sSub>
                      <m:r>
                        <a:rPr lang="en-US" sz="2000" i="1" dirty="0" smtClean="0">
                          <a:solidFill>
                            <a:srgbClr val="0B1220"/>
                          </a:solidFill>
                          <a:latin typeface="Cambria Math" panose="02040503050406030204" pitchFamily="18" charset="0"/>
                          <a:ea typeface="Consolas" pitchFamily="34" charset="-122"/>
                          <a:cs typeface="Consolas" pitchFamily="34" charset="-120"/>
                        </a:rPr>
                        <m:t>·</m:t>
                      </m:r>
                      <m:sSup>
                        <m:sSupPr>
                          <m:ctrlPr>
                            <a:rPr lang="en-US" sz="2000" i="1" dirty="0" smtClean="0">
                              <a:solidFill>
                                <a:srgbClr val="0B1220"/>
                              </a:solidFill>
                              <a:latin typeface="Cambria Math" panose="02040503050406030204" pitchFamily="18" charset="0"/>
                              <a:ea typeface="Consolas" pitchFamily="34" charset="-122"/>
                              <a:cs typeface="Consolas" pitchFamily="34" charset="-120"/>
                            </a:rPr>
                          </m:ctrlPr>
                        </m:sSupPr>
                        <m:e>
                          <m:r>
                            <a:rPr lang="en-US" sz="2000" i="1" dirty="0" smtClean="0">
                              <a:solidFill>
                                <a:srgbClr val="0B1220"/>
                              </a:solidFill>
                              <a:latin typeface="Cambria Math" panose="02040503050406030204" pitchFamily="18" charset="0"/>
                              <a:ea typeface="Consolas" pitchFamily="34" charset="-122"/>
                              <a:cs typeface="Consolas" pitchFamily="34" charset="-120"/>
                            </a:rPr>
                            <m:t>𝛿</m:t>
                          </m:r>
                        </m:e>
                        <m:sup>
                          <m:sSub>
                            <m:sSubPr>
                              <m:ctrlPr>
                                <a:rPr lang="en-US" sz="2000" b="0" i="1" dirty="0" smtClean="0">
                                  <a:solidFill>
                                    <a:srgbClr val="0B1220"/>
                                  </a:solidFill>
                                  <a:latin typeface="Cambria Math" panose="02040503050406030204" pitchFamily="18" charset="0"/>
                                  <a:ea typeface="Consolas" pitchFamily="34" charset="-122"/>
                                  <a:cs typeface="Consolas" pitchFamily="34" charset="-120"/>
                                </a:rPr>
                              </m:ctrlPr>
                            </m:sSubPr>
                            <m:e>
                              <m:r>
                                <a:rPr lang="en-US" sz="2000" i="1" dirty="0" smtClean="0">
                                  <a:solidFill>
                                    <a:srgbClr val="0B1220"/>
                                  </a:solidFill>
                                  <a:latin typeface="Cambria Math" panose="02040503050406030204" pitchFamily="18" charset="0"/>
                                  <a:ea typeface="Consolas" pitchFamily="34" charset="-122"/>
                                  <a:cs typeface="Consolas" pitchFamily="34" charset="-120"/>
                                </a:rPr>
                                <m:t>𝑘</m:t>
                              </m:r>
                            </m:e>
                            <m:sub>
                              <m:r>
                                <a:rPr lang="en-US" sz="2000" i="1" dirty="0" smtClean="0">
                                  <a:solidFill>
                                    <a:srgbClr val="0B1220"/>
                                  </a:solidFill>
                                  <a:latin typeface="Cambria Math" panose="02040503050406030204" pitchFamily="18" charset="0"/>
                                  <a:ea typeface="Consolas" pitchFamily="34" charset="-122"/>
                                  <a:cs typeface="Consolas" pitchFamily="34" charset="-120"/>
                                </a:rPr>
                                <m:t>𝛿</m:t>
                              </m:r>
                              <m:r>
                                <a:rPr lang="en-US" sz="2000" i="1" dirty="0" smtClean="0">
                                  <a:solidFill>
                                    <a:srgbClr val="0B1220"/>
                                  </a:solidFill>
                                  <a:latin typeface="Cambria Math" panose="02040503050406030204" pitchFamily="18" charset="0"/>
                                  <a:ea typeface="Consolas" pitchFamily="34" charset="-122"/>
                                  <a:cs typeface="Consolas" pitchFamily="34" charset="-120"/>
                                </a:rPr>
                                <m:t>2</m:t>
                              </m:r>
                            </m:sub>
                          </m:sSub>
                        </m:sup>
                      </m:sSup>
                    </m:oMath>
                  </m:oMathPara>
                </a14:m>
                <a:endParaRPr/>
              </a:p>
            </p:txBody>
          </p:sp>
        </mc:Choice>
        <mc:Fallback xmlns="">
          <p:sp>
            <p:nvSpPr>
              <p:cNvPr id="10" name="Text 8"/>
              <p:cNvSpPr>
                <a:spLocks noRot="1" noChangeAspect="1" noMove="1" noResize="1" noEditPoints="1" noAdjustHandles="1" noChangeArrowheads="1" noChangeShapeType="1" noTextEdit="1"/>
              </p:cNvSpPr>
              <p:nvPr/>
            </p:nvSpPr>
            <p:spPr>
              <a:xfrm>
                <a:off x="6858000" y="2103120"/>
                <a:ext cx="4693615" cy="747260"/>
              </a:xfrm>
              <a:prstGeom prst="rect">
                <a:avLst/>
              </a:prstGeom>
              <a:blipFill>
                <a:blip r:embed="rId4"/>
                <a:stretch>
                  <a:fillRect/>
                </a:stretch>
              </a:blip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Text 9"/>
              <p:cNvSpPr/>
              <p:nvPr/>
            </p:nvSpPr>
            <p:spPr>
              <a:xfrm>
                <a:off x="6903720" y="2971798"/>
                <a:ext cx="4647895" cy="457201"/>
              </a:xfrm>
              <a:prstGeom prst="rect">
                <a:avLst/>
              </a:prstGeom>
              <a:noFill/>
              <a:ln/>
            </p:spPr>
            <p:txBody>
              <a:bodyPr wrap="square" rtlCol="0" anchor="t"/>
              <a:lstStyle/>
              <a:p>
                <a:pPr marL="0" indent="0">
                  <a:buNone/>
                </a:pPr>
                <a:r>
                  <a:rPr lang="en-US" sz="1600" dirty="0">
                    <a:solidFill>
                      <a:srgbClr val="334155"/>
                    </a:solidFill>
                    <a:latin typeface="Meiryo" pitchFamily="34" charset="0"/>
                    <a:ea typeface="Meiryo" pitchFamily="34" charset="-122"/>
                    <a:cs typeface="Meiryo" pitchFamily="34" charset="-120"/>
                  </a:rPr>
                  <a:t>σ: SOC（正規化）, δ: DoD（正規化）</a:t>
                </a:r>
                <a:endParaRPr lang="en-US" sz="1600" dirty="0"/>
              </a:p>
              <a:p>
                <a:pPr marL="0" indent="0">
                  <a:buNone/>
                </a:pPr>
                <a:r>
                  <a:rPr lang="en-US" sz="1600" dirty="0">
                    <a:solidFill>
                      <a:srgbClr val="334155"/>
                    </a:solidFill>
                    <a:latin typeface="Meiryo" pitchFamily="34" charset="0"/>
                    <a:ea typeface="Meiryo" pitchFamily="34" charset="-122"/>
                    <a:cs typeface="Meiryo" pitchFamily="34" charset="-120"/>
                  </a:rPr>
                  <a:t>格子点で g を計算し、前進差分で係数 </a:t>
                </a:r>
                <a14:m>
                  <m:oMath xmlns:m="http://schemas.openxmlformats.org/officeDocument/2006/math">
                    <m:sSub>
                      <m:sSubPr>
                        <m:ctrlPr>
                          <a:rPr lang="en-US" sz="1600" i="1" dirty="0" smtClean="0">
                            <a:solidFill>
                              <a:srgbClr val="334155"/>
                            </a:solidFill>
                            <a:latin typeface="Cambria Math" panose="02040503050406030204" pitchFamily="18" charset="0"/>
                            <a:ea typeface="Meiryo" pitchFamily="34" charset="-122"/>
                            <a:cs typeface="Meiryo" pitchFamily="34" charset="-120"/>
                          </a:rPr>
                        </m:ctrlPr>
                      </m:sSubPr>
                      <m:e>
                        <m:r>
                          <a:rPr lang="en-US" sz="1600" i="1" dirty="0" smtClean="0">
                            <a:solidFill>
                              <a:srgbClr val="334155"/>
                            </a:solidFill>
                            <a:latin typeface="Cambria Math" panose="02040503050406030204" pitchFamily="18" charset="0"/>
                            <a:ea typeface="Meiryo" pitchFamily="34" charset="-122"/>
                            <a:cs typeface="Meiryo" pitchFamily="34" charset="-120"/>
                          </a:rPr>
                          <m:t>𝑆</m:t>
                        </m:r>
                      </m:e>
                      <m:sub>
                        <m:r>
                          <a:rPr lang="en-US" sz="1600" i="1" dirty="0" smtClean="0">
                            <a:solidFill>
                              <a:srgbClr val="334155"/>
                            </a:solidFill>
                            <a:latin typeface="Cambria Math" panose="02040503050406030204" pitchFamily="18" charset="0"/>
                            <a:ea typeface="Meiryo" pitchFamily="34" charset="-122"/>
                            <a:cs typeface="Meiryo" pitchFamily="34" charset="-120"/>
                          </a:rPr>
                          <m:t>𝑖</m:t>
                        </m:r>
                        <m:r>
                          <a:rPr lang="en-US" sz="1600" i="1" dirty="0" smtClean="0">
                            <a:solidFill>
                              <a:srgbClr val="334155"/>
                            </a:solidFill>
                            <a:latin typeface="Cambria Math" panose="02040503050406030204" pitchFamily="18" charset="0"/>
                            <a:ea typeface="Meiryo" pitchFamily="34" charset="-122"/>
                            <a:cs typeface="Meiryo" pitchFamily="34" charset="-120"/>
                          </a:rPr>
                          <m:t>,</m:t>
                        </m:r>
                        <m:r>
                          <a:rPr lang="en-US" sz="1600" i="1" dirty="0" smtClean="0">
                            <a:solidFill>
                              <a:srgbClr val="334155"/>
                            </a:solidFill>
                            <a:latin typeface="Cambria Math" panose="02040503050406030204" pitchFamily="18" charset="0"/>
                            <a:ea typeface="Meiryo" pitchFamily="34" charset="-122"/>
                            <a:cs typeface="Meiryo" pitchFamily="34" charset="-120"/>
                          </a:rPr>
                          <m:t>𝑗</m:t>
                        </m:r>
                      </m:sub>
                    </m:sSub>
                    <m:r>
                      <a:rPr lang="en-US" sz="1600" i="1" dirty="0" smtClean="0">
                        <a:solidFill>
                          <a:srgbClr val="334155"/>
                        </a:solidFill>
                        <a:latin typeface="Cambria Math" panose="02040503050406030204" pitchFamily="18" charset="0"/>
                        <a:ea typeface="Meiryo" pitchFamily="34" charset="-122"/>
                        <a:cs typeface="Meiryo" pitchFamily="34" charset="-120"/>
                      </a:rPr>
                      <m:t>,</m:t>
                    </m:r>
                    <m:sSub>
                      <m:sSubPr>
                        <m:ctrlPr>
                          <a:rPr lang="en-US" sz="1600" i="1" dirty="0" smtClean="0">
                            <a:solidFill>
                              <a:srgbClr val="334155"/>
                            </a:solidFill>
                            <a:latin typeface="Cambria Math" panose="02040503050406030204" pitchFamily="18" charset="0"/>
                            <a:ea typeface="Meiryo" pitchFamily="34" charset="-122"/>
                            <a:cs typeface="Meiryo" pitchFamily="34" charset="-120"/>
                          </a:rPr>
                        </m:ctrlPr>
                      </m:sSubPr>
                      <m:e>
                        <m:r>
                          <a:rPr lang="en-US" sz="1600" i="1" dirty="0" smtClean="0">
                            <a:solidFill>
                              <a:srgbClr val="334155"/>
                            </a:solidFill>
                            <a:latin typeface="Cambria Math" panose="02040503050406030204" pitchFamily="18" charset="0"/>
                            <a:ea typeface="Meiryo" pitchFamily="34" charset="-122"/>
                            <a:cs typeface="Meiryo" pitchFamily="34" charset="-120"/>
                          </a:rPr>
                          <m:t>𝑇</m:t>
                        </m:r>
                      </m:e>
                      <m:sub>
                        <m:r>
                          <a:rPr lang="en-US" sz="1600" i="1" dirty="0" smtClean="0">
                            <a:solidFill>
                              <a:srgbClr val="334155"/>
                            </a:solidFill>
                            <a:latin typeface="Cambria Math" panose="02040503050406030204" pitchFamily="18" charset="0"/>
                            <a:ea typeface="Meiryo" pitchFamily="34" charset="-122"/>
                            <a:cs typeface="Meiryo" pitchFamily="34" charset="-120"/>
                          </a:rPr>
                          <m:t>𝑖</m:t>
                        </m:r>
                        <m:r>
                          <a:rPr lang="en-US" sz="1600" i="1" dirty="0" smtClean="0">
                            <a:solidFill>
                              <a:srgbClr val="334155"/>
                            </a:solidFill>
                            <a:latin typeface="Cambria Math" panose="02040503050406030204" pitchFamily="18" charset="0"/>
                            <a:ea typeface="Meiryo" pitchFamily="34" charset="-122"/>
                            <a:cs typeface="Meiryo" pitchFamily="34" charset="-120"/>
                          </a:rPr>
                          <m:t>,</m:t>
                        </m:r>
                        <m:r>
                          <a:rPr lang="en-US" sz="1600" i="1" dirty="0" smtClean="0">
                            <a:solidFill>
                              <a:srgbClr val="334155"/>
                            </a:solidFill>
                            <a:latin typeface="Cambria Math" panose="02040503050406030204" pitchFamily="18" charset="0"/>
                            <a:ea typeface="Meiryo" pitchFamily="34" charset="-122"/>
                            <a:cs typeface="Meiryo" pitchFamily="34" charset="-120"/>
                          </a:rPr>
                          <m:t>𝑗</m:t>
                        </m:r>
                      </m:sub>
                    </m:sSub>
                  </m:oMath>
                </a14:m>
                <a:r>
                  <a:rPr lang="en-US" sz="1600" dirty="0">
                    <a:solidFill>
                      <a:srgbClr val="334155"/>
                    </a:solidFill>
                    <a:latin typeface="Meiryo" pitchFamily="34" charset="0"/>
                    <a:ea typeface="Meiryo" pitchFamily="34" charset="-122"/>
                    <a:cs typeface="Meiryo" pitchFamily="34" charset="-120"/>
                  </a:rPr>
                  <a:t>を作る</a:t>
                </a:r>
                <a:endParaRPr lang="en-US" sz="1600" dirty="0"/>
              </a:p>
            </p:txBody>
          </p:sp>
        </mc:Choice>
        <mc:Fallback xmlns="">
          <p:sp>
            <p:nvSpPr>
              <p:cNvPr id="11" name="Text 9"/>
              <p:cNvSpPr>
                <a:spLocks noRot="1" noChangeAspect="1" noMove="1" noResize="1" noEditPoints="1" noAdjustHandles="1" noChangeArrowheads="1" noChangeShapeType="1" noTextEdit="1"/>
              </p:cNvSpPr>
              <p:nvPr/>
            </p:nvSpPr>
            <p:spPr>
              <a:xfrm>
                <a:off x="6903720" y="2971798"/>
                <a:ext cx="4647895" cy="457201"/>
              </a:xfrm>
              <a:prstGeom prst="rect">
                <a:avLst/>
              </a:prstGeom>
              <a:blipFill>
                <a:blip r:embed="rId5"/>
                <a:stretch>
                  <a:fillRect l="-787" t="-1333" b="-102667"/>
                </a:stretch>
              </a:blipFill>
              <a:ln/>
            </p:spPr>
            <p:txBody>
              <a:bodyPr/>
              <a:lstStyle/>
              <a:p>
                <a:r>
                  <a:rPr lang="ja-JP" altLang="en-US">
                    <a:noFill/>
                  </a:rPr>
                  <a:t> </a:t>
                </a:r>
              </a:p>
            </p:txBody>
          </p:sp>
        </mc:Fallback>
      </mc:AlternateContent>
      <p:sp>
        <p:nvSpPr>
          <p:cNvPr id="12" name="Shape 10"/>
          <p:cNvSpPr/>
          <p:nvPr/>
        </p:nvSpPr>
        <p:spPr>
          <a:xfrm>
            <a:off x="6629400" y="4526280"/>
            <a:ext cx="5013655" cy="1600200"/>
          </a:xfrm>
          <a:prstGeom prst="rect">
            <a:avLst/>
          </a:prstGeom>
          <a:solidFill>
            <a:srgbClr val="ECFDF5"/>
          </a:solidFill>
          <a:ln w="12700">
            <a:solidFill>
              <a:srgbClr val="A7F3D0"/>
            </a:solidFill>
            <a:prstDash val="solid"/>
          </a:ln>
        </p:spPr>
        <p:txBody>
          <a:bodyPr/>
          <a:lstStyle/>
          <a:p>
            <a:endParaRPr lang="ja-JP" altLang="en-US"/>
          </a:p>
        </p:txBody>
      </p:sp>
      <p:sp>
        <p:nvSpPr>
          <p:cNvPr id="13" name="Text 11"/>
          <p:cNvSpPr/>
          <p:nvPr/>
        </p:nvSpPr>
        <p:spPr>
          <a:xfrm>
            <a:off x="6903720" y="4709160"/>
            <a:ext cx="4647895" cy="274320"/>
          </a:xfrm>
          <a:prstGeom prst="rect">
            <a:avLst/>
          </a:prstGeom>
          <a:noFill/>
          <a:ln/>
        </p:spPr>
        <p:txBody>
          <a:bodyPr wrap="square" rtlCol="0" anchor="ctr"/>
          <a:lstStyle/>
          <a:p>
            <a:pPr marL="0" indent="0">
              <a:buNone/>
            </a:pPr>
            <a:r>
              <a:rPr lang="en-US" sz="1400" b="1" dirty="0">
                <a:solidFill>
                  <a:srgbClr val="334155"/>
                </a:solidFill>
                <a:latin typeface="Meiryo" pitchFamily="34" charset="0"/>
                <a:ea typeface="Meiryo" pitchFamily="34" charset="-122"/>
                <a:cs typeface="Meiryo" pitchFamily="34" charset="-120"/>
              </a:rPr>
              <a:t>劣化コスト換算係数 c</a:t>
            </a:r>
            <a:endParaRPr lang="en-US" sz="1400" dirty="0"/>
          </a:p>
        </p:txBody>
      </p:sp>
      <p:sp>
        <p:nvSpPr>
          <p:cNvPr id="14" name="Text 12"/>
          <p:cNvSpPr/>
          <p:nvPr/>
        </p:nvSpPr>
        <p:spPr>
          <a:xfrm>
            <a:off x="6903720" y="5029200"/>
            <a:ext cx="4647895" cy="731520"/>
          </a:xfrm>
          <a:prstGeom prst="rect">
            <a:avLst/>
          </a:prstGeom>
          <a:noFill/>
          <a:ln/>
        </p:spPr>
        <p:txBody>
          <a:bodyPr wrap="square" rtlCol="0" anchor="ctr"/>
          <a:lstStyle/>
          <a:p>
            <a:pPr marL="0" indent="0">
              <a:buNone/>
            </a:pPr>
            <a:r>
              <a:rPr lang="en-US" sz="1600" dirty="0">
                <a:solidFill>
                  <a:srgbClr val="0B1220"/>
                </a:solidFill>
                <a:latin typeface="Meiryo" pitchFamily="34" charset="0"/>
                <a:ea typeface="Meiryo" pitchFamily="34" charset="-122"/>
                <a:cs typeface="Meiryo" pitchFamily="34" charset="-120"/>
              </a:rPr>
              <a:t>c = 72,500（1日・1kWhあたりの劣化コスト単価として設定）</a:t>
            </a:r>
            <a:endParaRPr lang="en-US" sz="1600" dirty="0"/>
          </a:p>
        </p:txBody>
      </p:sp>
      <p:sp>
        <p:nvSpPr>
          <p:cNvPr id="15" name="テキスト ボックス 14">
            <a:extLst>
              <a:ext uri="{FF2B5EF4-FFF2-40B4-BE49-F238E27FC236}">
                <a16:creationId xmlns:a16="http://schemas.microsoft.com/office/drawing/2014/main" id="{A6336894-E70D-FD3D-8E2C-89713222B407}"/>
              </a:ext>
            </a:extLst>
          </p:cNvPr>
          <p:cNvSpPr txBox="1"/>
          <p:nvPr/>
        </p:nvSpPr>
        <p:spPr>
          <a:xfrm>
            <a:off x="11643055" y="6311462"/>
            <a:ext cx="301952" cy="369332"/>
          </a:xfrm>
          <a:prstGeom prst="rect">
            <a:avLst/>
          </a:prstGeom>
          <a:noFill/>
        </p:spPr>
        <p:txBody>
          <a:bodyPr wrap="square" rtlCol="0">
            <a:spAutoFit/>
          </a:bodyPr>
          <a:lstStyle/>
          <a:p>
            <a:r>
              <a:rPr kumimoji="1" lang="en-US" altLang="ja-JP" dirty="0"/>
              <a:t>6</a:t>
            </a:r>
            <a:endParaRPr kumimoji="1" lang="ja-JP"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457200"/>
          </a:xfrm>
          <a:prstGeom prst="rect">
            <a:avLst/>
          </a:prstGeom>
          <a:noFill/>
          <a:ln/>
        </p:spPr>
        <p:txBody>
          <a:bodyPr wrap="square" rtlCol="0" anchor="ctr"/>
          <a:lstStyle/>
          <a:p>
            <a:pPr marL="0" indent="0">
              <a:buNone/>
            </a:pPr>
            <a:r>
              <a:rPr lang="en-US" sz="2800" b="1" dirty="0">
                <a:solidFill>
                  <a:srgbClr val="0B1220"/>
                </a:solidFill>
                <a:latin typeface="Meiryo" pitchFamily="34" charset="0"/>
                <a:ea typeface="Meiryo" pitchFamily="34" charset="-122"/>
                <a:cs typeface="Meiryo" pitchFamily="34" charset="-120"/>
              </a:rPr>
              <a:t>劣化モデル：ピースワイズ線形化</a:t>
            </a:r>
            <a:endParaRPr lang="en-US" sz="2800" dirty="0"/>
          </a:p>
        </p:txBody>
      </p:sp>
      <p:sp>
        <p:nvSpPr>
          <p:cNvPr id="3" name="Text 1"/>
          <p:cNvSpPr/>
          <p:nvPr/>
        </p:nvSpPr>
        <p:spPr>
          <a:xfrm>
            <a:off x="548640" y="786384"/>
            <a:ext cx="11094415" cy="320040"/>
          </a:xfrm>
          <a:prstGeom prst="rect">
            <a:avLst/>
          </a:prstGeom>
          <a:noFill/>
          <a:ln/>
        </p:spPr>
        <p:txBody>
          <a:bodyPr wrap="square" rtlCol="0" anchor="ctr"/>
          <a:lstStyle/>
          <a:p>
            <a:pPr marL="0" indent="0">
              <a:buNone/>
            </a:pPr>
            <a:r>
              <a:rPr lang="en-US" altLang="ja-JP" sz="1400" dirty="0">
                <a:solidFill>
                  <a:srgbClr val="334155"/>
                </a:solidFill>
                <a:latin typeface="Meiryo" pitchFamily="34" charset="0"/>
                <a:ea typeface="Meiryo" pitchFamily="34" charset="-122"/>
                <a:cs typeface="Meiryo" pitchFamily="34" charset="-120"/>
              </a:rPr>
              <a:t>1</a:t>
            </a:r>
            <a:r>
              <a:rPr lang="ja-JP" altLang="en-US" sz="1400" dirty="0">
                <a:solidFill>
                  <a:srgbClr val="334155"/>
                </a:solidFill>
                <a:latin typeface="Meiryo" pitchFamily="34" charset="0"/>
                <a:ea typeface="Meiryo" pitchFamily="34" charset="-122"/>
                <a:cs typeface="Meiryo" pitchFamily="34" charset="-120"/>
              </a:rPr>
              <a:t>次元ピースワイズ</a:t>
            </a:r>
            <a:r>
              <a:rPr lang="en-US" sz="1400" dirty="0">
                <a:solidFill>
                  <a:srgbClr val="334155"/>
                </a:solidFill>
                <a:latin typeface="Meiryo" pitchFamily="34" charset="0"/>
                <a:ea typeface="Meiryo" pitchFamily="34" charset="-122"/>
                <a:cs typeface="Meiryo" pitchFamily="34" charset="-120"/>
              </a:rPr>
              <a:t>（</a:t>
            </a:r>
            <a:r>
              <a:rPr lang="en-US" sz="1400" dirty="0" err="1">
                <a:solidFill>
                  <a:srgbClr val="334155"/>
                </a:solidFill>
                <a:latin typeface="Meiryo" pitchFamily="34" charset="0"/>
                <a:ea typeface="Meiryo" pitchFamily="34" charset="-122"/>
                <a:cs typeface="Meiryo" pitchFamily="34" charset="-120"/>
              </a:rPr>
              <a:t>DoDのみ）と</a:t>
            </a:r>
            <a:r>
              <a:rPr lang="en-US" sz="1400" dirty="0">
                <a:solidFill>
                  <a:srgbClr val="334155"/>
                </a:solidFill>
                <a:latin typeface="Meiryo" pitchFamily="34" charset="0"/>
                <a:ea typeface="Meiryo" pitchFamily="34" charset="-122"/>
                <a:cs typeface="Meiryo" pitchFamily="34" charset="-120"/>
              </a:rPr>
              <a:t> </a:t>
            </a:r>
            <a:r>
              <a:rPr lang="en-US" altLang="ja-JP" sz="1400" dirty="0">
                <a:solidFill>
                  <a:srgbClr val="334155"/>
                </a:solidFill>
                <a:latin typeface="Meiryo" pitchFamily="34" charset="0"/>
                <a:ea typeface="Meiryo" pitchFamily="34" charset="-122"/>
                <a:cs typeface="Meiryo" pitchFamily="34" charset="-120"/>
              </a:rPr>
              <a:t>2</a:t>
            </a:r>
            <a:r>
              <a:rPr lang="ja-JP" altLang="en-US" sz="1400" dirty="0">
                <a:solidFill>
                  <a:srgbClr val="334155"/>
                </a:solidFill>
                <a:latin typeface="Meiryo" pitchFamily="34" charset="0"/>
                <a:ea typeface="Meiryo" pitchFamily="34" charset="-122"/>
                <a:cs typeface="Meiryo" pitchFamily="34" charset="-120"/>
              </a:rPr>
              <a:t>次元ピースワイズ</a:t>
            </a:r>
            <a:r>
              <a:rPr lang="en-US" sz="1400" dirty="0">
                <a:solidFill>
                  <a:srgbClr val="334155"/>
                </a:solidFill>
                <a:latin typeface="Meiryo" pitchFamily="34" charset="0"/>
                <a:ea typeface="Meiryo" pitchFamily="34" charset="-122"/>
                <a:cs typeface="Meiryo" pitchFamily="34" charset="-120"/>
              </a:rPr>
              <a:t>（DoD×SOC）</a:t>
            </a:r>
            <a:endParaRPr lang="en-US" sz="1400" dirty="0"/>
          </a:p>
        </p:txBody>
      </p:sp>
      <p:sp>
        <p:nvSpPr>
          <p:cNvPr id="4" name="Shape 2"/>
          <p:cNvSpPr/>
          <p:nvPr/>
        </p:nvSpPr>
        <p:spPr>
          <a:xfrm>
            <a:off x="548640" y="1115568"/>
            <a:ext cx="11094415" cy="0"/>
          </a:xfrm>
          <a:prstGeom prst="line">
            <a:avLst/>
          </a:prstGeom>
          <a:noFill/>
          <a:ln w="12700">
            <a:solidFill>
              <a:srgbClr val="E2E8F0"/>
            </a:solidFill>
            <a:prstDash val="solid"/>
          </a:ln>
        </p:spPr>
        <p:txBody>
          <a:bodyPr/>
          <a:lstStyle/>
          <a:p>
            <a:endParaRPr lang="ja-JP" altLang="en-US"/>
          </a:p>
        </p:txBody>
      </p:sp>
      <p:sp>
        <p:nvSpPr>
          <p:cNvPr id="5" name="Shape 3"/>
          <p:cNvSpPr/>
          <p:nvPr/>
        </p:nvSpPr>
        <p:spPr>
          <a:xfrm>
            <a:off x="548640" y="1417320"/>
            <a:ext cx="6035040" cy="3383280"/>
          </a:xfrm>
          <a:prstGeom prst="rect">
            <a:avLst/>
          </a:prstGeom>
          <a:solidFill>
            <a:srgbClr val="F8FAFC"/>
          </a:solidFill>
          <a:ln w="12700">
            <a:solidFill>
              <a:srgbClr val="E2E8F0"/>
            </a:solidFill>
            <a:prstDash val="solid"/>
          </a:ln>
        </p:spPr>
        <p:txBody>
          <a:bodyPr/>
          <a:lstStyle/>
          <a:p>
            <a:endParaRPr lang="ja-JP" altLang="en-US"/>
          </a:p>
        </p:txBody>
      </p:sp>
      <p:pic>
        <p:nvPicPr>
          <p:cNvPr id="6" name="Image 0" descr="/mnt/data/ppt_assets/fig_piecewise1d.png"/>
          <p:cNvPicPr>
            <a:picLocks noChangeAspect="1"/>
          </p:cNvPicPr>
          <p:nvPr/>
        </p:nvPicPr>
        <p:blipFill>
          <a:blip r:embed="rId3"/>
          <a:srcRect l="10934" t="14647" r="16111" b="3922"/>
          <a:stretch>
            <a:fillRect/>
          </a:stretch>
        </p:blipFill>
        <p:spPr>
          <a:xfrm>
            <a:off x="712240" y="1503498"/>
            <a:ext cx="5688558" cy="2620446"/>
          </a:xfrm>
          <a:prstGeom prst="rect">
            <a:avLst/>
          </a:prstGeom>
        </p:spPr>
      </p:pic>
      <p:sp>
        <p:nvSpPr>
          <p:cNvPr id="7" name="Text 4"/>
          <p:cNvSpPr/>
          <p:nvPr/>
        </p:nvSpPr>
        <p:spPr>
          <a:xfrm>
            <a:off x="777240" y="4434840"/>
            <a:ext cx="5577840" cy="274320"/>
          </a:xfrm>
          <a:prstGeom prst="rect">
            <a:avLst/>
          </a:prstGeom>
          <a:noFill/>
          <a:ln/>
        </p:spPr>
        <p:txBody>
          <a:bodyPr wrap="square" rtlCol="0" anchor="ctr"/>
          <a:lstStyle/>
          <a:p>
            <a:pPr marL="0" indent="0">
              <a:buNone/>
            </a:pPr>
            <a:r>
              <a:rPr lang="en-US" sz="1200" dirty="0">
                <a:solidFill>
                  <a:srgbClr val="334155"/>
                </a:solidFill>
                <a:latin typeface="Meiryo" pitchFamily="34" charset="0"/>
                <a:ea typeface="Meiryo" pitchFamily="34" charset="-122"/>
                <a:cs typeface="Meiryo" pitchFamily="34" charset="-120"/>
              </a:rPr>
              <a:t>一次元ピースワイズの例（概念図）</a:t>
            </a:r>
            <a:endParaRPr lang="en-US" sz="1200" dirty="0"/>
          </a:p>
        </p:txBody>
      </p:sp>
      <p:sp>
        <p:nvSpPr>
          <p:cNvPr id="8" name="Shape 5"/>
          <p:cNvSpPr/>
          <p:nvPr/>
        </p:nvSpPr>
        <p:spPr>
          <a:xfrm>
            <a:off x="6583679" y="1417320"/>
            <a:ext cx="5196535" cy="1874520"/>
          </a:xfrm>
          <a:prstGeom prst="rect">
            <a:avLst/>
          </a:prstGeom>
          <a:solidFill>
            <a:srgbClr val="F8FAFC"/>
          </a:solidFill>
          <a:ln w="12700">
            <a:solidFill>
              <a:srgbClr val="E2E8F0"/>
            </a:solidFill>
            <a:prstDash val="solid"/>
          </a:ln>
          <a:effectLst>
            <a:outerShdw blurRad="38100" dist="19050" dir="2700000" algn="bl" rotWithShape="0">
              <a:srgbClr val="000000">
                <a:alpha val="12000"/>
              </a:srgbClr>
            </a:outerShdw>
          </a:effectLst>
        </p:spPr>
        <p:txBody>
          <a:bodyPr/>
          <a:lstStyle/>
          <a:p>
            <a:endParaRPr lang="ja-JP" altLang="en-US"/>
          </a:p>
        </p:txBody>
      </p:sp>
      <p:sp>
        <p:nvSpPr>
          <p:cNvPr id="9" name="Text 6"/>
          <p:cNvSpPr/>
          <p:nvPr/>
        </p:nvSpPr>
        <p:spPr>
          <a:xfrm>
            <a:off x="6720840" y="1618488"/>
            <a:ext cx="4647895" cy="320040"/>
          </a:xfrm>
          <a:prstGeom prst="rect">
            <a:avLst/>
          </a:prstGeom>
          <a:noFill/>
          <a:ln/>
        </p:spPr>
        <p:txBody>
          <a:bodyPr wrap="square" rtlCol="0" anchor="ctr"/>
          <a:lstStyle/>
          <a:p>
            <a:pPr marL="0" indent="0">
              <a:buNone/>
            </a:pPr>
            <a:r>
              <a:rPr lang="en-US" sz="1400" b="1" dirty="0">
                <a:solidFill>
                  <a:srgbClr val="334155"/>
                </a:solidFill>
                <a:latin typeface="Meiryo" pitchFamily="34" charset="0"/>
                <a:ea typeface="Meiryo" pitchFamily="34" charset="-122"/>
                <a:cs typeface="Meiryo" pitchFamily="34" charset="-120"/>
              </a:rPr>
              <a:t>Case 1：一次元（DoDのみ）</a:t>
            </a:r>
            <a:endParaRPr lang="en-US" sz="1400" dirty="0"/>
          </a:p>
        </p:txBody>
      </p:sp>
      <p:sp>
        <p:nvSpPr>
          <p:cNvPr id="10" name="Text 7"/>
          <p:cNvSpPr/>
          <p:nvPr/>
        </p:nvSpPr>
        <p:spPr>
          <a:xfrm>
            <a:off x="6766560" y="1984248"/>
            <a:ext cx="4556455" cy="1124712"/>
          </a:xfrm>
          <a:prstGeom prst="rect">
            <a:avLst/>
          </a:prstGeom>
          <a:noFill/>
          <a:ln/>
        </p:spPr>
        <p:txBody>
          <a:bodyPr wrap="square" rtlCol="0" anchor="t"/>
          <a:lstStyle/>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劣化を DoD の関数として区分線形近似</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区間到達をバイナリ変数で表し、増分変数で再構成</a:t>
            </a:r>
            <a:endParaRPr lang="en-US" sz="1600" dirty="0"/>
          </a:p>
        </p:txBody>
      </p:sp>
      <p:sp>
        <p:nvSpPr>
          <p:cNvPr id="11" name="Shape 8"/>
          <p:cNvSpPr/>
          <p:nvPr/>
        </p:nvSpPr>
        <p:spPr>
          <a:xfrm>
            <a:off x="6583678" y="3291840"/>
            <a:ext cx="5196535" cy="2697480"/>
          </a:xfrm>
          <a:prstGeom prst="rect">
            <a:avLst/>
          </a:prstGeom>
          <a:solidFill>
            <a:srgbClr val="F8FAFC"/>
          </a:solidFill>
          <a:ln w="12700">
            <a:solidFill>
              <a:srgbClr val="E2E8F0"/>
            </a:solidFill>
            <a:prstDash val="solid"/>
          </a:ln>
          <a:effectLst>
            <a:outerShdw blurRad="38100" dist="19050" dir="2700000" algn="bl" rotWithShape="0">
              <a:srgbClr val="000000">
                <a:alpha val="12000"/>
              </a:srgbClr>
            </a:outerShdw>
          </a:effectLst>
        </p:spPr>
        <p:txBody>
          <a:bodyPr/>
          <a:lstStyle/>
          <a:p>
            <a:endParaRPr lang="ja-JP" altLang="en-US"/>
          </a:p>
        </p:txBody>
      </p:sp>
      <p:sp>
        <p:nvSpPr>
          <p:cNvPr id="12" name="Text 9"/>
          <p:cNvSpPr/>
          <p:nvPr/>
        </p:nvSpPr>
        <p:spPr>
          <a:xfrm>
            <a:off x="6720840" y="3630168"/>
            <a:ext cx="4647895" cy="320040"/>
          </a:xfrm>
          <a:prstGeom prst="rect">
            <a:avLst/>
          </a:prstGeom>
          <a:noFill/>
          <a:ln/>
        </p:spPr>
        <p:txBody>
          <a:bodyPr wrap="square" rtlCol="0" anchor="ctr"/>
          <a:lstStyle/>
          <a:p>
            <a:pPr marL="0" indent="0">
              <a:buNone/>
            </a:pPr>
            <a:r>
              <a:rPr lang="en-US" sz="1400" b="1" dirty="0">
                <a:solidFill>
                  <a:srgbClr val="334155"/>
                </a:solidFill>
                <a:latin typeface="Meiryo" pitchFamily="34" charset="0"/>
                <a:ea typeface="Meiryo" pitchFamily="34" charset="-122"/>
                <a:cs typeface="Meiryo" pitchFamily="34" charset="-120"/>
              </a:rPr>
              <a:t>Case 2：二次元（DoD×SOC）</a:t>
            </a:r>
            <a:endParaRPr lang="en-US" sz="1400" dirty="0"/>
          </a:p>
        </p:txBody>
      </p:sp>
      <p:sp>
        <p:nvSpPr>
          <p:cNvPr id="13" name="Text 10"/>
          <p:cNvSpPr/>
          <p:nvPr/>
        </p:nvSpPr>
        <p:spPr>
          <a:xfrm>
            <a:off x="6766560" y="3995928"/>
            <a:ext cx="4556455" cy="1947672"/>
          </a:xfrm>
          <a:prstGeom prst="rect">
            <a:avLst/>
          </a:prstGeom>
          <a:noFill/>
          <a:ln/>
        </p:spPr>
        <p:txBody>
          <a:bodyPr wrap="square" rtlCol="0" anchor="t"/>
          <a:lstStyle/>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DoD軸・SOC軸を各10分割し、10×10セルで近似</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セル選択（バイナリ）＋補助変数でAND条件を線形化</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SOC水準の違いによる劣化感度を反映できる</a:t>
            </a:r>
            <a:endParaRPr lang="en-US" sz="1600" dirty="0"/>
          </a:p>
        </p:txBody>
      </p:sp>
      <p:sp>
        <p:nvSpPr>
          <p:cNvPr id="14" name="テキスト ボックス 13">
            <a:extLst>
              <a:ext uri="{FF2B5EF4-FFF2-40B4-BE49-F238E27FC236}">
                <a16:creationId xmlns:a16="http://schemas.microsoft.com/office/drawing/2014/main" id="{A3FC3303-7DD6-08D8-8673-A3CA1DAB07C7}"/>
              </a:ext>
            </a:extLst>
          </p:cNvPr>
          <p:cNvSpPr txBox="1"/>
          <p:nvPr/>
        </p:nvSpPr>
        <p:spPr>
          <a:xfrm>
            <a:off x="11780214" y="6364014"/>
            <a:ext cx="280407" cy="369332"/>
          </a:xfrm>
          <a:prstGeom prst="rect">
            <a:avLst/>
          </a:prstGeom>
          <a:noFill/>
        </p:spPr>
        <p:txBody>
          <a:bodyPr wrap="square" rtlCol="0">
            <a:spAutoFit/>
          </a:bodyPr>
          <a:lstStyle/>
          <a:p>
            <a:r>
              <a:rPr kumimoji="1" lang="en-US" altLang="ja-JP" dirty="0"/>
              <a:t>7</a:t>
            </a:r>
            <a:endParaRPr kumimoji="1" lang="ja-JP"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457200"/>
          </a:xfrm>
          <a:prstGeom prst="rect">
            <a:avLst/>
          </a:prstGeom>
          <a:noFill/>
          <a:ln/>
        </p:spPr>
        <p:txBody>
          <a:bodyPr wrap="square" rtlCol="0" anchor="ctr"/>
          <a:lstStyle/>
          <a:p>
            <a:pPr marL="0" indent="0">
              <a:buNone/>
            </a:pPr>
            <a:r>
              <a:rPr lang="en-US" sz="2800" b="1" dirty="0" err="1">
                <a:solidFill>
                  <a:srgbClr val="0B1220"/>
                </a:solidFill>
                <a:latin typeface="Meiryo" pitchFamily="34" charset="0"/>
                <a:ea typeface="Meiryo" pitchFamily="34" charset="-122"/>
                <a:cs typeface="Meiryo" pitchFamily="34" charset="-120"/>
              </a:rPr>
              <a:t>主な制約</a:t>
            </a:r>
            <a:endParaRPr lang="en-US" sz="2800" dirty="0"/>
          </a:p>
        </p:txBody>
      </p:sp>
      <p:sp>
        <p:nvSpPr>
          <p:cNvPr id="3" name="Text 1"/>
          <p:cNvSpPr/>
          <p:nvPr/>
        </p:nvSpPr>
        <p:spPr>
          <a:xfrm>
            <a:off x="548640" y="786384"/>
            <a:ext cx="11094415" cy="320040"/>
          </a:xfrm>
          <a:prstGeom prst="rect">
            <a:avLst/>
          </a:prstGeom>
          <a:noFill/>
          <a:ln/>
        </p:spPr>
        <p:txBody>
          <a:bodyPr wrap="square" rtlCol="0" anchor="ctr"/>
          <a:lstStyle/>
          <a:p>
            <a:pPr marL="0" indent="0">
              <a:buNone/>
            </a:pPr>
            <a:r>
              <a:rPr lang="en-US" sz="1400" dirty="0">
                <a:solidFill>
                  <a:srgbClr val="334155"/>
                </a:solidFill>
                <a:latin typeface="Meiryo" pitchFamily="34" charset="0"/>
                <a:ea typeface="Meiryo" pitchFamily="34" charset="-122"/>
                <a:cs typeface="Meiryo" pitchFamily="34" charset="-120"/>
              </a:rPr>
              <a:t>SOCダイナミクス／容量配分／運用モード</a:t>
            </a:r>
            <a:endParaRPr lang="en-US" sz="1400" dirty="0"/>
          </a:p>
        </p:txBody>
      </p:sp>
      <p:sp>
        <p:nvSpPr>
          <p:cNvPr id="4" name="Shape 2"/>
          <p:cNvSpPr/>
          <p:nvPr/>
        </p:nvSpPr>
        <p:spPr>
          <a:xfrm>
            <a:off x="548640" y="1115568"/>
            <a:ext cx="11094415" cy="0"/>
          </a:xfrm>
          <a:prstGeom prst="line">
            <a:avLst/>
          </a:prstGeom>
          <a:noFill/>
          <a:ln w="12700">
            <a:solidFill>
              <a:srgbClr val="E2E8F0"/>
            </a:solidFill>
            <a:prstDash val="solid"/>
          </a:ln>
        </p:spPr>
        <p:txBody>
          <a:bodyPr/>
          <a:lstStyle/>
          <a:p>
            <a:endParaRPr lang="ja-JP" altLang="en-US"/>
          </a:p>
        </p:txBody>
      </p:sp>
      <p:sp>
        <p:nvSpPr>
          <p:cNvPr id="5" name="Shape 3"/>
          <p:cNvSpPr/>
          <p:nvPr/>
        </p:nvSpPr>
        <p:spPr>
          <a:xfrm>
            <a:off x="548640" y="1417320"/>
            <a:ext cx="5852160" cy="2240280"/>
          </a:xfrm>
          <a:prstGeom prst="rect">
            <a:avLst/>
          </a:prstGeom>
          <a:solidFill>
            <a:srgbClr val="F8FAFC"/>
          </a:solidFill>
          <a:ln w="12700">
            <a:solidFill>
              <a:srgbClr val="E2E8F0"/>
            </a:solidFill>
            <a:prstDash val="solid"/>
          </a:ln>
          <a:effectLst>
            <a:outerShdw blurRad="38100" dist="19050" dir="2700000" algn="bl" rotWithShape="0">
              <a:srgbClr val="000000">
                <a:alpha val="12000"/>
              </a:srgbClr>
            </a:outerShdw>
          </a:effectLst>
        </p:spPr>
        <p:txBody>
          <a:bodyPr/>
          <a:lstStyle/>
          <a:p>
            <a:endParaRPr lang="ja-JP" altLang="en-US"/>
          </a:p>
        </p:txBody>
      </p:sp>
      <p:sp>
        <p:nvSpPr>
          <p:cNvPr id="6" name="Text 4"/>
          <p:cNvSpPr/>
          <p:nvPr/>
        </p:nvSpPr>
        <p:spPr>
          <a:xfrm>
            <a:off x="822960" y="1618488"/>
            <a:ext cx="5303520" cy="320040"/>
          </a:xfrm>
          <a:prstGeom prst="rect">
            <a:avLst/>
          </a:prstGeom>
          <a:noFill/>
          <a:ln/>
        </p:spPr>
        <p:txBody>
          <a:bodyPr wrap="square" rtlCol="0" anchor="ctr"/>
          <a:lstStyle/>
          <a:p>
            <a:pPr marL="0" indent="0">
              <a:buNone/>
            </a:pPr>
            <a:r>
              <a:rPr lang="en-US" sz="1400" b="1" dirty="0">
                <a:solidFill>
                  <a:srgbClr val="334155"/>
                </a:solidFill>
                <a:latin typeface="Meiryo" pitchFamily="34" charset="0"/>
                <a:ea typeface="Meiryo" pitchFamily="34" charset="-122"/>
                <a:cs typeface="Meiryo" pitchFamily="34" charset="-120"/>
              </a:rPr>
              <a:t>SOC ダイナミクス</a:t>
            </a:r>
            <a:endParaRPr lang="en-US" sz="1400" dirty="0"/>
          </a:p>
        </p:txBody>
      </p:sp>
      <mc:AlternateContent xmlns:mc="http://schemas.openxmlformats.org/markup-compatibility/2006" xmlns:a14="http://schemas.microsoft.com/office/drawing/2010/main">
        <mc:Choice Requires="a14">
          <p:sp>
            <p:nvSpPr>
              <p:cNvPr id="7" name="Text 5"/>
              <p:cNvSpPr/>
              <p:nvPr/>
            </p:nvSpPr>
            <p:spPr>
              <a:xfrm>
                <a:off x="868680" y="1984248"/>
                <a:ext cx="5212080" cy="1490472"/>
              </a:xfrm>
              <a:prstGeom prst="rect">
                <a:avLst/>
              </a:prstGeom>
              <a:noFill/>
              <a:ln/>
            </p:spPr>
            <p:txBody>
              <a:bodyPr wrap="square" rtlCol="0" anchor="t"/>
              <a:lstStyle/>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用途別の状態量 </a:t>
                </a:r>
                <a14:m>
                  <m:oMath xmlns:m="http://schemas.openxmlformats.org/officeDocument/2006/math">
                    <m:sSub>
                      <m:sSubPr>
                        <m:ctrlPr>
                          <a:rPr lang="en-US" sz="1600" i="1" dirty="0" smtClean="0">
                            <a:solidFill>
                              <a:srgbClr val="0B1220"/>
                            </a:solidFill>
                            <a:latin typeface="Cambria Math" panose="02040503050406030204" pitchFamily="18" charset="0"/>
                            <a:ea typeface="Meiryo" pitchFamily="34" charset="-122"/>
                            <a:cs typeface="Meiryo" pitchFamily="34" charset="-120"/>
                          </a:rPr>
                        </m:ctrlPr>
                      </m:sSubPr>
                      <m:e>
                        <m:r>
                          <a:rPr lang="en-US" sz="1600" i="1" dirty="0" smtClean="0">
                            <a:solidFill>
                              <a:srgbClr val="0B1220"/>
                            </a:solidFill>
                            <a:latin typeface="Cambria Math" panose="02040503050406030204" pitchFamily="18" charset="0"/>
                            <a:ea typeface="Meiryo" pitchFamily="34" charset="-122"/>
                            <a:cs typeface="Meiryo" pitchFamily="34" charset="-120"/>
                          </a:rPr>
                          <m:t>𝑄</m:t>
                        </m:r>
                      </m:e>
                      <m:sub>
                        <m:r>
                          <a:rPr lang="en-US" sz="1600" i="1" dirty="0" smtClean="0">
                            <a:solidFill>
                              <a:srgbClr val="0B1220"/>
                            </a:solidFill>
                            <a:latin typeface="Cambria Math" panose="02040503050406030204" pitchFamily="18" charset="0"/>
                            <a:ea typeface="Meiryo" pitchFamily="34" charset="-122"/>
                            <a:cs typeface="Meiryo" pitchFamily="34" charset="-120"/>
                          </a:rPr>
                          <m:t>𝑠</m:t>
                        </m:r>
                      </m:sub>
                    </m:sSub>
                    <m:d>
                      <m:dPr>
                        <m:begChr m:val="["/>
                        <m:endChr m:val="]"/>
                        <m:ctrlPr>
                          <a:rPr lang="en-US" sz="1600" i="1" dirty="0" smtClean="0">
                            <a:solidFill>
                              <a:srgbClr val="0B1220"/>
                            </a:solidFill>
                            <a:latin typeface="Cambria Math" panose="02040503050406030204" pitchFamily="18" charset="0"/>
                            <a:ea typeface="Meiryo" pitchFamily="34" charset="-122"/>
                            <a:cs typeface="Meiryo" pitchFamily="34" charset="-120"/>
                          </a:rPr>
                        </m:ctrlPr>
                      </m:dPr>
                      <m:e>
                        <m:r>
                          <a:rPr lang="en-US" sz="1600" i="1" dirty="0" smtClean="0">
                            <a:solidFill>
                              <a:srgbClr val="0B1220"/>
                            </a:solidFill>
                            <a:latin typeface="Cambria Math" panose="02040503050406030204" pitchFamily="18" charset="0"/>
                            <a:ea typeface="Meiryo" pitchFamily="34" charset="-122"/>
                            <a:cs typeface="Meiryo" pitchFamily="34" charset="-120"/>
                          </a:rPr>
                          <m:t>𝑡</m:t>
                        </m:r>
                      </m:e>
                    </m:d>
                    <m:r>
                      <a:rPr lang="en-US" sz="1600" i="1" dirty="0" smtClean="0">
                        <a:solidFill>
                          <a:srgbClr val="0B1220"/>
                        </a:solidFill>
                        <a:latin typeface="Cambria Math" panose="02040503050406030204" pitchFamily="18" charset="0"/>
                        <a:ea typeface="Meiryo" pitchFamily="34" charset="-122"/>
                        <a:cs typeface="Meiryo" pitchFamily="34" charset="-120"/>
                      </a:rPr>
                      <m:t>,</m:t>
                    </m:r>
                    <m:sSub>
                      <m:sSubPr>
                        <m:ctrlPr>
                          <a:rPr lang="en-US" sz="1600" i="1" dirty="0" smtClean="0">
                            <a:solidFill>
                              <a:srgbClr val="0B1220"/>
                            </a:solidFill>
                            <a:latin typeface="Cambria Math" panose="02040503050406030204" pitchFamily="18" charset="0"/>
                            <a:ea typeface="Meiryo" pitchFamily="34" charset="-122"/>
                            <a:cs typeface="Meiryo" pitchFamily="34" charset="-120"/>
                          </a:rPr>
                        </m:ctrlPr>
                      </m:sSubPr>
                      <m:e>
                        <m:r>
                          <a:rPr lang="en-US" sz="1600" i="1" dirty="0" smtClean="0">
                            <a:solidFill>
                              <a:srgbClr val="0B1220"/>
                            </a:solidFill>
                            <a:latin typeface="Cambria Math" panose="02040503050406030204" pitchFamily="18" charset="0"/>
                            <a:ea typeface="Meiryo" pitchFamily="34" charset="-122"/>
                            <a:cs typeface="Meiryo" pitchFamily="34" charset="-120"/>
                          </a:rPr>
                          <m:t>𝑄</m:t>
                        </m:r>
                      </m:e>
                      <m:sub>
                        <m:r>
                          <a:rPr lang="en-US" sz="1600" i="1" dirty="0" smtClean="0">
                            <a:solidFill>
                              <a:srgbClr val="0B1220"/>
                            </a:solidFill>
                            <a:latin typeface="Cambria Math" panose="02040503050406030204" pitchFamily="18" charset="0"/>
                            <a:ea typeface="Meiryo" pitchFamily="34" charset="-122"/>
                            <a:cs typeface="Meiryo" pitchFamily="34" charset="-120"/>
                          </a:rPr>
                          <m:t>𝑟</m:t>
                        </m:r>
                      </m:sub>
                    </m:sSub>
                    <m:d>
                      <m:dPr>
                        <m:begChr m:val="["/>
                        <m:endChr m:val="]"/>
                        <m:ctrlPr>
                          <a:rPr lang="en-US" sz="1600" i="1" dirty="0" smtClean="0">
                            <a:solidFill>
                              <a:srgbClr val="0B1220"/>
                            </a:solidFill>
                            <a:latin typeface="Cambria Math" panose="02040503050406030204" pitchFamily="18" charset="0"/>
                            <a:ea typeface="Meiryo" pitchFamily="34" charset="-122"/>
                            <a:cs typeface="Meiryo" pitchFamily="34" charset="-120"/>
                          </a:rPr>
                        </m:ctrlPr>
                      </m:dPr>
                      <m:e>
                        <m:r>
                          <a:rPr lang="en-US" sz="1600" i="1" dirty="0" smtClean="0">
                            <a:solidFill>
                              <a:srgbClr val="0B1220"/>
                            </a:solidFill>
                            <a:latin typeface="Cambria Math" panose="02040503050406030204" pitchFamily="18" charset="0"/>
                            <a:ea typeface="Meiryo" pitchFamily="34" charset="-122"/>
                            <a:cs typeface="Meiryo" pitchFamily="34" charset="-120"/>
                          </a:rPr>
                          <m:t>𝑡</m:t>
                        </m:r>
                      </m:e>
                    </m:d>
                    <m:r>
                      <a:rPr lang="en-US" sz="1600" i="1" dirty="0" smtClean="0">
                        <a:solidFill>
                          <a:srgbClr val="0B1220"/>
                        </a:solidFill>
                        <a:latin typeface="Cambria Math" panose="02040503050406030204" pitchFamily="18" charset="0"/>
                        <a:ea typeface="Meiryo" pitchFamily="34" charset="-122"/>
                        <a:cs typeface="Meiryo" pitchFamily="34" charset="-120"/>
                      </a:rPr>
                      <m:t>,</m:t>
                    </m:r>
                    <m:sSub>
                      <m:sSubPr>
                        <m:ctrlPr>
                          <a:rPr lang="en-US" altLang="ja-JP" sz="1600" i="1" dirty="0" smtClean="0">
                            <a:solidFill>
                              <a:srgbClr val="0B1220"/>
                            </a:solidFill>
                            <a:latin typeface="Cambria Math" panose="02040503050406030204" pitchFamily="18" charset="0"/>
                            <a:ea typeface="Meiryo" pitchFamily="34" charset="-122"/>
                          </a:rPr>
                        </m:ctrlPr>
                      </m:sSubPr>
                      <m:e>
                        <m:r>
                          <a:rPr lang="en-US" altLang="ja-JP" sz="1600" i="1" dirty="0" smtClean="0">
                            <a:solidFill>
                              <a:srgbClr val="0B1220"/>
                            </a:solidFill>
                            <a:latin typeface="Cambria Math" panose="02040503050406030204" pitchFamily="18" charset="0"/>
                            <a:ea typeface="Meiryo" pitchFamily="34" charset="-122"/>
                          </a:rPr>
                          <m:t>𝑄</m:t>
                        </m:r>
                      </m:e>
                      <m:sub>
                        <m:r>
                          <a:rPr lang="en-US" altLang="ja-JP" sz="1600" i="1" dirty="0" smtClean="0">
                            <a:solidFill>
                              <a:srgbClr val="0B1220"/>
                            </a:solidFill>
                            <a:latin typeface="Cambria Math" panose="02040503050406030204" pitchFamily="18" charset="0"/>
                            <a:ea typeface="Meiryo" pitchFamily="34" charset="-122"/>
                          </a:rPr>
                          <m:t>𝑟</m:t>
                        </m:r>
                        <m:r>
                          <a:rPr lang="en-US" sz="1600" i="1" dirty="0" smtClean="0">
                            <a:solidFill>
                              <a:srgbClr val="0B1220"/>
                            </a:solidFill>
                            <a:latin typeface="Cambria Math" panose="02040503050406030204" pitchFamily="18" charset="0"/>
                            <a:ea typeface="Meiryo" pitchFamily="34" charset="-122"/>
                            <a:cs typeface="Meiryo" pitchFamily="34" charset="-120"/>
                          </a:rPr>
                          <m:t>2</m:t>
                        </m:r>
                      </m:sub>
                    </m:sSub>
                    <m:d>
                      <m:dPr>
                        <m:begChr m:val="["/>
                        <m:endChr m:val="]"/>
                        <m:ctrlPr>
                          <a:rPr lang="en-US" sz="1600" i="1" dirty="0" smtClean="0">
                            <a:solidFill>
                              <a:srgbClr val="0B1220"/>
                            </a:solidFill>
                            <a:latin typeface="Cambria Math" panose="02040503050406030204" pitchFamily="18" charset="0"/>
                            <a:ea typeface="Meiryo" pitchFamily="34" charset="-122"/>
                            <a:cs typeface="Meiryo" pitchFamily="34" charset="-120"/>
                          </a:rPr>
                        </m:ctrlPr>
                      </m:dPr>
                      <m:e>
                        <m:r>
                          <a:rPr lang="en-US" sz="1600" i="1" dirty="0" smtClean="0">
                            <a:solidFill>
                              <a:srgbClr val="0B1220"/>
                            </a:solidFill>
                            <a:latin typeface="Cambria Math" panose="02040503050406030204" pitchFamily="18" charset="0"/>
                            <a:ea typeface="Meiryo" pitchFamily="34" charset="-122"/>
                            <a:cs typeface="Meiryo" pitchFamily="34" charset="-120"/>
                          </a:rPr>
                          <m:t>𝑡</m:t>
                        </m:r>
                      </m:e>
                    </m:d>
                  </m:oMath>
                </a14:m>
                <a:r>
                  <a:rPr lang="en-US" sz="1600" dirty="0">
                    <a:solidFill>
                      <a:srgbClr val="0B1220"/>
                    </a:solidFill>
                    <a:latin typeface="Meiryo" pitchFamily="34" charset="0"/>
                    <a:ea typeface="Meiryo" pitchFamily="34" charset="-122"/>
                    <a:cs typeface="Meiryo" pitchFamily="34" charset="-120"/>
                  </a:rPr>
                  <a:t>を更新式で管理</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PCS効率 </a:t>
                </a:r>
                <a14:m>
                  <m:oMath xmlns:m="http://schemas.openxmlformats.org/officeDocument/2006/math">
                    <m:sSub>
                      <m:sSubPr>
                        <m:ctrlPr>
                          <a:rPr lang="en-US" sz="1600" i="1" dirty="0" smtClean="0">
                            <a:solidFill>
                              <a:srgbClr val="0B1220"/>
                            </a:solidFill>
                            <a:latin typeface="Cambria Math" panose="02040503050406030204" pitchFamily="18" charset="0"/>
                            <a:ea typeface="Meiryo" pitchFamily="34" charset="-122"/>
                            <a:cs typeface="Meiryo" pitchFamily="34" charset="-120"/>
                          </a:rPr>
                        </m:ctrlPr>
                      </m:sSubPr>
                      <m:e>
                        <m:r>
                          <a:rPr lang="en-US" sz="1600" i="1" dirty="0" smtClean="0">
                            <a:solidFill>
                              <a:srgbClr val="0B1220"/>
                            </a:solidFill>
                            <a:latin typeface="Cambria Math" panose="02040503050406030204" pitchFamily="18" charset="0"/>
                            <a:ea typeface="Meiryo" pitchFamily="34" charset="-122"/>
                            <a:cs typeface="Meiryo" pitchFamily="34" charset="-120"/>
                          </a:rPr>
                          <m:t>𝜂</m:t>
                        </m:r>
                      </m:e>
                      <m:sub>
                        <m:r>
                          <a:rPr lang="en-US" sz="1600" i="1" dirty="0" smtClean="0">
                            <a:solidFill>
                              <a:srgbClr val="0B1220"/>
                            </a:solidFill>
                            <a:latin typeface="Cambria Math" panose="02040503050406030204" pitchFamily="18" charset="0"/>
                            <a:ea typeface="Meiryo" pitchFamily="34" charset="-122"/>
                            <a:cs typeface="Meiryo" pitchFamily="34" charset="-120"/>
                          </a:rPr>
                          <m:t>𝑝𝑐𝑠</m:t>
                        </m:r>
                      </m:sub>
                    </m:sSub>
                  </m:oMath>
                </a14:m>
                <a:r>
                  <a:rPr lang="en-US" sz="1600" dirty="0">
                    <a:solidFill>
                      <a:srgbClr val="0B1220"/>
                    </a:solidFill>
                    <a:latin typeface="Meiryo" pitchFamily="34" charset="0"/>
                    <a:ea typeface="Meiryo" pitchFamily="34" charset="-122"/>
                    <a:cs typeface="Meiryo" pitchFamily="34" charset="-120"/>
                  </a:rPr>
                  <a:t>と電池効率 </a:t>
                </a:r>
                <a14:m>
                  <m:oMath xmlns:m="http://schemas.openxmlformats.org/officeDocument/2006/math">
                    <m:sSub>
                      <m:sSubPr>
                        <m:ctrlPr>
                          <a:rPr lang="en-US" sz="1600" i="1" dirty="0" smtClean="0">
                            <a:solidFill>
                              <a:srgbClr val="0B1220"/>
                            </a:solidFill>
                            <a:latin typeface="Cambria Math" panose="02040503050406030204" pitchFamily="18" charset="0"/>
                            <a:ea typeface="Meiryo" pitchFamily="34" charset="-122"/>
                            <a:cs typeface="Meiryo" pitchFamily="34" charset="-120"/>
                          </a:rPr>
                        </m:ctrlPr>
                      </m:sSubPr>
                      <m:e>
                        <m:r>
                          <a:rPr lang="en-US" sz="1600" i="1" dirty="0" smtClean="0">
                            <a:solidFill>
                              <a:srgbClr val="0B1220"/>
                            </a:solidFill>
                            <a:latin typeface="Cambria Math" panose="02040503050406030204" pitchFamily="18" charset="0"/>
                            <a:ea typeface="Meiryo" pitchFamily="34" charset="-122"/>
                            <a:cs typeface="Meiryo" pitchFamily="34" charset="-120"/>
                          </a:rPr>
                          <m:t>𝜂</m:t>
                        </m:r>
                      </m:e>
                      <m:sub>
                        <m:r>
                          <a:rPr lang="en-US" sz="1600" i="1" dirty="0" smtClean="0">
                            <a:solidFill>
                              <a:srgbClr val="0B1220"/>
                            </a:solidFill>
                            <a:latin typeface="Cambria Math" panose="02040503050406030204" pitchFamily="18" charset="0"/>
                            <a:ea typeface="Meiryo" pitchFamily="34" charset="-122"/>
                            <a:cs typeface="Meiryo" pitchFamily="34" charset="-120"/>
                          </a:rPr>
                          <m:t>𝑏𝑎𝑡</m:t>
                        </m:r>
                      </m:sub>
                    </m:sSub>
                  </m:oMath>
                </a14:m>
                <a:r>
                  <a:rPr lang="en-US" sz="1600" dirty="0">
                    <a:solidFill>
                      <a:srgbClr val="0B1220"/>
                    </a:solidFill>
                    <a:latin typeface="Meiryo" pitchFamily="34" charset="0"/>
                    <a:ea typeface="Meiryo" pitchFamily="34" charset="-122"/>
                    <a:cs typeface="Meiryo" pitchFamily="34" charset="-120"/>
                  </a:rPr>
                  <a:t>を考慮してエネルギー収支を記述</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ブロック提供電力（kW）を </a:t>
                </a:r>
                <a14:m>
                  <m:oMath xmlns:m="http://schemas.openxmlformats.org/officeDocument/2006/math">
                    <m:r>
                      <m:rPr>
                        <m:sty m:val="p"/>
                      </m:rPr>
                      <a:rPr lang="en-US" sz="1600" i="0" dirty="0" smtClean="0">
                        <a:solidFill>
                          <a:srgbClr val="0B1220"/>
                        </a:solidFill>
                        <a:latin typeface="Cambria Math" panose="02040503050406030204" pitchFamily="18" charset="0"/>
                        <a:ea typeface="Meiryo" pitchFamily="34" charset="-122"/>
                        <a:cs typeface="Meiryo" pitchFamily="34" charset="-120"/>
                      </a:rPr>
                      <m:t>Δ</m:t>
                    </m:r>
                    <m:r>
                      <a:rPr lang="en-US" sz="1600" i="1" dirty="0">
                        <a:solidFill>
                          <a:srgbClr val="0B1220"/>
                        </a:solidFill>
                        <a:latin typeface="Cambria Math" panose="02040503050406030204" pitchFamily="18" charset="0"/>
                        <a:ea typeface="Meiryo" pitchFamily="34" charset="-122"/>
                        <a:cs typeface="Meiryo" pitchFamily="34" charset="-120"/>
                      </a:rPr>
                      <m:t>𝑡</m:t>
                    </m:r>
                    <m:r>
                      <a:rPr lang="en-US" sz="1600" i="1" dirty="0">
                        <a:solidFill>
                          <a:srgbClr val="0B1220"/>
                        </a:solidFill>
                        <a:latin typeface="Cambria Math" panose="02040503050406030204" pitchFamily="18" charset="0"/>
                        <a:ea typeface="Meiryo" pitchFamily="34" charset="-122"/>
                        <a:cs typeface="Meiryo" pitchFamily="34" charset="-120"/>
                      </a:rPr>
                      <m:t>=0.5</m:t>
                    </m:r>
                    <m:r>
                      <a:rPr lang="en-US" sz="1600" i="1" dirty="0">
                        <a:solidFill>
                          <a:srgbClr val="0B1220"/>
                        </a:solidFill>
                        <a:latin typeface="Cambria Math" panose="02040503050406030204" pitchFamily="18" charset="0"/>
                        <a:ea typeface="Meiryo" pitchFamily="34" charset="-122"/>
                        <a:cs typeface="Meiryo" pitchFamily="34" charset="-120"/>
                      </a:rPr>
                      <m:t>h</m:t>
                    </m:r>
                    <m:r>
                      <a:rPr lang="en-US" sz="1600" i="1" dirty="0">
                        <a:solidFill>
                          <a:srgbClr val="0B1220"/>
                        </a:solidFill>
                        <a:latin typeface="Cambria Math" panose="02040503050406030204" pitchFamily="18" charset="0"/>
                        <a:ea typeface="Meiryo" pitchFamily="34" charset="-122"/>
                        <a:cs typeface="Meiryo" pitchFamily="34" charset="-120"/>
                      </a:rPr>
                      <m:t> </m:t>
                    </m:r>
                  </m:oMath>
                </a14:m>
                <a:r>
                  <a:rPr lang="en-US" sz="1600" dirty="0">
                    <a:solidFill>
                      <a:srgbClr val="0B1220"/>
                    </a:solidFill>
                    <a:latin typeface="Meiryo" pitchFamily="34" charset="0"/>
                    <a:ea typeface="Meiryo" pitchFamily="34" charset="-122"/>
                    <a:cs typeface="Meiryo" pitchFamily="34" charset="-120"/>
                  </a:rPr>
                  <a:t>で kWhへ換算</a:t>
                </a:r>
                <a:endParaRPr lang="en-US" sz="1600" dirty="0"/>
              </a:p>
            </p:txBody>
          </p:sp>
        </mc:Choice>
        <mc:Fallback xmlns="">
          <p:sp>
            <p:nvSpPr>
              <p:cNvPr id="7" name="Text 5"/>
              <p:cNvSpPr>
                <a:spLocks noRot="1" noChangeAspect="1" noMove="1" noResize="1" noEditPoints="1" noAdjustHandles="1" noChangeArrowheads="1" noChangeShapeType="1" noTextEdit="1"/>
              </p:cNvSpPr>
              <p:nvPr/>
            </p:nvSpPr>
            <p:spPr>
              <a:xfrm>
                <a:off x="868680" y="1984248"/>
                <a:ext cx="5212080" cy="1490472"/>
              </a:xfrm>
              <a:prstGeom prst="rect">
                <a:avLst/>
              </a:prstGeom>
              <a:blipFill>
                <a:blip r:embed="rId3"/>
                <a:stretch>
                  <a:fillRect l="-1287" t="-2869" b="-6557"/>
                </a:stretch>
              </a:blipFill>
              <a:ln/>
            </p:spPr>
            <p:txBody>
              <a:bodyPr/>
              <a:lstStyle/>
              <a:p>
                <a:r>
                  <a:rPr lang="ja-JP" altLang="en-US">
                    <a:noFill/>
                  </a:rPr>
                  <a:t> </a:t>
                </a:r>
              </a:p>
            </p:txBody>
          </p:sp>
        </mc:Fallback>
      </mc:AlternateContent>
      <p:sp>
        <p:nvSpPr>
          <p:cNvPr id="8" name="Shape 6"/>
          <p:cNvSpPr/>
          <p:nvPr/>
        </p:nvSpPr>
        <p:spPr>
          <a:xfrm>
            <a:off x="6263640" y="1417320"/>
            <a:ext cx="5379415" cy="2240280"/>
          </a:xfrm>
          <a:prstGeom prst="rect">
            <a:avLst/>
          </a:prstGeom>
          <a:solidFill>
            <a:srgbClr val="F8FAFC"/>
          </a:solidFill>
          <a:ln w="12700">
            <a:solidFill>
              <a:srgbClr val="E2E8F0"/>
            </a:solidFill>
            <a:prstDash val="solid"/>
          </a:ln>
          <a:effectLst>
            <a:outerShdw blurRad="38100" dist="19050" dir="2700000" algn="bl" rotWithShape="0">
              <a:srgbClr val="000000">
                <a:alpha val="12000"/>
              </a:srgbClr>
            </a:outerShdw>
          </a:effectLst>
        </p:spPr>
        <p:txBody>
          <a:bodyPr/>
          <a:lstStyle/>
          <a:p>
            <a:endParaRPr lang="ja-JP" altLang="en-US"/>
          </a:p>
        </p:txBody>
      </p:sp>
      <p:sp>
        <p:nvSpPr>
          <p:cNvPr id="9" name="Text 7"/>
          <p:cNvSpPr/>
          <p:nvPr/>
        </p:nvSpPr>
        <p:spPr>
          <a:xfrm>
            <a:off x="6537960" y="1618488"/>
            <a:ext cx="4830775" cy="320040"/>
          </a:xfrm>
          <a:prstGeom prst="rect">
            <a:avLst/>
          </a:prstGeom>
          <a:noFill/>
          <a:ln/>
        </p:spPr>
        <p:txBody>
          <a:bodyPr wrap="square" rtlCol="0" anchor="ctr"/>
          <a:lstStyle/>
          <a:p>
            <a:pPr marL="0" indent="0">
              <a:buNone/>
            </a:pPr>
            <a:r>
              <a:rPr lang="en-US" sz="1400" b="1" dirty="0">
                <a:solidFill>
                  <a:srgbClr val="334155"/>
                </a:solidFill>
                <a:latin typeface="Meiryo" pitchFamily="34" charset="0"/>
                <a:ea typeface="Meiryo" pitchFamily="34" charset="-122"/>
                <a:cs typeface="Meiryo" pitchFamily="34" charset="-120"/>
              </a:rPr>
              <a:t>容量配分（重複利用を防止）</a:t>
            </a:r>
            <a:endParaRPr lang="en-US" sz="1400" dirty="0"/>
          </a:p>
        </p:txBody>
      </p:sp>
      <mc:AlternateContent xmlns:mc="http://schemas.openxmlformats.org/markup-compatibility/2006" xmlns:a14="http://schemas.microsoft.com/office/drawing/2010/main">
        <mc:Choice Requires="a14">
          <p:sp>
            <p:nvSpPr>
              <p:cNvPr id="10" name="Text 8"/>
              <p:cNvSpPr/>
              <p:nvPr/>
            </p:nvSpPr>
            <p:spPr>
              <a:xfrm>
                <a:off x="6583680" y="1984248"/>
                <a:ext cx="4739335" cy="1490472"/>
              </a:xfrm>
              <a:prstGeom prst="rect">
                <a:avLst/>
              </a:prstGeom>
              <a:noFill/>
              <a:ln/>
            </p:spPr>
            <p:txBody>
              <a:bodyPr wrap="square" rtlCol="0" anchor="t"/>
              <a:lstStyle/>
              <a:p>
                <a:pPr marL="228600" indent="-228600">
                  <a:lnSpc>
                    <a:spcPct val="115000"/>
                  </a:lnSpc>
                  <a:buSzPct val="100000"/>
                  <a:buChar char="•"/>
                </a:pPr>
                <a14:m>
                  <m:oMath xmlns:m="http://schemas.openxmlformats.org/officeDocument/2006/math">
                    <m:sSub>
                      <m:sSubPr>
                        <m:ctrlPr>
                          <a:rPr lang="en-US" sz="1600" b="0" i="1" dirty="0" smtClean="0">
                            <a:solidFill>
                              <a:srgbClr val="0B1220"/>
                            </a:solidFill>
                            <a:latin typeface="Cambria Math" panose="02040503050406030204" pitchFamily="18" charset="0"/>
                            <a:ea typeface="Meiryo" pitchFamily="34" charset="-122"/>
                            <a:cs typeface="Meiryo" pitchFamily="34" charset="-120"/>
                          </a:rPr>
                        </m:ctrlPr>
                      </m:sSubPr>
                      <m:e>
                        <m:r>
                          <a:rPr lang="en-US" sz="1600" i="1" dirty="0" smtClean="0">
                            <a:solidFill>
                              <a:srgbClr val="0B1220"/>
                            </a:solidFill>
                            <a:latin typeface="Cambria Math" panose="02040503050406030204" pitchFamily="18" charset="0"/>
                            <a:ea typeface="Meiryo" pitchFamily="34" charset="-122"/>
                            <a:cs typeface="Meiryo" pitchFamily="34" charset="-120"/>
                          </a:rPr>
                          <m:t>𝑘</m:t>
                        </m:r>
                      </m:e>
                      <m:sub>
                        <m:r>
                          <a:rPr lang="en-US" sz="1600" i="1" dirty="0" smtClean="0">
                            <a:solidFill>
                              <a:srgbClr val="0B1220"/>
                            </a:solidFill>
                            <a:latin typeface="Cambria Math" panose="02040503050406030204" pitchFamily="18" charset="0"/>
                            <a:ea typeface="Meiryo" pitchFamily="34" charset="-122"/>
                            <a:cs typeface="Meiryo" pitchFamily="34" charset="-120"/>
                          </a:rPr>
                          <m:t>0</m:t>
                        </m:r>
                      </m:sub>
                    </m:sSub>
                    <m:d>
                      <m:dPr>
                        <m:begChr m:val="["/>
                        <m:endChr m:val="]"/>
                        <m:ctrlPr>
                          <a:rPr lang="en-US" sz="1600" b="0" i="1" dirty="0" smtClean="0">
                            <a:solidFill>
                              <a:srgbClr val="0B1220"/>
                            </a:solidFill>
                            <a:latin typeface="Cambria Math" panose="02040503050406030204" pitchFamily="18" charset="0"/>
                            <a:ea typeface="Meiryo" pitchFamily="34" charset="-122"/>
                            <a:cs typeface="Meiryo" pitchFamily="34" charset="-120"/>
                          </a:rPr>
                        </m:ctrlPr>
                      </m:dPr>
                      <m:e>
                        <m:r>
                          <a:rPr lang="en-US" sz="1600" i="1" dirty="0" smtClean="0">
                            <a:solidFill>
                              <a:srgbClr val="0B1220"/>
                            </a:solidFill>
                            <a:latin typeface="Cambria Math" panose="02040503050406030204" pitchFamily="18" charset="0"/>
                            <a:ea typeface="Meiryo" pitchFamily="34" charset="-122"/>
                            <a:cs typeface="Meiryo" pitchFamily="34" charset="-120"/>
                          </a:rPr>
                          <m:t>𝑡</m:t>
                        </m:r>
                      </m:e>
                    </m:d>
                    <m:r>
                      <a:rPr lang="en-US" sz="1600" i="1" dirty="0" smtClean="0">
                        <a:solidFill>
                          <a:srgbClr val="0B1220"/>
                        </a:solidFill>
                        <a:latin typeface="Cambria Math" panose="02040503050406030204" pitchFamily="18" charset="0"/>
                        <a:ea typeface="Meiryo" pitchFamily="34" charset="-122"/>
                        <a:cs typeface="Meiryo" pitchFamily="34" charset="-120"/>
                      </a:rPr>
                      <m:t>+</m:t>
                    </m:r>
                    <m:sSub>
                      <m:sSubPr>
                        <m:ctrlPr>
                          <a:rPr lang="en-US" sz="1600" b="0" i="1" dirty="0" smtClean="0">
                            <a:solidFill>
                              <a:srgbClr val="0B1220"/>
                            </a:solidFill>
                            <a:latin typeface="Cambria Math" panose="02040503050406030204" pitchFamily="18" charset="0"/>
                            <a:ea typeface="Meiryo" pitchFamily="34" charset="-122"/>
                            <a:cs typeface="Meiryo" pitchFamily="34" charset="-120"/>
                          </a:rPr>
                        </m:ctrlPr>
                      </m:sSubPr>
                      <m:e>
                        <m:r>
                          <a:rPr lang="en-US" sz="1600" i="1" dirty="0" smtClean="0">
                            <a:solidFill>
                              <a:srgbClr val="0B1220"/>
                            </a:solidFill>
                            <a:latin typeface="Cambria Math" panose="02040503050406030204" pitchFamily="18" charset="0"/>
                            <a:ea typeface="Meiryo" pitchFamily="34" charset="-122"/>
                            <a:cs typeface="Meiryo" pitchFamily="34" charset="-120"/>
                          </a:rPr>
                          <m:t>𝑘</m:t>
                        </m:r>
                      </m:e>
                      <m:sub>
                        <m:r>
                          <a:rPr lang="en-US" sz="1600" i="1" dirty="0" smtClean="0">
                            <a:solidFill>
                              <a:srgbClr val="0B1220"/>
                            </a:solidFill>
                            <a:latin typeface="Cambria Math" panose="02040503050406030204" pitchFamily="18" charset="0"/>
                            <a:ea typeface="Meiryo" pitchFamily="34" charset="-122"/>
                            <a:cs typeface="Meiryo" pitchFamily="34" charset="-120"/>
                          </a:rPr>
                          <m:t>1</m:t>
                        </m:r>
                      </m:sub>
                    </m:sSub>
                    <m:d>
                      <m:dPr>
                        <m:begChr m:val="["/>
                        <m:endChr m:val="]"/>
                        <m:ctrlPr>
                          <a:rPr lang="en-US" sz="1600" b="0" i="1" dirty="0" smtClean="0">
                            <a:solidFill>
                              <a:srgbClr val="0B1220"/>
                            </a:solidFill>
                            <a:latin typeface="Cambria Math" panose="02040503050406030204" pitchFamily="18" charset="0"/>
                            <a:ea typeface="Meiryo" pitchFamily="34" charset="-122"/>
                            <a:cs typeface="Meiryo" pitchFamily="34" charset="-120"/>
                          </a:rPr>
                        </m:ctrlPr>
                      </m:dPr>
                      <m:e>
                        <m:r>
                          <a:rPr lang="en-US" sz="1600" i="1" dirty="0" smtClean="0">
                            <a:solidFill>
                              <a:srgbClr val="0B1220"/>
                            </a:solidFill>
                            <a:latin typeface="Cambria Math" panose="02040503050406030204" pitchFamily="18" charset="0"/>
                            <a:ea typeface="Meiryo" pitchFamily="34" charset="-122"/>
                            <a:cs typeface="Meiryo" pitchFamily="34" charset="-120"/>
                          </a:rPr>
                          <m:t>𝑡</m:t>
                        </m:r>
                      </m:e>
                    </m:d>
                    <m:r>
                      <a:rPr lang="en-US" sz="1600" i="1" dirty="0" smtClean="0">
                        <a:solidFill>
                          <a:srgbClr val="0B1220"/>
                        </a:solidFill>
                        <a:latin typeface="Cambria Math" panose="02040503050406030204" pitchFamily="18" charset="0"/>
                        <a:ea typeface="Meiryo" pitchFamily="34" charset="-122"/>
                        <a:cs typeface="Meiryo" pitchFamily="34" charset="-120"/>
                      </a:rPr>
                      <m:t>+</m:t>
                    </m:r>
                    <m:sSub>
                      <m:sSubPr>
                        <m:ctrlPr>
                          <a:rPr lang="en-US" sz="1600" b="0" i="1" dirty="0" smtClean="0">
                            <a:solidFill>
                              <a:srgbClr val="0B1220"/>
                            </a:solidFill>
                            <a:latin typeface="Cambria Math" panose="02040503050406030204" pitchFamily="18" charset="0"/>
                            <a:ea typeface="Meiryo" pitchFamily="34" charset="-122"/>
                            <a:cs typeface="Meiryo" pitchFamily="34" charset="-120"/>
                          </a:rPr>
                        </m:ctrlPr>
                      </m:sSubPr>
                      <m:e>
                        <m:r>
                          <a:rPr lang="en-US" sz="1600" i="1" dirty="0" smtClean="0">
                            <a:solidFill>
                              <a:srgbClr val="0B1220"/>
                            </a:solidFill>
                            <a:latin typeface="Cambria Math" panose="02040503050406030204" pitchFamily="18" charset="0"/>
                            <a:ea typeface="Meiryo" pitchFamily="34" charset="-122"/>
                            <a:cs typeface="Meiryo" pitchFamily="34" charset="-120"/>
                          </a:rPr>
                          <m:t>𝑘</m:t>
                        </m:r>
                      </m:e>
                      <m:sub>
                        <m:r>
                          <a:rPr lang="en-US" sz="1600" i="1" dirty="0" smtClean="0">
                            <a:solidFill>
                              <a:srgbClr val="0B1220"/>
                            </a:solidFill>
                            <a:latin typeface="Cambria Math" panose="02040503050406030204" pitchFamily="18" charset="0"/>
                            <a:ea typeface="Meiryo" pitchFamily="34" charset="-122"/>
                            <a:cs typeface="Meiryo" pitchFamily="34" charset="-120"/>
                          </a:rPr>
                          <m:t>2</m:t>
                        </m:r>
                      </m:sub>
                    </m:sSub>
                    <m:d>
                      <m:dPr>
                        <m:begChr m:val="["/>
                        <m:endChr m:val="]"/>
                        <m:ctrlPr>
                          <a:rPr lang="en-US" sz="1600" b="0" i="1" dirty="0" smtClean="0">
                            <a:solidFill>
                              <a:srgbClr val="0B1220"/>
                            </a:solidFill>
                            <a:latin typeface="Cambria Math" panose="02040503050406030204" pitchFamily="18" charset="0"/>
                            <a:ea typeface="Meiryo" pitchFamily="34" charset="-122"/>
                            <a:cs typeface="Meiryo" pitchFamily="34" charset="-120"/>
                          </a:rPr>
                        </m:ctrlPr>
                      </m:dPr>
                      <m:e>
                        <m:r>
                          <a:rPr lang="en-US" sz="1600" i="1" dirty="0" smtClean="0">
                            <a:solidFill>
                              <a:srgbClr val="0B1220"/>
                            </a:solidFill>
                            <a:latin typeface="Cambria Math" panose="02040503050406030204" pitchFamily="18" charset="0"/>
                            <a:ea typeface="Meiryo" pitchFamily="34" charset="-122"/>
                            <a:cs typeface="Meiryo" pitchFamily="34" charset="-120"/>
                          </a:rPr>
                          <m:t>𝑡</m:t>
                        </m:r>
                      </m:e>
                    </m:d>
                    <m:r>
                      <a:rPr lang="en-US" sz="1600" i="1" dirty="0" smtClean="0">
                        <a:solidFill>
                          <a:srgbClr val="0B1220"/>
                        </a:solidFill>
                        <a:latin typeface="Cambria Math" panose="02040503050406030204" pitchFamily="18" charset="0"/>
                        <a:ea typeface="Meiryo" pitchFamily="34" charset="-122"/>
                        <a:cs typeface="Meiryo" pitchFamily="34" charset="-120"/>
                      </a:rPr>
                      <m:t>=1</m:t>
                    </m:r>
                  </m:oMath>
                </a14:m>
                <a:endParaRPr/>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各用途の状態量は </a:t>
                </a:r>
                <a14:m>
                  <m:oMath xmlns:m="http://schemas.openxmlformats.org/officeDocument/2006/math">
                    <m:sSub>
                      <m:sSubPr>
                        <m:ctrlPr>
                          <a:rPr lang="en-US" sz="1600" i="1" dirty="0" smtClean="0">
                            <a:solidFill>
                              <a:srgbClr val="0B1220"/>
                            </a:solidFill>
                            <a:latin typeface="Cambria Math" panose="02040503050406030204" pitchFamily="18" charset="0"/>
                            <a:ea typeface="Meiryo" pitchFamily="34" charset="-122"/>
                            <a:cs typeface="Meiryo" pitchFamily="34" charset="-120"/>
                          </a:rPr>
                        </m:ctrlPr>
                      </m:sSubPr>
                      <m:e>
                        <m:r>
                          <a:rPr lang="en-US" sz="1600" i="1" dirty="0" smtClean="0">
                            <a:solidFill>
                              <a:srgbClr val="0B1220"/>
                            </a:solidFill>
                            <a:latin typeface="Cambria Math" panose="02040503050406030204" pitchFamily="18" charset="0"/>
                            <a:ea typeface="Meiryo" pitchFamily="34" charset="-122"/>
                            <a:cs typeface="Meiryo" pitchFamily="34" charset="-120"/>
                          </a:rPr>
                          <m:t>𝐵</m:t>
                        </m:r>
                      </m:e>
                      <m:sub>
                        <m:r>
                          <a:rPr lang="en-US" sz="1600" i="1" dirty="0" smtClean="0">
                            <a:solidFill>
                              <a:srgbClr val="0B1220"/>
                            </a:solidFill>
                            <a:latin typeface="Cambria Math" panose="02040503050406030204" pitchFamily="18" charset="0"/>
                            <a:ea typeface="Meiryo" pitchFamily="34" charset="-122"/>
                            <a:cs typeface="Meiryo" pitchFamily="34" charset="-120"/>
                          </a:rPr>
                          <m:t>𝑐𝑜𝑛𝑠𝑡</m:t>
                        </m:r>
                      </m:sub>
                    </m:sSub>
                    <m:r>
                      <a:rPr lang="en-US" sz="1600" i="1" dirty="0">
                        <a:solidFill>
                          <a:srgbClr val="0B1220"/>
                        </a:solidFill>
                        <a:latin typeface="Cambria Math" panose="02040503050406030204" pitchFamily="18" charset="0"/>
                        <a:ea typeface="Meiryo" pitchFamily="34" charset="-122"/>
                        <a:cs typeface="Meiryo" pitchFamily="34" charset="-120"/>
                      </a:rPr>
                      <m:t>·</m:t>
                    </m:r>
                    <m:sSub>
                      <m:sSubPr>
                        <m:ctrlPr>
                          <a:rPr lang="en-US" sz="1600" i="1" dirty="0">
                            <a:solidFill>
                              <a:srgbClr val="0B1220"/>
                            </a:solidFill>
                            <a:latin typeface="Cambria Math" panose="02040503050406030204" pitchFamily="18" charset="0"/>
                            <a:ea typeface="Meiryo" pitchFamily="34" charset="-122"/>
                            <a:cs typeface="Meiryo" pitchFamily="34" charset="-120"/>
                          </a:rPr>
                        </m:ctrlPr>
                      </m:sSubPr>
                      <m:e>
                        <m:r>
                          <a:rPr lang="en-US" sz="1600" i="1" dirty="0">
                            <a:solidFill>
                              <a:srgbClr val="0B1220"/>
                            </a:solidFill>
                            <a:latin typeface="Cambria Math" panose="02040503050406030204" pitchFamily="18" charset="0"/>
                            <a:ea typeface="Meiryo" pitchFamily="34" charset="-122"/>
                            <a:cs typeface="Meiryo" pitchFamily="34" charset="-120"/>
                          </a:rPr>
                          <m:t>𝑘</m:t>
                        </m:r>
                      </m:e>
                      <m:sub>
                        <m:r>
                          <a:rPr lang="en-US" sz="1600" i="1" dirty="0">
                            <a:solidFill>
                              <a:srgbClr val="0B1220"/>
                            </a:solidFill>
                            <a:latin typeface="Cambria Math" panose="02040503050406030204" pitchFamily="18" charset="0"/>
                            <a:ea typeface="Meiryo" pitchFamily="34" charset="-122"/>
                            <a:cs typeface="Meiryo" pitchFamily="34" charset="-120"/>
                          </a:rPr>
                          <m:t>𝑖</m:t>
                        </m:r>
                      </m:sub>
                    </m:sSub>
                    <m:d>
                      <m:dPr>
                        <m:begChr m:val="["/>
                        <m:endChr m:val="]"/>
                        <m:ctrlPr>
                          <a:rPr lang="en-US" sz="1600" i="1" dirty="0">
                            <a:solidFill>
                              <a:srgbClr val="0B1220"/>
                            </a:solidFill>
                            <a:latin typeface="Cambria Math" panose="02040503050406030204" pitchFamily="18" charset="0"/>
                            <a:ea typeface="Meiryo" pitchFamily="34" charset="-122"/>
                            <a:cs typeface="Meiryo" pitchFamily="34" charset="-120"/>
                          </a:rPr>
                        </m:ctrlPr>
                      </m:dPr>
                      <m:e>
                        <m:r>
                          <a:rPr lang="en-US" sz="1600" i="1" dirty="0">
                            <a:solidFill>
                              <a:srgbClr val="0B1220"/>
                            </a:solidFill>
                            <a:latin typeface="Cambria Math" panose="02040503050406030204" pitchFamily="18" charset="0"/>
                            <a:ea typeface="Meiryo" pitchFamily="34" charset="-122"/>
                            <a:cs typeface="Meiryo" pitchFamily="34" charset="-120"/>
                          </a:rPr>
                          <m:t>𝑡</m:t>
                        </m:r>
                      </m:e>
                    </m:d>
                  </m:oMath>
                </a14:m>
                <a:r>
                  <a:rPr lang="en-US" sz="1600" dirty="0">
                    <a:solidFill>
                      <a:srgbClr val="0B1220"/>
                    </a:solidFill>
                    <a:latin typeface="Meiryo" pitchFamily="34" charset="0"/>
                    <a:ea typeface="Meiryo" pitchFamily="34" charset="-122"/>
                    <a:cs typeface="Meiryo" pitchFamily="34" charset="-120"/>
                  </a:rPr>
                  <a:t>を上限に持つ</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調整力提供に必要な上下限（エネルギー余裕）を付与</a:t>
                </a:r>
                <a:endParaRPr lang="en-US" sz="1600" dirty="0"/>
              </a:p>
            </p:txBody>
          </p:sp>
        </mc:Choice>
        <mc:Fallback xmlns="">
          <p:sp>
            <p:nvSpPr>
              <p:cNvPr id="10" name="Text 8"/>
              <p:cNvSpPr>
                <a:spLocks noRot="1" noChangeAspect="1" noMove="1" noResize="1" noEditPoints="1" noAdjustHandles="1" noChangeArrowheads="1" noChangeShapeType="1" noTextEdit="1"/>
              </p:cNvSpPr>
              <p:nvPr/>
            </p:nvSpPr>
            <p:spPr>
              <a:xfrm>
                <a:off x="6583680" y="1984248"/>
                <a:ext cx="4739335" cy="1490472"/>
              </a:xfrm>
              <a:prstGeom prst="rect">
                <a:avLst/>
              </a:prstGeom>
              <a:blipFill>
                <a:blip r:embed="rId4"/>
                <a:stretch>
                  <a:fillRect l="-1287" t="-410"/>
                </a:stretch>
              </a:blipFill>
              <a:ln/>
            </p:spPr>
            <p:txBody>
              <a:bodyPr/>
              <a:lstStyle/>
              <a:p>
                <a:r>
                  <a:rPr lang="ja-JP" altLang="en-US">
                    <a:noFill/>
                  </a:rPr>
                  <a:t> </a:t>
                </a:r>
              </a:p>
            </p:txBody>
          </p:sp>
        </mc:Fallback>
      </mc:AlternateContent>
      <p:sp>
        <p:nvSpPr>
          <p:cNvPr id="11" name="Shape 9"/>
          <p:cNvSpPr/>
          <p:nvPr/>
        </p:nvSpPr>
        <p:spPr>
          <a:xfrm>
            <a:off x="548640" y="3886200"/>
            <a:ext cx="11094415" cy="2240280"/>
          </a:xfrm>
          <a:prstGeom prst="rect">
            <a:avLst/>
          </a:prstGeom>
          <a:solidFill>
            <a:srgbClr val="F1F5F9"/>
          </a:solidFill>
          <a:ln w="12700">
            <a:solidFill>
              <a:srgbClr val="E2E8F0"/>
            </a:solidFill>
            <a:prstDash val="solid"/>
          </a:ln>
        </p:spPr>
        <p:txBody>
          <a:bodyPr/>
          <a:lstStyle/>
          <a:p>
            <a:endParaRPr lang="ja-JP" altLang="en-US"/>
          </a:p>
        </p:txBody>
      </p:sp>
      <p:sp>
        <p:nvSpPr>
          <p:cNvPr id="12" name="Text 10"/>
          <p:cNvSpPr/>
          <p:nvPr/>
        </p:nvSpPr>
        <p:spPr>
          <a:xfrm>
            <a:off x="822960" y="4069080"/>
            <a:ext cx="10545775" cy="320040"/>
          </a:xfrm>
          <a:prstGeom prst="rect">
            <a:avLst/>
          </a:prstGeom>
          <a:noFill/>
          <a:ln/>
        </p:spPr>
        <p:txBody>
          <a:bodyPr wrap="square" rtlCol="0" anchor="ctr"/>
          <a:lstStyle/>
          <a:p>
            <a:pPr marL="0" indent="0">
              <a:buNone/>
            </a:pPr>
            <a:r>
              <a:rPr lang="en-US" sz="1400" b="1" dirty="0">
                <a:solidFill>
                  <a:srgbClr val="334155"/>
                </a:solidFill>
                <a:latin typeface="Meiryo" pitchFamily="34" charset="0"/>
                <a:ea typeface="Meiryo" pitchFamily="34" charset="-122"/>
                <a:cs typeface="Meiryo" pitchFamily="34" charset="-120"/>
              </a:rPr>
              <a:t>終端条件と正規化</a:t>
            </a:r>
            <a:endParaRPr lang="en-US" sz="1400" dirty="0"/>
          </a:p>
        </p:txBody>
      </p:sp>
      <p:sp>
        <p:nvSpPr>
          <p:cNvPr id="13" name="Text 11"/>
          <p:cNvSpPr/>
          <p:nvPr/>
        </p:nvSpPr>
        <p:spPr>
          <a:xfrm>
            <a:off x="868680" y="4434840"/>
            <a:ext cx="10454335" cy="1508760"/>
          </a:xfrm>
          <a:prstGeom prst="rect">
            <a:avLst/>
          </a:prstGeom>
          <a:noFill/>
          <a:ln/>
        </p:spPr>
        <p:txBody>
          <a:bodyPr wrap="square" rtlCol="0" anchor="t"/>
          <a:lstStyle/>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運用期間前後で総状態量を一致（過度な残留/枯渇を抑制）</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二次元ピースワイズの重み（DoD方向）を総和=1に正規化</a:t>
            </a:r>
            <a:endParaRPr lang="en-US" sz="1600" dirty="0"/>
          </a:p>
        </p:txBody>
      </p:sp>
      <p:sp>
        <p:nvSpPr>
          <p:cNvPr id="14" name="テキスト ボックス 13">
            <a:extLst>
              <a:ext uri="{FF2B5EF4-FFF2-40B4-BE49-F238E27FC236}">
                <a16:creationId xmlns:a16="http://schemas.microsoft.com/office/drawing/2014/main" id="{BE7FCAD3-84F6-0EA3-BE1F-AD50EA5AB135}"/>
              </a:ext>
            </a:extLst>
          </p:cNvPr>
          <p:cNvSpPr txBox="1"/>
          <p:nvPr/>
        </p:nvSpPr>
        <p:spPr>
          <a:xfrm>
            <a:off x="11729545" y="6353503"/>
            <a:ext cx="336331" cy="369332"/>
          </a:xfrm>
          <a:prstGeom prst="rect">
            <a:avLst/>
          </a:prstGeom>
          <a:noFill/>
        </p:spPr>
        <p:txBody>
          <a:bodyPr wrap="square" rtlCol="0">
            <a:spAutoFit/>
          </a:bodyPr>
          <a:lstStyle/>
          <a:p>
            <a:r>
              <a:rPr kumimoji="1" lang="en-US" altLang="ja-JP" dirty="0"/>
              <a:t>8</a:t>
            </a:r>
            <a:endParaRPr kumimoji="1" lang="ja-JP"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457200"/>
          </a:xfrm>
          <a:prstGeom prst="rect">
            <a:avLst/>
          </a:prstGeom>
          <a:noFill/>
          <a:ln/>
        </p:spPr>
        <p:txBody>
          <a:bodyPr wrap="square" rtlCol="0" anchor="ctr"/>
          <a:lstStyle/>
          <a:p>
            <a:pPr marL="0" indent="0">
              <a:buNone/>
            </a:pPr>
            <a:r>
              <a:rPr lang="en-US" sz="2800" b="1" dirty="0">
                <a:solidFill>
                  <a:srgbClr val="0B1220"/>
                </a:solidFill>
                <a:latin typeface="Meiryo" pitchFamily="34" charset="0"/>
                <a:ea typeface="Meiryo" pitchFamily="34" charset="-122"/>
                <a:cs typeface="Meiryo" pitchFamily="34" charset="-120"/>
              </a:rPr>
              <a:t>シミュレーション条件</a:t>
            </a:r>
            <a:endParaRPr lang="en-US" sz="2800" dirty="0"/>
          </a:p>
        </p:txBody>
      </p:sp>
      <p:sp>
        <p:nvSpPr>
          <p:cNvPr id="3" name="Text 1"/>
          <p:cNvSpPr/>
          <p:nvPr/>
        </p:nvSpPr>
        <p:spPr>
          <a:xfrm>
            <a:off x="548640" y="786384"/>
            <a:ext cx="11094415" cy="320040"/>
          </a:xfrm>
          <a:prstGeom prst="rect">
            <a:avLst/>
          </a:prstGeom>
          <a:noFill/>
          <a:ln/>
        </p:spPr>
        <p:txBody>
          <a:bodyPr wrap="square" rtlCol="0" anchor="ctr"/>
          <a:lstStyle/>
          <a:p>
            <a:pPr marL="0" indent="0">
              <a:buNone/>
            </a:pPr>
            <a:r>
              <a:rPr lang="en-US" sz="1400" dirty="0">
                <a:solidFill>
                  <a:srgbClr val="334155"/>
                </a:solidFill>
                <a:latin typeface="Meiryo" pitchFamily="34" charset="0"/>
                <a:ea typeface="Meiryo" pitchFamily="34" charset="-122"/>
                <a:cs typeface="Meiryo" pitchFamily="34" charset="-120"/>
              </a:rPr>
              <a:t>代表日（5/2平日・6/27休日）で Case0/1/2 を比較</a:t>
            </a:r>
            <a:endParaRPr lang="en-US" sz="1400" dirty="0"/>
          </a:p>
        </p:txBody>
      </p:sp>
      <p:sp>
        <p:nvSpPr>
          <p:cNvPr id="4" name="Shape 2"/>
          <p:cNvSpPr/>
          <p:nvPr/>
        </p:nvSpPr>
        <p:spPr>
          <a:xfrm>
            <a:off x="548640" y="1115568"/>
            <a:ext cx="11094415" cy="0"/>
          </a:xfrm>
          <a:prstGeom prst="line">
            <a:avLst/>
          </a:prstGeom>
          <a:noFill/>
          <a:ln w="12700">
            <a:solidFill>
              <a:srgbClr val="E2E8F0"/>
            </a:solidFill>
            <a:prstDash val="solid"/>
          </a:ln>
        </p:spPr>
        <p:txBody>
          <a:bodyPr/>
          <a:lstStyle/>
          <a:p>
            <a:endParaRPr lang="ja-JP" altLang="en-US"/>
          </a:p>
        </p:txBody>
      </p:sp>
      <p:sp>
        <p:nvSpPr>
          <p:cNvPr id="5" name="Shape 3"/>
          <p:cNvSpPr/>
          <p:nvPr/>
        </p:nvSpPr>
        <p:spPr>
          <a:xfrm>
            <a:off x="548640" y="1417320"/>
            <a:ext cx="6196934" cy="4654295"/>
          </a:xfrm>
          <a:prstGeom prst="rect">
            <a:avLst/>
          </a:prstGeom>
          <a:solidFill>
            <a:srgbClr val="F8FAFC"/>
          </a:solidFill>
          <a:ln w="12700">
            <a:solidFill>
              <a:srgbClr val="E2E8F0"/>
            </a:solidFill>
            <a:prstDash val="solid"/>
          </a:ln>
        </p:spPr>
        <p:txBody>
          <a:bodyPr/>
          <a:lstStyle/>
          <a:p>
            <a:endParaRPr lang="ja-JP" altLang="en-US"/>
          </a:p>
        </p:txBody>
      </p:sp>
      <p:sp>
        <p:nvSpPr>
          <p:cNvPr id="7" name="Shape 4"/>
          <p:cNvSpPr/>
          <p:nvPr/>
        </p:nvSpPr>
        <p:spPr>
          <a:xfrm>
            <a:off x="7543800" y="1417320"/>
            <a:ext cx="4099255" cy="1828800"/>
          </a:xfrm>
          <a:prstGeom prst="rect">
            <a:avLst/>
          </a:prstGeom>
          <a:solidFill>
            <a:srgbClr val="F8FAFC"/>
          </a:solidFill>
          <a:ln w="12700">
            <a:solidFill>
              <a:srgbClr val="E2E8F0"/>
            </a:solidFill>
            <a:prstDash val="solid"/>
          </a:ln>
          <a:effectLst>
            <a:outerShdw blurRad="38100" dist="19050" dir="2700000" algn="bl" rotWithShape="0">
              <a:srgbClr val="000000">
                <a:alpha val="12000"/>
              </a:srgbClr>
            </a:outerShdw>
          </a:effectLst>
        </p:spPr>
        <p:txBody>
          <a:bodyPr/>
          <a:lstStyle/>
          <a:p>
            <a:endParaRPr lang="ja-JP" altLang="en-US"/>
          </a:p>
        </p:txBody>
      </p:sp>
      <p:sp>
        <p:nvSpPr>
          <p:cNvPr id="8" name="Text 5"/>
          <p:cNvSpPr/>
          <p:nvPr/>
        </p:nvSpPr>
        <p:spPr>
          <a:xfrm>
            <a:off x="7818120" y="1618488"/>
            <a:ext cx="3550615" cy="320040"/>
          </a:xfrm>
          <a:prstGeom prst="rect">
            <a:avLst/>
          </a:prstGeom>
          <a:noFill/>
          <a:ln/>
        </p:spPr>
        <p:txBody>
          <a:bodyPr wrap="square" rtlCol="0" anchor="ctr"/>
          <a:lstStyle/>
          <a:p>
            <a:pPr marL="0" indent="0">
              <a:buNone/>
            </a:pPr>
            <a:r>
              <a:rPr lang="en-US" sz="1400" b="1" dirty="0">
                <a:solidFill>
                  <a:srgbClr val="334155"/>
                </a:solidFill>
                <a:latin typeface="Meiryo" pitchFamily="34" charset="0"/>
                <a:ea typeface="Meiryo" pitchFamily="34" charset="-122"/>
                <a:cs typeface="Meiryo" pitchFamily="34" charset="-120"/>
              </a:rPr>
              <a:t>入力データ</a:t>
            </a:r>
            <a:endParaRPr lang="en-US" sz="1400" dirty="0"/>
          </a:p>
        </p:txBody>
      </p:sp>
      <p:sp>
        <p:nvSpPr>
          <p:cNvPr id="9" name="Text 6"/>
          <p:cNvSpPr/>
          <p:nvPr/>
        </p:nvSpPr>
        <p:spPr>
          <a:xfrm>
            <a:off x="7863840" y="1984248"/>
            <a:ext cx="3459175" cy="1078992"/>
          </a:xfrm>
          <a:prstGeom prst="rect">
            <a:avLst/>
          </a:prstGeom>
          <a:noFill/>
          <a:ln/>
        </p:spPr>
        <p:txBody>
          <a:bodyPr wrap="square" rtlCol="0" anchor="t"/>
          <a:lstStyle/>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スポット価格：2024/5/2（平日）・2024/6/27（休日）</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一次/二次調整価格：3時間ブロック（8ブロック/日）に集約</a:t>
            </a:r>
            <a:endParaRPr lang="en-US" sz="1600" dirty="0"/>
          </a:p>
        </p:txBody>
      </p:sp>
      <p:sp>
        <p:nvSpPr>
          <p:cNvPr id="10" name="Shape 7"/>
          <p:cNvSpPr/>
          <p:nvPr/>
        </p:nvSpPr>
        <p:spPr>
          <a:xfrm>
            <a:off x="7543800" y="3429000"/>
            <a:ext cx="4099255" cy="2697480"/>
          </a:xfrm>
          <a:prstGeom prst="rect">
            <a:avLst/>
          </a:prstGeom>
          <a:solidFill>
            <a:srgbClr val="F8FAFC"/>
          </a:solidFill>
          <a:ln w="12700">
            <a:solidFill>
              <a:srgbClr val="E2E8F0"/>
            </a:solidFill>
            <a:prstDash val="solid"/>
          </a:ln>
          <a:effectLst>
            <a:outerShdw blurRad="38100" dist="19050" dir="2700000" algn="bl" rotWithShape="0">
              <a:srgbClr val="000000">
                <a:alpha val="12000"/>
              </a:srgbClr>
            </a:outerShdw>
          </a:effectLst>
        </p:spPr>
        <p:txBody>
          <a:bodyPr/>
          <a:lstStyle/>
          <a:p>
            <a:endParaRPr lang="ja-JP" altLang="en-US"/>
          </a:p>
        </p:txBody>
      </p:sp>
      <p:sp>
        <p:nvSpPr>
          <p:cNvPr id="11" name="Text 8"/>
          <p:cNvSpPr/>
          <p:nvPr/>
        </p:nvSpPr>
        <p:spPr>
          <a:xfrm>
            <a:off x="7818120" y="3630168"/>
            <a:ext cx="3550615" cy="320040"/>
          </a:xfrm>
          <a:prstGeom prst="rect">
            <a:avLst/>
          </a:prstGeom>
          <a:noFill/>
          <a:ln/>
        </p:spPr>
        <p:txBody>
          <a:bodyPr wrap="square" rtlCol="0" anchor="ctr"/>
          <a:lstStyle/>
          <a:p>
            <a:pPr marL="0" indent="0">
              <a:buNone/>
            </a:pPr>
            <a:r>
              <a:rPr lang="en-US" sz="1400" b="1" dirty="0">
                <a:solidFill>
                  <a:srgbClr val="334155"/>
                </a:solidFill>
                <a:latin typeface="Meiryo" pitchFamily="34" charset="0"/>
                <a:ea typeface="Meiryo" pitchFamily="34" charset="-122"/>
                <a:cs typeface="Meiryo" pitchFamily="34" charset="-120"/>
              </a:rPr>
              <a:t>比較ケース</a:t>
            </a:r>
            <a:endParaRPr lang="en-US" sz="1400" dirty="0"/>
          </a:p>
        </p:txBody>
      </p:sp>
      <p:sp>
        <p:nvSpPr>
          <p:cNvPr id="12" name="Text 9"/>
          <p:cNvSpPr/>
          <p:nvPr/>
        </p:nvSpPr>
        <p:spPr>
          <a:xfrm>
            <a:off x="7863840" y="3995928"/>
            <a:ext cx="3459175" cy="1947672"/>
          </a:xfrm>
          <a:prstGeom prst="rect">
            <a:avLst/>
          </a:prstGeom>
          <a:noFill/>
          <a:ln/>
        </p:spPr>
        <p:txBody>
          <a:bodyPr wrap="square" rtlCol="0" anchor="t"/>
          <a:lstStyle/>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Case 0：劣化コストなし</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Case 1：劣化=DoDの一次元ピースワイズ</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Case 2：劣化=DoD×SOCの二次元ピースワイズ（10×10）</a:t>
            </a:r>
            <a:endParaRPr lang="en-US" sz="1600" dirty="0"/>
          </a:p>
        </p:txBody>
      </p:sp>
      <p:sp>
        <p:nvSpPr>
          <p:cNvPr id="13" name="テキスト ボックス 12">
            <a:extLst>
              <a:ext uri="{FF2B5EF4-FFF2-40B4-BE49-F238E27FC236}">
                <a16:creationId xmlns:a16="http://schemas.microsoft.com/office/drawing/2014/main" id="{C6DD5BC6-B6F5-7AEB-7648-7555360435F1}"/>
              </a:ext>
            </a:extLst>
          </p:cNvPr>
          <p:cNvSpPr txBox="1"/>
          <p:nvPr/>
        </p:nvSpPr>
        <p:spPr>
          <a:xfrm>
            <a:off x="868985" y="1753849"/>
            <a:ext cx="6056027" cy="1908215"/>
          </a:xfrm>
          <a:prstGeom prst="rect">
            <a:avLst/>
          </a:prstGeom>
          <a:noFill/>
        </p:spPr>
        <p:txBody>
          <a:bodyPr wrap="square" rtlCol="0">
            <a:spAutoFit/>
          </a:bodyPr>
          <a:lstStyle/>
          <a:p>
            <a:r>
              <a:rPr lang="ja-JP" altLang="en-US" sz="2000" dirty="0"/>
              <a:t>容量　</a:t>
            </a:r>
            <a:r>
              <a:rPr lang="en-US" altLang="ja-JP" sz="2000" dirty="0"/>
              <a:t>1000kWh</a:t>
            </a:r>
          </a:p>
          <a:p>
            <a:r>
              <a:rPr lang="en-US" altLang="ja-JP" sz="2000" dirty="0"/>
              <a:t>SOC</a:t>
            </a:r>
            <a:r>
              <a:rPr lang="ja-JP" altLang="en-US" sz="2000" dirty="0"/>
              <a:t>範囲　</a:t>
            </a:r>
            <a:r>
              <a:rPr lang="en-US" altLang="ja-JP" sz="2000" dirty="0"/>
              <a:t>0.1</a:t>
            </a:r>
            <a:r>
              <a:rPr lang="ja-JP" altLang="en-US" sz="2000" dirty="0"/>
              <a:t>～</a:t>
            </a:r>
            <a:r>
              <a:rPr lang="en-US" altLang="ja-JP" sz="2000" dirty="0"/>
              <a:t>1.0</a:t>
            </a:r>
          </a:p>
          <a:p>
            <a:r>
              <a:rPr lang="ja-JP" altLang="en-US" sz="2000" dirty="0"/>
              <a:t>初期</a:t>
            </a:r>
            <a:r>
              <a:rPr lang="en-US" altLang="ja-JP" sz="2000" dirty="0"/>
              <a:t>SOC</a:t>
            </a:r>
            <a:r>
              <a:rPr lang="ja-JP" altLang="en-US" sz="2000" dirty="0"/>
              <a:t>　</a:t>
            </a:r>
            <a:r>
              <a:rPr lang="en-US" altLang="ja-JP" sz="2000" dirty="0"/>
              <a:t>0.5</a:t>
            </a:r>
          </a:p>
          <a:p>
            <a:r>
              <a:rPr lang="ja-JP" altLang="ja-JP" sz="2000" dirty="0"/>
              <a:t>充放電効率（</a:t>
            </a:r>
            <a:r>
              <a:rPr lang="en-US" altLang="ja-JP" sz="2000" dirty="0"/>
              <a:t>PCS</a:t>
            </a:r>
            <a:r>
              <a:rPr lang="ja-JP" altLang="en-US" sz="2000" dirty="0"/>
              <a:t>）</a:t>
            </a:r>
            <a:r>
              <a:rPr lang="en-US" altLang="ja-JP" sz="2000" dirty="0"/>
              <a:t>0.95</a:t>
            </a:r>
          </a:p>
          <a:p>
            <a:r>
              <a:rPr lang="ja-JP" altLang="ja-JP" sz="2000" dirty="0"/>
              <a:t>充放電効率（電池）</a:t>
            </a:r>
            <a:r>
              <a:rPr lang="en-US" altLang="ja-JP" sz="2000" dirty="0"/>
              <a:t>0.95</a:t>
            </a:r>
            <a:endParaRPr kumimoji="1" lang="ja-JP" altLang="en-US" sz="2000" dirty="0"/>
          </a:p>
          <a:p>
            <a:endParaRPr kumimoji="1" lang="ja-JP" altLang="en-US" dirty="0"/>
          </a:p>
        </p:txBody>
      </p:sp>
      <p:sp>
        <p:nvSpPr>
          <p:cNvPr id="6" name="テキスト ボックス 5">
            <a:extLst>
              <a:ext uri="{FF2B5EF4-FFF2-40B4-BE49-F238E27FC236}">
                <a16:creationId xmlns:a16="http://schemas.microsoft.com/office/drawing/2014/main" id="{5145CFE5-0D86-D59C-6C3A-D5248A73D1EB}"/>
              </a:ext>
            </a:extLst>
          </p:cNvPr>
          <p:cNvSpPr txBox="1"/>
          <p:nvPr/>
        </p:nvSpPr>
        <p:spPr>
          <a:xfrm>
            <a:off x="11713779" y="6327228"/>
            <a:ext cx="346842" cy="369332"/>
          </a:xfrm>
          <a:prstGeom prst="rect">
            <a:avLst/>
          </a:prstGeom>
          <a:noFill/>
        </p:spPr>
        <p:txBody>
          <a:bodyPr wrap="square" rtlCol="0">
            <a:spAutoFit/>
          </a:bodyPr>
          <a:lstStyle/>
          <a:p>
            <a:r>
              <a:rPr kumimoji="1" lang="en-US" altLang="ja-JP" dirty="0"/>
              <a:t>9</a:t>
            </a:r>
            <a:endParaRPr kumimoji="1" lang="ja-JP"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457200"/>
          </a:xfrm>
          <a:prstGeom prst="rect">
            <a:avLst/>
          </a:prstGeom>
          <a:noFill/>
          <a:ln/>
        </p:spPr>
        <p:txBody>
          <a:bodyPr wrap="square" rtlCol="0" anchor="ctr"/>
          <a:lstStyle/>
          <a:p>
            <a:pPr marL="0" indent="0">
              <a:buNone/>
            </a:pPr>
            <a:r>
              <a:rPr lang="en-US" sz="2800" b="1" dirty="0">
                <a:solidFill>
                  <a:srgbClr val="0B1220"/>
                </a:solidFill>
                <a:latin typeface="Meiryo" pitchFamily="34" charset="0"/>
                <a:ea typeface="Meiryo" pitchFamily="34" charset="-122"/>
                <a:cs typeface="Meiryo" pitchFamily="34" charset="-120"/>
              </a:rPr>
              <a:t>結果①：総劣化量（円/日）の比較</a:t>
            </a:r>
            <a:endParaRPr lang="en-US" sz="2800" dirty="0"/>
          </a:p>
        </p:txBody>
      </p:sp>
      <p:sp>
        <p:nvSpPr>
          <p:cNvPr id="3" name="Text 1"/>
          <p:cNvSpPr/>
          <p:nvPr/>
        </p:nvSpPr>
        <p:spPr>
          <a:xfrm>
            <a:off x="548640" y="786384"/>
            <a:ext cx="11094415" cy="320040"/>
          </a:xfrm>
          <a:prstGeom prst="rect">
            <a:avLst/>
          </a:prstGeom>
          <a:noFill/>
          <a:ln/>
        </p:spPr>
        <p:txBody>
          <a:bodyPr wrap="square" rtlCol="0" anchor="ctr"/>
          <a:lstStyle/>
          <a:p>
            <a:pPr marL="0" indent="0">
              <a:buNone/>
            </a:pPr>
            <a:r>
              <a:rPr lang="en-US" sz="1400" dirty="0">
                <a:solidFill>
                  <a:srgbClr val="334155"/>
                </a:solidFill>
                <a:latin typeface="Meiryo" pitchFamily="34" charset="0"/>
                <a:ea typeface="Meiryo" pitchFamily="34" charset="-122"/>
                <a:cs typeface="Meiryo" pitchFamily="34" charset="-120"/>
              </a:rPr>
              <a:t>二次元モデルは一次元より劣化評価が大きくなる傾向</a:t>
            </a:r>
            <a:endParaRPr lang="en-US" sz="1400" dirty="0"/>
          </a:p>
        </p:txBody>
      </p:sp>
      <p:sp>
        <p:nvSpPr>
          <p:cNvPr id="4" name="Shape 2"/>
          <p:cNvSpPr/>
          <p:nvPr/>
        </p:nvSpPr>
        <p:spPr>
          <a:xfrm>
            <a:off x="548640" y="1115568"/>
            <a:ext cx="11094415" cy="0"/>
          </a:xfrm>
          <a:prstGeom prst="line">
            <a:avLst/>
          </a:prstGeom>
          <a:noFill/>
          <a:ln w="12700">
            <a:solidFill>
              <a:srgbClr val="E2E8F0"/>
            </a:solidFill>
            <a:prstDash val="solid"/>
          </a:ln>
        </p:spPr>
        <p:txBody>
          <a:bodyPr/>
          <a:lstStyle/>
          <a:p>
            <a:endParaRPr lang="ja-JP" altLang="en-US"/>
          </a:p>
        </p:txBody>
      </p:sp>
      <p:graphicFrame>
        <p:nvGraphicFramePr>
          <p:cNvPr id="5" name="Chart 0"/>
          <p:cNvGraphicFramePr/>
          <p:nvPr/>
        </p:nvGraphicFramePr>
        <p:xfrm>
          <a:off x="548640" y="1417320"/>
          <a:ext cx="7406640" cy="50749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183880" y="1417320"/>
            <a:ext cx="3459175" cy="2377440"/>
          </a:xfrm>
          <a:prstGeom prst="rect">
            <a:avLst/>
          </a:prstGeom>
          <a:solidFill>
            <a:srgbClr val="F8FAFC"/>
          </a:solidFill>
          <a:ln w="12700">
            <a:solidFill>
              <a:srgbClr val="E2E8F0"/>
            </a:solidFill>
            <a:prstDash val="solid"/>
          </a:ln>
          <a:effectLst>
            <a:outerShdw blurRad="38100" dist="19050" dir="2700000" algn="bl" rotWithShape="0">
              <a:srgbClr val="000000">
                <a:alpha val="12000"/>
              </a:srgbClr>
            </a:outerShdw>
          </a:effectLst>
        </p:spPr>
        <p:txBody>
          <a:bodyPr/>
          <a:lstStyle/>
          <a:p>
            <a:endParaRPr lang="ja-JP" altLang="en-US"/>
          </a:p>
        </p:txBody>
      </p:sp>
      <p:sp>
        <p:nvSpPr>
          <p:cNvPr id="7" name="Text 4"/>
          <p:cNvSpPr/>
          <p:nvPr/>
        </p:nvSpPr>
        <p:spPr>
          <a:xfrm>
            <a:off x="8458200" y="1618488"/>
            <a:ext cx="2910535" cy="320040"/>
          </a:xfrm>
          <a:prstGeom prst="rect">
            <a:avLst/>
          </a:prstGeom>
          <a:noFill/>
          <a:ln/>
        </p:spPr>
        <p:txBody>
          <a:bodyPr wrap="square" rtlCol="0" anchor="ctr"/>
          <a:lstStyle/>
          <a:p>
            <a:pPr marL="0" indent="0">
              <a:buNone/>
            </a:pPr>
            <a:r>
              <a:rPr lang="en-US" sz="1400" b="1" dirty="0">
                <a:solidFill>
                  <a:srgbClr val="334155"/>
                </a:solidFill>
                <a:latin typeface="Meiryo" pitchFamily="34" charset="0"/>
                <a:ea typeface="Meiryo" pitchFamily="34" charset="-122"/>
                <a:cs typeface="Meiryo" pitchFamily="34" charset="-120"/>
              </a:rPr>
              <a:t>読み取り</a:t>
            </a:r>
            <a:endParaRPr lang="en-US" sz="1400" dirty="0"/>
          </a:p>
        </p:txBody>
      </p:sp>
      <p:sp>
        <p:nvSpPr>
          <p:cNvPr id="8" name="Text 5"/>
          <p:cNvSpPr/>
          <p:nvPr/>
        </p:nvSpPr>
        <p:spPr>
          <a:xfrm>
            <a:off x="8503920" y="1984248"/>
            <a:ext cx="2819095" cy="1627632"/>
          </a:xfrm>
          <a:prstGeom prst="rect">
            <a:avLst/>
          </a:prstGeom>
          <a:noFill/>
          <a:ln/>
        </p:spPr>
        <p:txBody>
          <a:bodyPr wrap="square" rtlCol="0" anchor="t"/>
          <a:lstStyle/>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5月：Case2 は Case1 より +13.2%</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6月：Case2 は Case1 より +42.8%</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月間差（5→6月）：Case2 の増加が大きい</a:t>
            </a:r>
            <a:endParaRPr lang="en-US" sz="1600" dirty="0"/>
          </a:p>
        </p:txBody>
      </p:sp>
      <p:sp>
        <p:nvSpPr>
          <p:cNvPr id="9" name="Shape 6"/>
          <p:cNvSpPr/>
          <p:nvPr/>
        </p:nvSpPr>
        <p:spPr>
          <a:xfrm>
            <a:off x="8183880" y="3977640"/>
            <a:ext cx="3459175" cy="2514600"/>
          </a:xfrm>
          <a:prstGeom prst="rect">
            <a:avLst/>
          </a:prstGeom>
          <a:solidFill>
            <a:srgbClr val="EEF2FF"/>
          </a:solidFill>
          <a:ln w="12700">
            <a:solidFill>
              <a:srgbClr val="C7D2FE"/>
            </a:solidFill>
            <a:prstDash val="solid"/>
          </a:ln>
        </p:spPr>
        <p:txBody>
          <a:bodyPr/>
          <a:lstStyle/>
          <a:p>
            <a:endParaRPr lang="ja-JP" altLang="en-US"/>
          </a:p>
        </p:txBody>
      </p:sp>
      <p:sp>
        <p:nvSpPr>
          <p:cNvPr id="10" name="Text 7"/>
          <p:cNvSpPr/>
          <p:nvPr/>
        </p:nvSpPr>
        <p:spPr>
          <a:xfrm>
            <a:off x="8458200" y="4160520"/>
            <a:ext cx="3184855" cy="274320"/>
          </a:xfrm>
          <a:prstGeom prst="rect">
            <a:avLst/>
          </a:prstGeom>
          <a:noFill/>
          <a:ln/>
        </p:spPr>
        <p:txBody>
          <a:bodyPr wrap="square" rtlCol="0" anchor="ctr"/>
          <a:lstStyle/>
          <a:p>
            <a:pPr marL="0" indent="0">
              <a:buNone/>
            </a:pPr>
            <a:r>
              <a:rPr lang="en-US" sz="1400" b="1" dirty="0">
                <a:solidFill>
                  <a:srgbClr val="334155"/>
                </a:solidFill>
                <a:latin typeface="Meiryo" pitchFamily="34" charset="0"/>
                <a:ea typeface="Meiryo" pitchFamily="34" charset="-122"/>
                <a:cs typeface="Meiryo" pitchFamily="34" charset="-120"/>
              </a:rPr>
              <a:t>解釈（簡潔）</a:t>
            </a:r>
            <a:endParaRPr lang="en-US" sz="1400" dirty="0"/>
          </a:p>
        </p:txBody>
      </p:sp>
      <p:sp>
        <p:nvSpPr>
          <p:cNvPr id="11" name="Text 8"/>
          <p:cNvSpPr/>
          <p:nvPr/>
        </p:nvSpPr>
        <p:spPr>
          <a:xfrm>
            <a:off x="8458200" y="4480560"/>
            <a:ext cx="3184855" cy="1463040"/>
          </a:xfrm>
          <a:prstGeom prst="rect">
            <a:avLst/>
          </a:prstGeom>
          <a:noFill/>
          <a:ln/>
        </p:spPr>
        <p:txBody>
          <a:bodyPr wrap="square" rtlCol="0" anchor="t"/>
          <a:lstStyle/>
          <a:p>
            <a:pPr marL="0" indent="0">
              <a:buNone/>
            </a:pPr>
            <a:r>
              <a:rPr lang="en-US" sz="1200" dirty="0">
                <a:solidFill>
                  <a:srgbClr val="0B1220"/>
                </a:solidFill>
                <a:latin typeface="Meiryo" pitchFamily="34" charset="0"/>
                <a:ea typeface="Meiryo" pitchFamily="34" charset="-122"/>
                <a:cs typeface="Meiryo" pitchFamily="34" charset="-120"/>
              </a:rPr>
              <a:t>SOC水準の違いによる劣化感度を加えることで、</a:t>
            </a:r>
            <a:endParaRPr lang="en-US" sz="1200" dirty="0"/>
          </a:p>
          <a:p>
            <a:pPr marL="0" indent="0">
              <a:buNone/>
            </a:pPr>
            <a:r>
              <a:rPr lang="en-US" sz="1200" dirty="0">
                <a:solidFill>
                  <a:srgbClr val="0B1220"/>
                </a:solidFill>
                <a:latin typeface="Meiryo" pitchFamily="34" charset="0"/>
                <a:ea typeface="Meiryo" pitchFamily="34" charset="-122"/>
                <a:cs typeface="Meiryo" pitchFamily="34" charset="-120"/>
              </a:rPr>
              <a:t>運用の「高SOC待機」等がよりコスト化されやすい。</a:t>
            </a:r>
            <a:endParaRPr lang="en-US" sz="1200" dirty="0"/>
          </a:p>
        </p:txBody>
      </p:sp>
      <p:sp>
        <p:nvSpPr>
          <p:cNvPr id="12" name="テキスト ボックス 11">
            <a:extLst>
              <a:ext uri="{FF2B5EF4-FFF2-40B4-BE49-F238E27FC236}">
                <a16:creationId xmlns:a16="http://schemas.microsoft.com/office/drawing/2014/main" id="{27F25A11-48B5-D34A-2AEA-CB62D67F4F82}"/>
              </a:ext>
            </a:extLst>
          </p:cNvPr>
          <p:cNvSpPr txBox="1"/>
          <p:nvPr/>
        </p:nvSpPr>
        <p:spPr>
          <a:xfrm>
            <a:off x="11708524" y="6492240"/>
            <a:ext cx="483476" cy="369332"/>
          </a:xfrm>
          <a:prstGeom prst="rect">
            <a:avLst/>
          </a:prstGeom>
          <a:noFill/>
        </p:spPr>
        <p:txBody>
          <a:bodyPr wrap="square" rtlCol="0">
            <a:spAutoFit/>
          </a:bodyPr>
          <a:lstStyle/>
          <a:p>
            <a:r>
              <a:rPr kumimoji="1" lang="en-US" altLang="ja-JP" dirty="0"/>
              <a:t>10</a:t>
            </a:r>
            <a:endParaRPr kumimoji="1" lang="ja-JP"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457200"/>
          </a:xfrm>
          <a:prstGeom prst="rect">
            <a:avLst/>
          </a:prstGeom>
          <a:noFill/>
          <a:ln/>
        </p:spPr>
        <p:txBody>
          <a:bodyPr wrap="square" rtlCol="0" anchor="ctr"/>
          <a:lstStyle/>
          <a:p>
            <a:pPr marL="0" indent="0">
              <a:buNone/>
            </a:pPr>
            <a:r>
              <a:rPr lang="en-US" sz="2800" b="1" dirty="0">
                <a:solidFill>
                  <a:srgbClr val="0B1220"/>
                </a:solidFill>
                <a:latin typeface="Meiryo" pitchFamily="34" charset="0"/>
                <a:ea typeface="Meiryo" pitchFamily="34" charset="-122"/>
                <a:cs typeface="Meiryo" pitchFamily="34" charset="-120"/>
              </a:rPr>
              <a:t>結果②：目的関数（収益相当）の比較</a:t>
            </a:r>
            <a:endParaRPr lang="en-US" sz="2800" dirty="0"/>
          </a:p>
        </p:txBody>
      </p:sp>
      <p:sp>
        <p:nvSpPr>
          <p:cNvPr id="3" name="Text 1"/>
          <p:cNvSpPr/>
          <p:nvPr/>
        </p:nvSpPr>
        <p:spPr>
          <a:xfrm>
            <a:off x="548640" y="786384"/>
            <a:ext cx="11094415" cy="320040"/>
          </a:xfrm>
          <a:prstGeom prst="rect">
            <a:avLst/>
          </a:prstGeom>
          <a:noFill/>
          <a:ln/>
        </p:spPr>
        <p:txBody>
          <a:bodyPr wrap="square" rtlCol="0" anchor="ctr"/>
          <a:lstStyle/>
          <a:p>
            <a:pPr marL="0" indent="0">
              <a:buNone/>
            </a:pPr>
            <a:r>
              <a:rPr lang="en-US" sz="1400" dirty="0">
                <a:solidFill>
                  <a:srgbClr val="334155"/>
                </a:solidFill>
                <a:latin typeface="Meiryo" pitchFamily="34" charset="0"/>
                <a:ea typeface="Meiryo" pitchFamily="34" charset="-122"/>
                <a:cs typeface="Meiryo" pitchFamily="34" charset="-120"/>
              </a:rPr>
              <a:t>劣化を考慮すると収益相当値は低下</a:t>
            </a:r>
            <a:endParaRPr lang="en-US" sz="1400" dirty="0"/>
          </a:p>
        </p:txBody>
      </p:sp>
      <p:sp>
        <p:nvSpPr>
          <p:cNvPr id="4" name="Shape 2"/>
          <p:cNvSpPr/>
          <p:nvPr/>
        </p:nvSpPr>
        <p:spPr>
          <a:xfrm>
            <a:off x="548640" y="1115568"/>
            <a:ext cx="11094415" cy="0"/>
          </a:xfrm>
          <a:prstGeom prst="line">
            <a:avLst/>
          </a:prstGeom>
          <a:noFill/>
          <a:ln w="12700">
            <a:solidFill>
              <a:srgbClr val="E2E8F0"/>
            </a:solidFill>
            <a:prstDash val="solid"/>
          </a:ln>
        </p:spPr>
        <p:txBody>
          <a:bodyPr/>
          <a:lstStyle/>
          <a:p>
            <a:endParaRPr lang="ja-JP" altLang="en-US"/>
          </a:p>
        </p:txBody>
      </p:sp>
      <p:graphicFrame>
        <p:nvGraphicFramePr>
          <p:cNvPr id="5" name="Chart 0"/>
          <p:cNvGraphicFramePr/>
          <p:nvPr/>
        </p:nvGraphicFramePr>
        <p:xfrm>
          <a:off x="548640" y="1417320"/>
          <a:ext cx="7040880" cy="50749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7818120" y="1417320"/>
            <a:ext cx="3824935" cy="274320"/>
          </a:xfrm>
          <a:prstGeom prst="rect">
            <a:avLst/>
          </a:prstGeom>
          <a:noFill/>
          <a:ln/>
        </p:spPr>
        <p:txBody>
          <a:bodyPr wrap="square" rtlCol="0" anchor="ctr"/>
          <a:lstStyle/>
          <a:p>
            <a:pPr marL="0" indent="0">
              <a:buNone/>
            </a:pPr>
            <a:r>
              <a:rPr lang="en-US" sz="1400" b="1" dirty="0">
                <a:solidFill>
                  <a:srgbClr val="334155"/>
                </a:solidFill>
                <a:latin typeface="Meiryo" pitchFamily="34" charset="0"/>
                <a:ea typeface="Meiryo" pitchFamily="34" charset="-122"/>
                <a:cs typeface="Meiryo" pitchFamily="34" charset="-120"/>
              </a:rPr>
              <a:t>SOC推移（参考）</a:t>
            </a:r>
            <a:endParaRPr lang="en-US" sz="1400" dirty="0"/>
          </a:p>
        </p:txBody>
      </p:sp>
      <p:sp>
        <p:nvSpPr>
          <p:cNvPr id="7" name="Shape 4"/>
          <p:cNvSpPr/>
          <p:nvPr/>
        </p:nvSpPr>
        <p:spPr>
          <a:xfrm>
            <a:off x="7818120" y="1737360"/>
            <a:ext cx="3824935" cy="2331720"/>
          </a:xfrm>
          <a:prstGeom prst="rect">
            <a:avLst/>
          </a:prstGeom>
          <a:solidFill>
            <a:srgbClr val="F8FAFC"/>
          </a:solidFill>
          <a:ln w="12700">
            <a:solidFill>
              <a:srgbClr val="E2E8F0"/>
            </a:solidFill>
            <a:prstDash val="solid"/>
          </a:ln>
        </p:spPr>
        <p:txBody>
          <a:bodyPr/>
          <a:lstStyle/>
          <a:p>
            <a:endParaRPr lang="ja-JP" altLang="en-US"/>
          </a:p>
        </p:txBody>
      </p:sp>
      <p:pic>
        <p:nvPicPr>
          <p:cNvPr id="8" name="Image 0" descr="/mnt/data/ppt_assets/fig_soc_may.png"/>
          <p:cNvPicPr>
            <a:picLocks noChangeAspect="1"/>
          </p:cNvPicPr>
          <p:nvPr/>
        </p:nvPicPr>
        <p:blipFill>
          <a:blip r:embed="rId4"/>
          <a:srcRect l="7967" r="7967"/>
          <a:stretch/>
        </p:blipFill>
        <p:spPr>
          <a:xfrm>
            <a:off x="8001000" y="1874520"/>
            <a:ext cx="3459175" cy="2057400"/>
          </a:xfrm>
          <a:prstGeom prst="rect">
            <a:avLst/>
          </a:prstGeom>
        </p:spPr>
      </p:pic>
      <p:sp>
        <p:nvSpPr>
          <p:cNvPr id="9" name="Text 5"/>
          <p:cNvSpPr/>
          <p:nvPr/>
        </p:nvSpPr>
        <p:spPr>
          <a:xfrm>
            <a:off x="8001000" y="3794760"/>
            <a:ext cx="3459175" cy="228600"/>
          </a:xfrm>
          <a:prstGeom prst="rect">
            <a:avLst/>
          </a:prstGeom>
          <a:noFill/>
          <a:ln/>
        </p:spPr>
        <p:txBody>
          <a:bodyPr wrap="square" rtlCol="0" anchor="ctr"/>
          <a:lstStyle/>
          <a:p>
            <a:pPr marL="0" indent="0">
              <a:buNone/>
            </a:pPr>
            <a:r>
              <a:rPr lang="en-US" sz="1000" dirty="0">
                <a:solidFill>
                  <a:srgbClr val="334155"/>
                </a:solidFill>
                <a:latin typeface="Meiryo" pitchFamily="34" charset="0"/>
                <a:ea typeface="Meiryo" pitchFamily="34" charset="-122"/>
                <a:cs typeface="Meiryo" pitchFamily="34" charset="-120"/>
              </a:rPr>
              <a:t>5月（図5）</a:t>
            </a:r>
            <a:endParaRPr lang="en-US" sz="1000" dirty="0"/>
          </a:p>
        </p:txBody>
      </p:sp>
      <p:sp>
        <p:nvSpPr>
          <p:cNvPr id="10" name="Shape 6"/>
          <p:cNvSpPr/>
          <p:nvPr/>
        </p:nvSpPr>
        <p:spPr>
          <a:xfrm>
            <a:off x="7818120" y="4251960"/>
            <a:ext cx="3824935" cy="2240280"/>
          </a:xfrm>
          <a:prstGeom prst="rect">
            <a:avLst/>
          </a:prstGeom>
          <a:solidFill>
            <a:srgbClr val="F8FAFC"/>
          </a:solidFill>
          <a:ln w="12700">
            <a:solidFill>
              <a:srgbClr val="E2E8F0"/>
            </a:solidFill>
            <a:prstDash val="solid"/>
          </a:ln>
        </p:spPr>
        <p:txBody>
          <a:bodyPr/>
          <a:lstStyle/>
          <a:p>
            <a:endParaRPr lang="ja-JP" altLang="en-US"/>
          </a:p>
        </p:txBody>
      </p:sp>
      <p:pic>
        <p:nvPicPr>
          <p:cNvPr id="11" name="Image 1" descr="/mnt/data/ppt_assets/fig_soc_june.png"/>
          <p:cNvPicPr>
            <a:picLocks noChangeAspect="1"/>
          </p:cNvPicPr>
          <p:nvPr/>
        </p:nvPicPr>
        <p:blipFill>
          <a:blip r:embed="rId5"/>
          <a:srcRect l="6012" r="6012"/>
          <a:stretch/>
        </p:blipFill>
        <p:spPr>
          <a:xfrm>
            <a:off x="8001000" y="4389120"/>
            <a:ext cx="3459175" cy="1965960"/>
          </a:xfrm>
          <a:prstGeom prst="rect">
            <a:avLst/>
          </a:prstGeom>
        </p:spPr>
      </p:pic>
      <p:sp>
        <p:nvSpPr>
          <p:cNvPr id="12" name="Text 7"/>
          <p:cNvSpPr/>
          <p:nvPr/>
        </p:nvSpPr>
        <p:spPr>
          <a:xfrm>
            <a:off x="8001000" y="6263640"/>
            <a:ext cx="3459175" cy="228600"/>
          </a:xfrm>
          <a:prstGeom prst="rect">
            <a:avLst/>
          </a:prstGeom>
          <a:noFill/>
          <a:ln/>
        </p:spPr>
        <p:txBody>
          <a:bodyPr wrap="square" rtlCol="0" anchor="ctr"/>
          <a:lstStyle/>
          <a:p>
            <a:pPr marL="0" indent="0">
              <a:buNone/>
            </a:pPr>
            <a:r>
              <a:rPr lang="en-US" sz="1000" dirty="0">
                <a:solidFill>
                  <a:srgbClr val="334155"/>
                </a:solidFill>
                <a:latin typeface="Meiryo" pitchFamily="34" charset="0"/>
                <a:ea typeface="Meiryo" pitchFamily="34" charset="-122"/>
                <a:cs typeface="Meiryo" pitchFamily="34" charset="-120"/>
              </a:rPr>
              <a:t>6月（図8）</a:t>
            </a:r>
            <a:endParaRPr lang="en-US" sz="1000" dirty="0"/>
          </a:p>
        </p:txBody>
      </p:sp>
      <p:sp>
        <p:nvSpPr>
          <p:cNvPr id="13" name="テキスト ボックス 12">
            <a:extLst>
              <a:ext uri="{FF2B5EF4-FFF2-40B4-BE49-F238E27FC236}">
                <a16:creationId xmlns:a16="http://schemas.microsoft.com/office/drawing/2014/main" id="{7D75308C-8660-5D0E-4462-BF1B84705D5C}"/>
              </a:ext>
            </a:extLst>
          </p:cNvPr>
          <p:cNvSpPr txBox="1"/>
          <p:nvPr/>
        </p:nvSpPr>
        <p:spPr>
          <a:xfrm>
            <a:off x="11682248" y="6395545"/>
            <a:ext cx="509752" cy="369332"/>
          </a:xfrm>
          <a:prstGeom prst="rect">
            <a:avLst/>
          </a:prstGeom>
          <a:noFill/>
        </p:spPr>
        <p:txBody>
          <a:bodyPr wrap="square" rtlCol="0">
            <a:spAutoFit/>
          </a:bodyPr>
          <a:lstStyle/>
          <a:p>
            <a:r>
              <a:rPr kumimoji="1" lang="en-US" altLang="ja-JP" dirty="0"/>
              <a:t>11</a:t>
            </a:r>
            <a:endParaRPr kumimoji="1" lang="ja-JP"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457200"/>
          </a:xfrm>
          <a:prstGeom prst="rect">
            <a:avLst/>
          </a:prstGeom>
          <a:noFill/>
          <a:ln/>
        </p:spPr>
        <p:txBody>
          <a:bodyPr wrap="square" rtlCol="0" anchor="ctr"/>
          <a:lstStyle/>
          <a:p>
            <a:pPr marL="0" indent="0">
              <a:buNone/>
            </a:pPr>
            <a:r>
              <a:rPr lang="en-US" sz="2800" b="1" dirty="0" err="1">
                <a:solidFill>
                  <a:srgbClr val="0B1220"/>
                </a:solidFill>
                <a:latin typeface="Meiryo" pitchFamily="34" charset="0"/>
                <a:ea typeface="Meiryo" pitchFamily="34" charset="-122"/>
                <a:cs typeface="Meiryo" pitchFamily="34" charset="-120"/>
              </a:rPr>
              <a:t>考察</a:t>
            </a:r>
            <a:endParaRPr lang="en-US" sz="2800" dirty="0"/>
          </a:p>
        </p:txBody>
      </p:sp>
      <p:sp>
        <p:nvSpPr>
          <p:cNvPr id="3" name="Text 1"/>
          <p:cNvSpPr/>
          <p:nvPr/>
        </p:nvSpPr>
        <p:spPr>
          <a:xfrm>
            <a:off x="548640" y="786384"/>
            <a:ext cx="11094415" cy="320040"/>
          </a:xfrm>
          <a:prstGeom prst="rect">
            <a:avLst/>
          </a:prstGeom>
          <a:noFill/>
          <a:ln/>
        </p:spPr>
        <p:txBody>
          <a:bodyPr wrap="square" rtlCol="0" anchor="ctr"/>
          <a:lstStyle/>
          <a:p>
            <a:pPr marL="0" indent="0">
              <a:buNone/>
            </a:pPr>
            <a:r>
              <a:rPr lang="ja-JP" altLang="en-US" sz="1400" dirty="0">
                <a:solidFill>
                  <a:srgbClr val="334155"/>
                </a:solidFill>
                <a:latin typeface="Meiryo" pitchFamily="34" charset="0"/>
                <a:ea typeface="Meiryo" pitchFamily="34" charset="-122"/>
                <a:cs typeface="Meiryo" pitchFamily="34" charset="-120"/>
              </a:rPr>
              <a:t>二次元ピースワイズ</a:t>
            </a:r>
            <a:r>
              <a:rPr lang="en-US" sz="1400" dirty="0" err="1">
                <a:solidFill>
                  <a:srgbClr val="334155"/>
                </a:solidFill>
                <a:latin typeface="Meiryo" pitchFamily="34" charset="0"/>
                <a:ea typeface="Meiryo" pitchFamily="34" charset="-122"/>
                <a:cs typeface="Meiryo" pitchFamily="34" charset="-120"/>
              </a:rPr>
              <a:t>劣化表現が運用戦略に与える影響</a:t>
            </a:r>
            <a:endParaRPr lang="en-US" sz="1400" dirty="0"/>
          </a:p>
        </p:txBody>
      </p:sp>
      <p:sp>
        <p:nvSpPr>
          <p:cNvPr id="4" name="Shape 2"/>
          <p:cNvSpPr/>
          <p:nvPr/>
        </p:nvSpPr>
        <p:spPr>
          <a:xfrm>
            <a:off x="548640" y="1115568"/>
            <a:ext cx="11094415" cy="0"/>
          </a:xfrm>
          <a:prstGeom prst="line">
            <a:avLst/>
          </a:prstGeom>
          <a:noFill/>
          <a:ln w="12700">
            <a:solidFill>
              <a:srgbClr val="E2E8F0"/>
            </a:solidFill>
            <a:prstDash val="solid"/>
          </a:ln>
        </p:spPr>
        <p:txBody>
          <a:bodyPr/>
          <a:lstStyle/>
          <a:p>
            <a:endParaRPr lang="ja-JP" altLang="en-US"/>
          </a:p>
        </p:txBody>
      </p:sp>
      <p:sp>
        <p:nvSpPr>
          <p:cNvPr id="5" name="Shape 3"/>
          <p:cNvSpPr/>
          <p:nvPr/>
        </p:nvSpPr>
        <p:spPr>
          <a:xfrm>
            <a:off x="548640" y="1417320"/>
            <a:ext cx="11094415" cy="2057400"/>
          </a:xfrm>
          <a:prstGeom prst="rect">
            <a:avLst/>
          </a:prstGeom>
          <a:solidFill>
            <a:srgbClr val="F8FAFC"/>
          </a:solidFill>
          <a:ln w="12700">
            <a:solidFill>
              <a:srgbClr val="E2E8F0"/>
            </a:solidFill>
            <a:prstDash val="solid"/>
          </a:ln>
          <a:effectLst>
            <a:outerShdw blurRad="38100" dist="19050" dir="2700000" algn="bl" rotWithShape="0">
              <a:srgbClr val="000000">
                <a:alpha val="12000"/>
              </a:srgbClr>
            </a:outerShdw>
          </a:effectLst>
        </p:spPr>
        <p:txBody>
          <a:bodyPr/>
          <a:lstStyle/>
          <a:p>
            <a:endParaRPr lang="ja-JP" altLang="en-US"/>
          </a:p>
        </p:txBody>
      </p:sp>
      <p:sp>
        <p:nvSpPr>
          <p:cNvPr id="6" name="Text 4"/>
          <p:cNvSpPr/>
          <p:nvPr/>
        </p:nvSpPr>
        <p:spPr>
          <a:xfrm>
            <a:off x="822960" y="1618488"/>
            <a:ext cx="10545775" cy="320040"/>
          </a:xfrm>
          <a:prstGeom prst="rect">
            <a:avLst/>
          </a:prstGeom>
          <a:noFill/>
          <a:ln/>
        </p:spPr>
        <p:txBody>
          <a:bodyPr wrap="square" rtlCol="0" anchor="ctr"/>
          <a:lstStyle/>
          <a:p>
            <a:pPr marL="0" indent="0">
              <a:buNone/>
            </a:pPr>
            <a:r>
              <a:rPr lang="en-US" sz="1400" b="1" dirty="0">
                <a:solidFill>
                  <a:srgbClr val="334155"/>
                </a:solidFill>
                <a:latin typeface="Meiryo" pitchFamily="34" charset="0"/>
                <a:ea typeface="Meiryo" pitchFamily="34" charset="-122"/>
                <a:cs typeface="Meiryo" pitchFamily="34" charset="-120"/>
              </a:rPr>
              <a:t>観測された傾向</a:t>
            </a:r>
            <a:endParaRPr lang="en-US" sz="1400" dirty="0"/>
          </a:p>
        </p:txBody>
      </p:sp>
      <p:sp>
        <p:nvSpPr>
          <p:cNvPr id="7" name="Text 5"/>
          <p:cNvSpPr/>
          <p:nvPr/>
        </p:nvSpPr>
        <p:spPr>
          <a:xfrm>
            <a:off x="868680" y="1984248"/>
            <a:ext cx="10454335" cy="1307592"/>
          </a:xfrm>
          <a:prstGeom prst="rect">
            <a:avLst/>
          </a:prstGeom>
          <a:noFill/>
          <a:ln/>
        </p:spPr>
        <p:txBody>
          <a:bodyPr wrap="square" rtlCol="0" anchor="t"/>
          <a:lstStyle/>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DoDが大きい運用・深い充放電の繰り返しは劣化コスト増加の主要因</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二次元モデルでは SOC水準に応じた劣化感度が反映される</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結果として「高SOCで待機」よりも「必要直前まで低SOCを維持→引き上げ」が選ばれやすい</a:t>
            </a:r>
            <a:endParaRPr lang="en-US" sz="1600" dirty="0"/>
          </a:p>
        </p:txBody>
      </p:sp>
      <p:sp>
        <p:nvSpPr>
          <p:cNvPr id="8" name="Shape 6"/>
          <p:cNvSpPr/>
          <p:nvPr/>
        </p:nvSpPr>
        <p:spPr>
          <a:xfrm>
            <a:off x="548640" y="3703320"/>
            <a:ext cx="5897880" cy="2423160"/>
          </a:xfrm>
          <a:prstGeom prst="rect">
            <a:avLst/>
          </a:prstGeom>
          <a:solidFill>
            <a:srgbClr val="F8FAFC"/>
          </a:solidFill>
          <a:ln w="12700">
            <a:solidFill>
              <a:srgbClr val="E2E8F0"/>
            </a:solidFill>
            <a:prstDash val="solid"/>
          </a:ln>
          <a:effectLst>
            <a:outerShdw blurRad="38100" dist="19050" dir="2700000" algn="bl" rotWithShape="0">
              <a:srgbClr val="000000">
                <a:alpha val="12000"/>
              </a:srgbClr>
            </a:outerShdw>
          </a:effectLst>
        </p:spPr>
        <p:txBody>
          <a:bodyPr/>
          <a:lstStyle/>
          <a:p>
            <a:endParaRPr lang="ja-JP" altLang="en-US"/>
          </a:p>
        </p:txBody>
      </p:sp>
      <p:sp>
        <p:nvSpPr>
          <p:cNvPr id="9" name="Text 7"/>
          <p:cNvSpPr/>
          <p:nvPr/>
        </p:nvSpPr>
        <p:spPr>
          <a:xfrm>
            <a:off x="822960" y="3904488"/>
            <a:ext cx="5349240" cy="320040"/>
          </a:xfrm>
          <a:prstGeom prst="rect">
            <a:avLst/>
          </a:prstGeom>
          <a:noFill/>
          <a:ln/>
        </p:spPr>
        <p:txBody>
          <a:bodyPr wrap="square" rtlCol="0" anchor="ctr"/>
          <a:lstStyle/>
          <a:p>
            <a:pPr marL="0" indent="0">
              <a:buNone/>
            </a:pPr>
            <a:r>
              <a:rPr lang="en-US" sz="1400" b="1" dirty="0">
                <a:solidFill>
                  <a:srgbClr val="334155"/>
                </a:solidFill>
                <a:latin typeface="Meiryo" pitchFamily="34" charset="0"/>
                <a:ea typeface="Meiryo" pitchFamily="34" charset="-122"/>
                <a:cs typeface="Meiryo" pitchFamily="34" charset="-120"/>
              </a:rPr>
              <a:t>運用上の含意</a:t>
            </a:r>
            <a:endParaRPr lang="en-US" sz="1400" dirty="0"/>
          </a:p>
        </p:txBody>
      </p:sp>
      <p:sp>
        <p:nvSpPr>
          <p:cNvPr id="10" name="Text 8"/>
          <p:cNvSpPr/>
          <p:nvPr/>
        </p:nvSpPr>
        <p:spPr>
          <a:xfrm>
            <a:off x="868680" y="4270248"/>
            <a:ext cx="5257800" cy="1673352"/>
          </a:xfrm>
          <a:prstGeom prst="rect">
            <a:avLst/>
          </a:prstGeom>
          <a:noFill/>
          <a:ln/>
        </p:spPr>
        <p:txBody>
          <a:bodyPr wrap="square" rtlCol="0" anchor="t"/>
          <a:lstStyle/>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高SOC待機の“安全側余裕”と、劣化コスト最小化のトレードオフを明確化</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実運用では価格予測誤差や指令不確実性があり、低SOC待機は機会損失・応動不能リスク</a:t>
            </a:r>
            <a:endParaRPr lang="en-US" sz="1600" dirty="0"/>
          </a:p>
        </p:txBody>
      </p:sp>
      <p:sp>
        <p:nvSpPr>
          <p:cNvPr id="11" name="Shape 9"/>
          <p:cNvSpPr/>
          <p:nvPr/>
        </p:nvSpPr>
        <p:spPr>
          <a:xfrm>
            <a:off x="6172200" y="3703320"/>
            <a:ext cx="5470855" cy="2423160"/>
          </a:xfrm>
          <a:prstGeom prst="rect">
            <a:avLst/>
          </a:prstGeom>
          <a:solidFill>
            <a:srgbClr val="F8FAFC"/>
          </a:solidFill>
          <a:ln w="12700">
            <a:solidFill>
              <a:srgbClr val="E2E8F0"/>
            </a:solidFill>
            <a:prstDash val="solid"/>
          </a:ln>
          <a:effectLst>
            <a:outerShdw blurRad="38100" dist="19050" dir="2700000" algn="bl" rotWithShape="0">
              <a:srgbClr val="000000">
                <a:alpha val="12000"/>
              </a:srgbClr>
            </a:outerShdw>
          </a:effectLst>
        </p:spPr>
        <p:txBody>
          <a:bodyPr/>
          <a:lstStyle/>
          <a:p>
            <a:endParaRPr lang="ja-JP" altLang="en-US"/>
          </a:p>
        </p:txBody>
      </p:sp>
      <p:sp>
        <p:nvSpPr>
          <p:cNvPr id="12" name="Text 10"/>
          <p:cNvSpPr/>
          <p:nvPr/>
        </p:nvSpPr>
        <p:spPr>
          <a:xfrm>
            <a:off x="6446520" y="3904488"/>
            <a:ext cx="4922215" cy="320040"/>
          </a:xfrm>
          <a:prstGeom prst="rect">
            <a:avLst/>
          </a:prstGeom>
          <a:noFill/>
          <a:ln/>
        </p:spPr>
        <p:txBody>
          <a:bodyPr wrap="square" rtlCol="0" anchor="ctr"/>
          <a:lstStyle/>
          <a:p>
            <a:pPr marL="0" indent="0">
              <a:buNone/>
            </a:pPr>
            <a:r>
              <a:rPr lang="en-US" sz="1400" b="1" dirty="0">
                <a:solidFill>
                  <a:srgbClr val="334155"/>
                </a:solidFill>
                <a:latin typeface="Meiryo" pitchFamily="34" charset="0"/>
                <a:ea typeface="Meiryo" pitchFamily="34" charset="-122"/>
                <a:cs typeface="Meiryo" pitchFamily="34" charset="-120"/>
              </a:rPr>
              <a:t>改善の方向性（示唆）</a:t>
            </a:r>
            <a:endParaRPr lang="en-US" sz="1400" dirty="0"/>
          </a:p>
        </p:txBody>
      </p:sp>
      <p:sp>
        <p:nvSpPr>
          <p:cNvPr id="13" name="Text 11"/>
          <p:cNvSpPr/>
          <p:nvPr/>
        </p:nvSpPr>
        <p:spPr>
          <a:xfrm>
            <a:off x="6492240" y="4270248"/>
            <a:ext cx="4830775" cy="1673352"/>
          </a:xfrm>
          <a:prstGeom prst="rect">
            <a:avLst/>
          </a:prstGeom>
          <a:noFill/>
          <a:ln/>
        </p:spPr>
        <p:txBody>
          <a:bodyPr wrap="square" rtlCol="0" anchor="t"/>
          <a:lstStyle/>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不確実性を考慮したロバスト化/確率化</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最低待機水準の導入などで極端解を抑制</a:t>
            </a:r>
            <a:endParaRPr lang="en-US" sz="1600" dirty="0"/>
          </a:p>
        </p:txBody>
      </p:sp>
      <p:sp>
        <p:nvSpPr>
          <p:cNvPr id="14" name="テキスト ボックス 13">
            <a:extLst>
              <a:ext uri="{FF2B5EF4-FFF2-40B4-BE49-F238E27FC236}">
                <a16:creationId xmlns:a16="http://schemas.microsoft.com/office/drawing/2014/main" id="{4FBDFA69-2415-25EF-DC43-CA6413CD5C22}"/>
              </a:ext>
            </a:extLst>
          </p:cNvPr>
          <p:cNvSpPr txBox="1"/>
          <p:nvPr/>
        </p:nvSpPr>
        <p:spPr>
          <a:xfrm>
            <a:off x="11643055" y="6369269"/>
            <a:ext cx="480628" cy="369332"/>
          </a:xfrm>
          <a:prstGeom prst="rect">
            <a:avLst/>
          </a:prstGeom>
          <a:noFill/>
        </p:spPr>
        <p:txBody>
          <a:bodyPr wrap="square" rtlCol="0">
            <a:spAutoFit/>
          </a:bodyPr>
          <a:lstStyle/>
          <a:p>
            <a:r>
              <a:rPr kumimoji="1" lang="en-US" altLang="ja-JP" dirty="0"/>
              <a:t>12</a:t>
            </a:r>
            <a:endParaRPr kumimoji="1" lang="ja-JP"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457200"/>
          </a:xfrm>
          <a:prstGeom prst="rect">
            <a:avLst/>
          </a:prstGeom>
          <a:noFill/>
          <a:ln/>
        </p:spPr>
        <p:txBody>
          <a:bodyPr wrap="square" rtlCol="0" anchor="ctr"/>
          <a:lstStyle/>
          <a:p>
            <a:pPr marL="0" indent="0">
              <a:buNone/>
            </a:pPr>
            <a:r>
              <a:rPr lang="en-US" sz="2800" b="1" dirty="0">
                <a:solidFill>
                  <a:srgbClr val="0B1220"/>
                </a:solidFill>
                <a:latin typeface="Meiryo" pitchFamily="34" charset="0"/>
                <a:ea typeface="Meiryo" pitchFamily="34" charset="-122"/>
                <a:cs typeface="Meiryo" pitchFamily="34" charset="-120"/>
              </a:rPr>
              <a:t>結論と今後の課題</a:t>
            </a:r>
            <a:endParaRPr lang="en-US" sz="2800" dirty="0"/>
          </a:p>
        </p:txBody>
      </p:sp>
      <p:sp>
        <p:nvSpPr>
          <p:cNvPr id="3" name="Text 1"/>
          <p:cNvSpPr/>
          <p:nvPr/>
        </p:nvSpPr>
        <p:spPr>
          <a:xfrm>
            <a:off x="548640" y="786384"/>
            <a:ext cx="11094415" cy="320040"/>
          </a:xfrm>
          <a:prstGeom prst="rect">
            <a:avLst/>
          </a:prstGeom>
          <a:noFill/>
          <a:ln/>
        </p:spPr>
        <p:txBody>
          <a:bodyPr wrap="square" rtlCol="0" anchor="ctr"/>
          <a:lstStyle/>
          <a:p>
            <a:pPr marL="0" indent="0">
              <a:buNone/>
            </a:pPr>
            <a:r>
              <a:rPr lang="en-US" sz="1400" dirty="0">
                <a:solidFill>
                  <a:srgbClr val="334155"/>
                </a:solidFill>
                <a:latin typeface="Meiryo" pitchFamily="34" charset="0"/>
                <a:ea typeface="Meiryo" pitchFamily="34" charset="-122"/>
                <a:cs typeface="Meiryo" pitchFamily="34" charset="-120"/>
              </a:rPr>
              <a:t>劣化考慮の精緻化は最適運用を変える</a:t>
            </a:r>
            <a:endParaRPr lang="en-US" sz="1400" dirty="0"/>
          </a:p>
        </p:txBody>
      </p:sp>
      <p:sp>
        <p:nvSpPr>
          <p:cNvPr id="4" name="Shape 2"/>
          <p:cNvSpPr/>
          <p:nvPr/>
        </p:nvSpPr>
        <p:spPr>
          <a:xfrm>
            <a:off x="548640" y="1115568"/>
            <a:ext cx="11094415" cy="0"/>
          </a:xfrm>
          <a:prstGeom prst="line">
            <a:avLst/>
          </a:prstGeom>
          <a:noFill/>
          <a:ln w="12700">
            <a:solidFill>
              <a:srgbClr val="E2E8F0"/>
            </a:solidFill>
            <a:prstDash val="solid"/>
          </a:ln>
        </p:spPr>
        <p:txBody>
          <a:bodyPr/>
          <a:lstStyle/>
          <a:p>
            <a:endParaRPr lang="ja-JP" altLang="en-US"/>
          </a:p>
        </p:txBody>
      </p:sp>
      <p:sp>
        <p:nvSpPr>
          <p:cNvPr id="5" name="Shape 3"/>
          <p:cNvSpPr/>
          <p:nvPr/>
        </p:nvSpPr>
        <p:spPr>
          <a:xfrm>
            <a:off x="548640" y="1417320"/>
            <a:ext cx="6035040" cy="2560320"/>
          </a:xfrm>
          <a:prstGeom prst="rect">
            <a:avLst/>
          </a:prstGeom>
          <a:solidFill>
            <a:srgbClr val="F8FAFC"/>
          </a:solidFill>
          <a:ln w="12700">
            <a:solidFill>
              <a:srgbClr val="E2E8F0"/>
            </a:solidFill>
            <a:prstDash val="solid"/>
          </a:ln>
          <a:effectLst>
            <a:outerShdw blurRad="38100" dist="19050" dir="2700000" algn="bl" rotWithShape="0">
              <a:srgbClr val="000000">
                <a:alpha val="12000"/>
              </a:srgbClr>
            </a:outerShdw>
          </a:effectLst>
        </p:spPr>
        <p:txBody>
          <a:bodyPr/>
          <a:lstStyle/>
          <a:p>
            <a:endParaRPr lang="ja-JP" altLang="en-US"/>
          </a:p>
        </p:txBody>
      </p:sp>
      <p:sp>
        <p:nvSpPr>
          <p:cNvPr id="6" name="Text 4"/>
          <p:cNvSpPr/>
          <p:nvPr/>
        </p:nvSpPr>
        <p:spPr>
          <a:xfrm>
            <a:off x="822960" y="1618488"/>
            <a:ext cx="5486400" cy="320040"/>
          </a:xfrm>
          <a:prstGeom prst="rect">
            <a:avLst/>
          </a:prstGeom>
          <a:noFill/>
          <a:ln/>
        </p:spPr>
        <p:txBody>
          <a:bodyPr wrap="square" rtlCol="0" anchor="ctr"/>
          <a:lstStyle/>
          <a:p>
            <a:pPr marL="0" indent="0">
              <a:buNone/>
            </a:pPr>
            <a:r>
              <a:rPr lang="en-US" sz="1400" b="1" dirty="0">
                <a:solidFill>
                  <a:srgbClr val="334155"/>
                </a:solidFill>
                <a:latin typeface="Meiryo" pitchFamily="34" charset="0"/>
                <a:ea typeface="Meiryo" pitchFamily="34" charset="-122"/>
                <a:cs typeface="Meiryo" pitchFamily="34" charset="-120"/>
              </a:rPr>
              <a:t>結論（要約）</a:t>
            </a:r>
            <a:endParaRPr lang="en-US" sz="1400" dirty="0"/>
          </a:p>
        </p:txBody>
      </p:sp>
      <p:sp>
        <p:nvSpPr>
          <p:cNvPr id="7" name="Text 5"/>
          <p:cNvSpPr/>
          <p:nvPr/>
        </p:nvSpPr>
        <p:spPr>
          <a:xfrm>
            <a:off x="868680" y="1984248"/>
            <a:ext cx="5394960" cy="1810512"/>
          </a:xfrm>
          <a:prstGeom prst="rect">
            <a:avLst/>
          </a:prstGeom>
          <a:noFill/>
          <a:ln/>
        </p:spPr>
        <p:txBody>
          <a:bodyPr wrap="square" rtlCol="0" anchor="t"/>
          <a:lstStyle/>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劣化コストを目的関数に組み込み、表現の違いが運用に与える影響を確認</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2Dピースワイズにより SOC水準の劣化感度を反映できる</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劣化を考慮した最適化は深い充放電を抑制する方向に作用</a:t>
            </a:r>
            <a:endParaRPr lang="en-US" sz="1600" dirty="0"/>
          </a:p>
        </p:txBody>
      </p:sp>
      <p:sp>
        <p:nvSpPr>
          <p:cNvPr id="8" name="Shape 6"/>
          <p:cNvSpPr/>
          <p:nvPr/>
        </p:nvSpPr>
        <p:spPr>
          <a:xfrm>
            <a:off x="6355080" y="1417320"/>
            <a:ext cx="5287975" cy="4709160"/>
          </a:xfrm>
          <a:prstGeom prst="rect">
            <a:avLst/>
          </a:prstGeom>
          <a:solidFill>
            <a:srgbClr val="F8FAFC"/>
          </a:solidFill>
          <a:ln w="12700">
            <a:solidFill>
              <a:srgbClr val="E2E8F0"/>
            </a:solidFill>
            <a:prstDash val="solid"/>
          </a:ln>
          <a:effectLst>
            <a:outerShdw blurRad="38100" dist="19050" dir="2700000" algn="bl" rotWithShape="0">
              <a:srgbClr val="000000">
                <a:alpha val="12000"/>
              </a:srgbClr>
            </a:outerShdw>
          </a:effectLst>
        </p:spPr>
        <p:txBody>
          <a:bodyPr/>
          <a:lstStyle/>
          <a:p>
            <a:endParaRPr lang="ja-JP" altLang="en-US"/>
          </a:p>
        </p:txBody>
      </p:sp>
      <p:sp>
        <p:nvSpPr>
          <p:cNvPr id="9" name="Text 7"/>
          <p:cNvSpPr/>
          <p:nvPr/>
        </p:nvSpPr>
        <p:spPr>
          <a:xfrm>
            <a:off x="6629400" y="1618488"/>
            <a:ext cx="4739335" cy="320040"/>
          </a:xfrm>
          <a:prstGeom prst="rect">
            <a:avLst/>
          </a:prstGeom>
          <a:noFill/>
          <a:ln/>
        </p:spPr>
        <p:txBody>
          <a:bodyPr wrap="square" rtlCol="0" anchor="ctr"/>
          <a:lstStyle/>
          <a:p>
            <a:pPr marL="0" indent="0">
              <a:buNone/>
            </a:pPr>
            <a:r>
              <a:rPr lang="en-US" sz="1400" b="1" dirty="0">
                <a:solidFill>
                  <a:srgbClr val="334155"/>
                </a:solidFill>
                <a:latin typeface="Meiryo" pitchFamily="34" charset="0"/>
                <a:ea typeface="Meiryo" pitchFamily="34" charset="-122"/>
                <a:cs typeface="Meiryo" pitchFamily="34" charset="-120"/>
              </a:rPr>
              <a:t>今後の課題（論文記載）</a:t>
            </a:r>
            <a:endParaRPr lang="en-US" sz="1400" dirty="0"/>
          </a:p>
        </p:txBody>
      </p:sp>
      <p:sp>
        <p:nvSpPr>
          <p:cNvPr id="10" name="Text 8"/>
          <p:cNvSpPr/>
          <p:nvPr/>
        </p:nvSpPr>
        <p:spPr>
          <a:xfrm>
            <a:off x="6675120" y="1984248"/>
            <a:ext cx="4647895" cy="3959352"/>
          </a:xfrm>
          <a:prstGeom prst="rect">
            <a:avLst/>
          </a:prstGeom>
          <a:noFill/>
          <a:ln/>
        </p:spPr>
        <p:txBody>
          <a:bodyPr wrap="square" rtlCol="0" anchor="t"/>
          <a:lstStyle/>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不確実性（価格予測・指令）の導入：確率モデル/ロバスト最適化</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運用リスクを反映する制約設計：最低待機水準、急変抑制など</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劣化指標の精緻化と妥当性検証：実測/文献に基づく同定・感度分析</a:t>
            </a:r>
            <a:endParaRPr lang="en-US" sz="1600" dirty="0"/>
          </a:p>
          <a:p>
            <a:pPr marL="228600" indent="-228600">
              <a:lnSpc>
                <a:spcPct val="115000"/>
              </a:lnSpc>
              <a:buSzPct val="100000"/>
              <a:buChar char="•"/>
            </a:pPr>
            <a:r>
              <a:rPr lang="en-US" sz="1600" dirty="0">
                <a:solidFill>
                  <a:srgbClr val="0B1220"/>
                </a:solidFill>
                <a:latin typeface="Meiryo" pitchFamily="34" charset="0"/>
                <a:ea typeface="Meiryo" pitchFamily="34" charset="-122"/>
                <a:cs typeface="Meiryo" pitchFamily="34" charset="-120"/>
              </a:rPr>
              <a:t>長期評価：日次最適化を積み上げ、寿命末期や更新費用まで評価</a:t>
            </a:r>
            <a:endParaRPr lang="en-US" sz="1600" dirty="0"/>
          </a:p>
        </p:txBody>
      </p:sp>
      <p:sp>
        <p:nvSpPr>
          <p:cNvPr id="11" name="テキスト ボックス 10">
            <a:extLst>
              <a:ext uri="{FF2B5EF4-FFF2-40B4-BE49-F238E27FC236}">
                <a16:creationId xmlns:a16="http://schemas.microsoft.com/office/drawing/2014/main" id="{E9A9CE1C-DFC8-89DB-04A3-F80A755AC519}"/>
              </a:ext>
            </a:extLst>
          </p:cNvPr>
          <p:cNvSpPr txBox="1"/>
          <p:nvPr/>
        </p:nvSpPr>
        <p:spPr>
          <a:xfrm>
            <a:off x="11692759" y="6306207"/>
            <a:ext cx="499241" cy="369332"/>
          </a:xfrm>
          <a:prstGeom prst="rect">
            <a:avLst/>
          </a:prstGeom>
          <a:noFill/>
        </p:spPr>
        <p:txBody>
          <a:bodyPr wrap="square" rtlCol="0">
            <a:spAutoFit/>
          </a:bodyPr>
          <a:lstStyle/>
          <a:p>
            <a:r>
              <a:rPr kumimoji="1" lang="en-US" altLang="ja-JP" dirty="0"/>
              <a:t>13</a:t>
            </a:r>
            <a:endParaRPr kumimoji="1" lang="ja-JP"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FA29CDA-FF14-C447-F80A-36034A0F4825}"/>
              </a:ext>
            </a:extLst>
          </p:cNvPr>
          <p:cNvSpPr txBox="1"/>
          <p:nvPr/>
        </p:nvSpPr>
        <p:spPr>
          <a:xfrm>
            <a:off x="493986" y="346841"/>
            <a:ext cx="5943600" cy="369332"/>
          </a:xfrm>
          <a:prstGeom prst="rect">
            <a:avLst/>
          </a:prstGeom>
          <a:noFill/>
        </p:spPr>
        <p:txBody>
          <a:bodyPr wrap="square" rtlCol="0">
            <a:spAutoFit/>
          </a:bodyPr>
          <a:lstStyle/>
          <a:p>
            <a:r>
              <a:rPr kumimoji="1" lang="ja-JP" altLang="en-US" dirty="0"/>
              <a:t>参考文献</a:t>
            </a:r>
          </a:p>
        </p:txBody>
      </p:sp>
      <p:sp>
        <p:nvSpPr>
          <p:cNvPr id="4" name="テキスト ボックス 3">
            <a:extLst>
              <a:ext uri="{FF2B5EF4-FFF2-40B4-BE49-F238E27FC236}">
                <a16:creationId xmlns:a16="http://schemas.microsoft.com/office/drawing/2014/main" id="{098B5C84-481D-5C96-AA72-816718F206D7}"/>
              </a:ext>
            </a:extLst>
          </p:cNvPr>
          <p:cNvSpPr txBox="1"/>
          <p:nvPr/>
        </p:nvSpPr>
        <p:spPr>
          <a:xfrm>
            <a:off x="493986" y="660681"/>
            <a:ext cx="11398469" cy="6186309"/>
          </a:xfrm>
          <a:prstGeom prst="rect">
            <a:avLst/>
          </a:prstGeom>
          <a:noFill/>
        </p:spPr>
        <p:txBody>
          <a:bodyPr wrap="square">
            <a:spAutoFit/>
          </a:bodyPr>
          <a:lstStyle/>
          <a:p>
            <a:pPr algn="just">
              <a:buNone/>
            </a:pP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(1)Xu, B.</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Zhao, J.</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Zheng, T.</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Litvinov, E.</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err="1">
                <a:effectLst/>
                <a:latin typeface="Century" panose="02040604050505020304" pitchFamily="18" charset="0"/>
                <a:ea typeface="ＭＳ 明朝" panose="02020609040205080304" pitchFamily="17" charset="-128"/>
                <a:cs typeface="Times New Roman" panose="02020603050405020304" pitchFamily="18" charset="0"/>
              </a:rPr>
              <a:t>Kirschen</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 D. S.</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“Factoring the Cycle Aging Cost of Batteries Participating in Electricity Markets</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i="1" kern="100" dirty="0">
                <a:effectLst/>
                <a:latin typeface="Century" panose="02040604050505020304" pitchFamily="18" charset="0"/>
                <a:ea typeface="ＭＳ 明朝" panose="02020609040205080304" pitchFamily="17" charset="-128"/>
                <a:cs typeface="Times New Roman" panose="02020603050405020304" pitchFamily="18" charset="0"/>
              </a:rPr>
              <a:t>IEEE Transactions on Power Systems</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vol. 33</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no. 2</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pp. 2248–2259</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Mar. 2018</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err="1">
                <a:effectLst/>
                <a:latin typeface="Century" panose="02040604050505020304" pitchFamily="18" charset="0"/>
                <a:ea typeface="ＭＳ 明朝" panose="02020609040205080304" pitchFamily="17" charset="-128"/>
                <a:cs typeface="Times New Roman" panose="02020603050405020304" pitchFamily="18" charset="0"/>
              </a:rPr>
              <a:t>doi</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 10.1109/TPWRS.2017.2733339</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endParaRPr lang="ja-JP" altLang="ja-JP" sz="1400" kern="100" dirty="0">
              <a:effectLst/>
              <a:latin typeface="Century" panose="02040604050505020304" pitchFamily="18" charset="0"/>
              <a:ea typeface="ＭＳ 明朝" panose="02020609040205080304" pitchFamily="17" charset="-128"/>
              <a:cs typeface="Times New Roman" panose="02020603050405020304" pitchFamily="18" charset="0"/>
            </a:endParaRPr>
          </a:p>
          <a:p>
            <a:pPr algn="just">
              <a:buNone/>
            </a:pP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 </a:t>
            </a:r>
            <a:endParaRPr lang="ja-JP" altLang="ja-JP" sz="1400" kern="100" dirty="0">
              <a:effectLst/>
              <a:latin typeface="Century" panose="02040604050505020304" pitchFamily="18" charset="0"/>
              <a:ea typeface="ＭＳ 明朝" panose="02020609040205080304" pitchFamily="17" charset="-128"/>
              <a:cs typeface="Times New Roman" panose="02020603050405020304" pitchFamily="18" charset="0"/>
            </a:endParaRPr>
          </a:p>
          <a:p>
            <a:pPr algn="just">
              <a:buNone/>
            </a:pP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(2)</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田村 滋，「電力系統周波数制御におけるハイブリッド蓄電池の経済性検討」，電気学会論文誌Ｂ（電力・エネルギー部門誌），</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135</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巻</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1</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号，</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pp. 2-8</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2015</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err="1">
                <a:effectLst/>
                <a:latin typeface="Century" panose="02040604050505020304" pitchFamily="18" charset="0"/>
                <a:ea typeface="ＭＳ 明朝" panose="02020609040205080304" pitchFamily="17" charset="-128"/>
                <a:cs typeface="Times New Roman" panose="02020603050405020304" pitchFamily="18" charset="0"/>
              </a:rPr>
              <a:t>doi</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 10.1541/ieejpes.135.2</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endParaRPr lang="ja-JP" altLang="ja-JP" sz="1400" kern="100" dirty="0">
              <a:effectLst/>
              <a:latin typeface="Century" panose="02040604050505020304" pitchFamily="18" charset="0"/>
              <a:ea typeface="ＭＳ 明朝" panose="02020609040205080304" pitchFamily="17" charset="-128"/>
              <a:cs typeface="Times New Roman" panose="02020603050405020304" pitchFamily="18" charset="0"/>
            </a:endParaRPr>
          </a:p>
          <a:p>
            <a:pPr algn="just">
              <a:buNone/>
            </a:pP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 </a:t>
            </a:r>
            <a:endParaRPr lang="ja-JP" altLang="ja-JP" sz="1400" kern="100" dirty="0">
              <a:effectLst/>
              <a:latin typeface="Century" panose="02040604050505020304" pitchFamily="18" charset="0"/>
              <a:ea typeface="ＭＳ 明朝" panose="02020609040205080304" pitchFamily="17" charset="-128"/>
              <a:cs typeface="Times New Roman" panose="02020603050405020304" pitchFamily="18" charset="0"/>
            </a:endParaRPr>
          </a:p>
          <a:p>
            <a:pPr algn="just">
              <a:buNone/>
            </a:pP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(3) </a:t>
            </a:r>
            <a:r>
              <a:rPr lang="en-US" altLang="ja-JP" sz="1800" kern="100" dirty="0" err="1">
                <a:effectLst/>
                <a:latin typeface="Century" panose="02040604050505020304" pitchFamily="18" charset="0"/>
                <a:ea typeface="ＭＳ 明朝" panose="02020609040205080304" pitchFamily="17" charset="-128"/>
                <a:cs typeface="Times New Roman" panose="02020603050405020304" pitchFamily="18" charset="0"/>
              </a:rPr>
              <a:t>Wankmüller</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 F.</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err="1">
                <a:effectLst/>
                <a:latin typeface="Century" panose="02040604050505020304" pitchFamily="18" charset="0"/>
                <a:ea typeface="ＭＳ 明朝" panose="02020609040205080304" pitchFamily="17" charset="-128"/>
                <a:cs typeface="Times New Roman" panose="02020603050405020304" pitchFamily="18" charset="0"/>
              </a:rPr>
              <a:t>Thimmapuram</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 P. R.</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Gallagher, K. G.</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err="1">
                <a:effectLst/>
                <a:latin typeface="Century" panose="02040604050505020304" pitchFamily="18" charset="0"/>
                <a:ea typeface="ＭＳ 明朝" panose="02020609040205080304" pitchFamily="17" charset="-128"/>
                <a:cs typeface="Times New Roman" panose="02020603050405020304" pitchFamily="18" charset="0"/>
              </a:rPr>
              <a:t>Botterud</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 A.</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“Impact of battery degradation on energy arbitrage revenue of grid-level energy storage</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”Journal of Energy Storage</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vol. 10</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pp. 56–66</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Apr. 2017</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err="1">
                <a:effectLst/>
                <a:latin typeface="Century" panose="02040604050505020304" pitchFamily="18" charset="0"/>
                <a:ea typeface="ＭＳ 明朝" panose="02020609040205080304" pitchFamily="17" charset="-128"/>
                <a:cs typeface="Times New Roman" panose="02020603050405020304" pitchFamily="18" charset="0"/>
              </a:rPr>
              <a:t>doi</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 10.1016/j.est.2016.12.004</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endParaRPr lang="ja-JP" altLang="ja-JP" sz="1400" kern="100" dirty="0">
              <a:effectLst/>
              <a:latin typeface="Century" panose="02040604050505020304" pitchFamily="18" charset="0"/>
              <a:ea typeface="ＭＳ 明朝" panose="02020609040205080304" pitchFamily="17" charset="-128"/>
              <a:cs typeface="Times New Roman" panose="02020603050405020304" pitchFamily="18" charset="0"/>
            </a:endParaRPr>
          </a:p>
          <a:p>
            <a:pPr algn="just">
              <a:buNone/>
            </a:pPr>
            <a:b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b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(4) Cheng, B.</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Powell, W. B.</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“Co-Optimizing Battery Storage for the Frequency Regulation and Energy Arbitrage Using Multi-Scale Dynamic Programming</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”IEEE Transactions on Smart Grid</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vol. 9</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no. 3</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pp. 1997–2005</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May 2018</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err="1">
                <a:effectLst/>
                <a:latin typeface="Century" panose="02040604050505020304" pitchFamily="18" charset="0"/>
                <a:ea typeface="ＭＳ 明朝" panose="02020609040205080304" pitchFamily="17" charset="-128"/>
                <a:cs typeface="Times New Roman" panose="02020603050405020304" pitchFamily="18" charset="0"/>
              </a:rPr>
              <a:t>doi</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 10.1109/TSG.2016.2605141</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endParaRPr lang="ja-JP" altLang="ja-JP" sz="1400" kern="100" dirty="0">
              <a:effectLst/>
              <a:latin typeface="Century" panose="02040604050505020304" pitchFamily="18" charset="0"/>
              <a:ea typeface="ＭＳ 明朝" panose="02020609040205080304" pitchFamily="17" charset="-128"/>
              <a:cs typeface="Times New Roman" panose="02020603050405020304" pitchFamily="18" charset="0"/>
            </a:endParaRPr>
          </a:p>
          <a:p>
            <a:pPr algn="just">
              <a:buNone/>
            </a:pPr>
            <a:b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b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(5) </a:t>
            </a:r>
            <a:r>
              <a:rPr lang="en-US" altLang="ja-JP" sz="1800" kern="100" dirty="0" err="1">
                <a:effectLst/>
                <a:latin typeface="Century" panose="02040604050505020304" pitchFamily="18" charset="0"/>
                <a:ea typeface="ＭＳ 明朝" panose="02020609040205080304" pitchFamily="17" charset="-128"/>
                <a:cs typeface="Times New Roman" panose="02020603050405020304" pitchFamily="18" charset="0"/>
              </a:rPr>
              <a:t>Baggu</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 M.</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Nagarajan, A.</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Cutler, D.</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Olis, D.</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err="1">
                <a:effectLst/>
                <a:latin typeface="Century" panose="02040604050505020304" pitchFamily="18" charset="0"/>
                <a:ea typeface="ＭＳ 明朝" panose="02020609040205080304" pitchFamily="17" charset="-128"/>
                <a:cs typeface="Times New Roman" panose="02020603050405020304" pitchFamily="18" charset="0"/>
              </a:rPr>
              <a:t>Symko</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-Davies, M.</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Bialek, T.</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“Coordinated Optimization of Multiservice Dispatch for Energy Storage Systems with Degradation Model for Utility Applications</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”IEEE Transactions on Sustainable Energy</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vol. 10</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no. 2</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pp. 886–894</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Apr. 2019</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en-US" altLang="ja-JP" sz="1800" kern="100" dirty="0" err="1">
                <a:effectLst/>
                <a:latin typeface="Century" panose="02040604050505020304" pitchFamily="18" charset="0"/>
                <a:ea typeface="ＭＳ 明朝" panose="02020609040205080304" pitchFamily="17" charset="-128"/>
                <a:cs typeface="Times New Roman" panose="02020603050405020304" pitchFamily="18" charset="0"/>
              </a:rPr>
              <a:t>doi</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 10.1109/TSTE.2018.2853673</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endParaRPr lang="ja-JP" altLang="ja-JP" sz="1400" kern="100" dirty="0">
              <a:effectLst/>
              <a:latin typeface="Century" panose="02040604050505020304" pitchFamily="18" charset="0"/>
              <a:ea typeface="ＭＳ 明朝" panose="02020609040205080304" pitchFamily="17" charset="-128"/>
              <a:cs typeface="Times New Roman" panose="02020603050405020304" pitchFamily="18" charset="0"/>
            </a:endParaRPr>
          </a:p>
          <a:p>
            <a:pPr algn="just">
              <a:buNone/>
            </a:pP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 </a:t>
            </a:r>
            <a:endParaRPr lang="ja-JP" altLang="ja-JP" sz="1400" kern="100" dirty="0">
              <a:effectLst/>
              <a:latin typeface="Century" panose="02040604050505020304" pitchFamily="18" charset="0"/>
              <a:ea typeface="ＭＳ 明朝" panose="02020609040205080304" pitchFamily="17" charset="-128"/>
              <a:cs typeface="Times New Roman" panose="02020603050405020304" pitchFamily="18" charset="0"/>
            </a:endParaRPr>
          </a:p>
          <a:p>
            <a:pPr algn="just">
              <a:buNone/>
            </a:pP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(6) </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経済産業省，「定置用蓄電システムの現状と課題」，第４回 蓄電池産業戦略推進会議　配布資料（資料６），</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2025</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年</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3</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月</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12</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日，</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最終アクセス</a:t>
            </a:r>
            <a:r>
              <a:rPr lang="en-US"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 2026-01-27)</a:t>
            </a:r>
            <a:r>
              <a:rPr lang="ja-JP" altLang="ja-JP" sz="1800" kern="100" dirty="0">
                <a:effectLst/>
                <a:latin typeface="Century" panose="02040604050505020304" pitchFamily="18" charset="0"/>
                <a:ea typeface="ＭＳ 明朝" panose="02020609040205080304" pitchFamily="17" charset="-128"/>
                <a:cs typeface="Times New Roman" panose="02020603050405020304" pitchFamily="18" charset="0"/>
              </a:rPr>
              <a:t>．</a:t>
            </a:r>
            <a:endParaRPr lang="ja-JP" altLang="ja-JP" sz="1400" kern="100" dirty="0">
              <a:effectLst/>
              <a:latin typeface="Century" panose="02040604050505020304" pitchFamily="18" charset="0"/>
              <a:ea typeface="ＭＳ 明朝" panose="02020609040205080304" pitchFamily="17" charset="-128"/>
              <a:cs typeface="Times New Roman" panose="02020603050405020304" pitchFamily="18" charset="0"/>
            </a:endParaRPr>
          </a:p>
        </p:txBody>
      </p:sp>
    </p:spTree>
    <p:extLst>
      <p:ext uri="{BB962C8B-B14F-4D97-AF65-F5344CB8AC3E}">
        <p14:creationId xmlns:p14="http://schemas.microsoft.com/office/powerpoint/2010/main" val="24707995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3958</Words>
  <Application>Microsoft Office PowerPoint</Application>
  <PresentationFormat>ワイド画面</PresentationFormat>
  <Paragraphs>218</Paragraphs>
  <Slides>14</Slides>
  <Notes>13</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14</vt:i4>
      </vt:variant>
    </vt:vector>
  </HeadingPairs>
  <TitlesOfParts>
    <vt:vector size="20" baseType="lpstr">
      <vt:lpstr>Meiryo</vt:lpstr>
      <vt:lpstr>Arial</vt:lpstr>
      <vt:lpstr>Calibri</vt:lpstr>
      <vt:lpstr>Cambria Math</vt:lpstr>
      <vt:lpstr>Century</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kitn.lzh →</cp:lastModifiedBy>
  <cp:revision>2</cp:revision>
  <dcterms:created xsi:type="dcterms:W3CDTF">2026-01-29T15:33:35Z</dcterms:created>
  <dcterms:modified xsi:type="dcterms:W3CDTF">2026-01-30T04:44:10Z</dcterms:modified>
</cp:coreProperties>
</file>