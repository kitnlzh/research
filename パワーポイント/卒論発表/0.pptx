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notesMasterIdLst>
    <p:notesMasterId r:id="rId25"/>
  </p:notesMasterIdLst>
  <p:sldIdLst>
    <p:sldId id="256" r:id="rId2"/>
    <p:sldId id="257" r:id="rId3"/>
    <p:sldId id="258" r:id="rId4"/>
    <p:sldId id="259" r:id="rId5"/>
    <p:sldId id="262" r:id="rId6"/>
    <p:sldId id="278" r:id="rId7"/>
    <p:sldId id="282" r:id="rId8"/>
    <p:sldId id="263" r:id="rId9"/>
    <p:sldId id="283" r:id="rId10"/>
    <p:sldId id="270" r:id="rId11"/>
    <p:sldId id="272" r:id="rId12"/>
    <p:sldId id="271" r:id="rId13"/>
    <p:sldId id="284" r:id="rId14"/>
    <p:sldId id="285" r:id="rId15"/>
    <p:sldId id="264" r:id="rId16"/>
    <p:sldId id="273" r:id="rId17"/>
    <p:sldId id="274" r:id="rId18"/>
    <p:sldId id="277" r:id="rId19"/>
    <p:sldId id="276" r:id="rId20"/>
    <p:sldId id="265" r:id="rId21"/>
    <p:sldId id="266" r:id="rId22"/>
    <p:sldId id="267" r:id="rId23"/>
    <p:sldId id="268" r:id="rId2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2F651-10ED-42CF-8B91-5164766D5B27}" v="28" dt="2026-01-29T16:38:27.92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39" autoAdjust="0"/>
    <p:restoredTop sz="94660"/>
  </p:normalViewPr>
  <p:slideViewPr>
    <p:cSldViewPr snapToGrid="0" snapToObjects="1">
      <p:cViewPr varScale="1">
        <p:scale>
          <a:sx n="72" d="100"/>
          <a:sy n="72" d="100"/>
        </p:scale>
        <p:origin x="2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n.lzh →" userId="aae51206e0f3c209" providerId="LiveId" clId="{2B599A23-E6BC-4D57-BA0D-73F904748290}"/>
    <pc:docChg chg="undo custSel addSld delSld modSld">
      <pc:chgData name="kitn.lzh →" userId="aae51206e0f3c209" providerId="LiveId" clId="{2B599A23-E6BC-4D57-BA0D-73F904748290}" dt="2026-01-29T16:39:30.472" v="106" actId="2696"/>
      <pc:docMkLst>
        <pc:docMk/>
      </pc:docMkLst>
      <pc:sldChg chg="del mod modShow">
        <pc:chgData name="kitn.lzh →" userId="aae51206e0f3c209" providerId="LiveId" clId="{2B599A23-E6BC-4D57-BA0D-73F904748290}" dt="2026-01-29T16:36:28.166" v="70" actId="2696"/>
        <pc:sldMkLst>
          <pc:docMk/>
          <pc:sldMk cId="0" sldId="260"/>
        </pc:sldMkLst>
      </pc:sldChg>
      <pc:sldChg chg="modSp mod modShow">
        <pc:chgData name="kitn.lzh →" userId="aae51206e0f3c209" providerId="LiveId" clId="{2B599A23-E6BC-4D57-BA0D-73F904748290}" dt="2026-01-29T15:59:07.747" v="19" actId="20577"/>
        <pc:sldMkLst>
          <pc:docMk/>
          <pc:sldMk cId="0" sldId="262"/>
        </pc:sldMkLst>
        <pc:spChg chg="mod">
          <ac:chgData name="kitn.lzh →" userId="aae51206e0f3c209" providerId="LiveId" clId="{2B599A23-E6BC-4D57-BA0D-73F904748290}" dt="2026-01-29T15:59:07.747" v="19" actId="20577"/>
          <ac:spMkLst>
            <pc:docMk/>
            <pc:sldMk cId="0" sldId="262"/>
            <ac:spMk id="3" creationId="{00000000-0000-0000-0000-000000000000}"/>
          </ac:spMkLst>
        </pc:spChg>
      </pc:sldChg>
      <pc:sldChg chg="del mod modShow">
        <pc:chgData name="kitn.lzh →" userId="aae51206e0f3c209" providerId="LiveId" clId="{2B599A23-E6BC-4D57-BA0D-73F904748290}" dt="2026-01-29T16:36:23.868" v="69" actId="2696"/>
        <pc:sldMkLst>
          <pc:docMk/>
          <pc:sldMk cId="0" sldId="269"/>
        </pc:sldMkLst>
      </pc:sldChg>
      <pc:sldChg chg="del">
        <pc:chgData name="kitn.lzh →" userId="aae51206e0f3c209" providerId="LiveId" clId="{2B599A23-E6BC-4D57-BA0D-73F904748290}" dt="2026-01-29T16:34:56.658" v="66" actId="2696"/>
        <pc:sldMkLst>
          <pc:docMk/>
          <pc:sldMk cId="2496318761" sldId="279"/>
        </pc:sldMkLst>
      </pc:sldChg>
      <pc:sldChg chg="del mod modShow">
        <pc:chgData name="kitn.lzh →" userId="aae51206e0f3c209" providerId="LiveId" clId="{2B599A23-E6BC-4D57-BA0D-73F904748290}" dt="2026-01-29T15:53:39.134" v="1" actId="2696"/>
        <pc:sldMkLst>
          <pc:docMk/>
          <pc:sldMk cId="2126359485" sldId="280"/>
        </pc:sldMkLst>
      </pc:sldChg>
      <pc:sldChg chg="del">
        <pc:chgData name="kitn.lzh →" userId="aae51206e0f3c209" providerId="LiveId" clId="{2B599A23-E6BC-4D57-BA0D-73F904748290}" dt="2026-01-29T16:27:32.192" v="51" actId="2696"/>
        <pc:sldMkLst>
          <pc:docMk/>
          <pc:sldMk cId="0" sldId="281"/>
        </pc:sldMkLst>
      </pc:sldChg>
      <pc:sldChg chg="mod modShow">
        <pc:chgData name="kitn.lzh →" userId="aae51206e0f3c209" providerId="LiveId" clId="{2B599A23-E6BC-4D57-BA0D-73F904748290}" dt="2026-01-29T16:36:43.425" v="72" actId="729"/>
        <pc:sldMkLst>
          <pc:docMk/>
          <pc:sldMk cId="989957954" sldId="282"/>
        </pc:sldMkLst>
      </pc:sldChg>
      <pc:sldChg chg="addSp delSp modSp new mod">
        <pc:chgData name="kitn.lzh →" userId="aae51206e0f3c209" providerId="LiveId" clId="{2B599A23-E6BC-4D57-BA0D-73F904748290}" dt="2026-01-29T16:27:03.602" v="50"/>
        <pc:sldMkLst>
          <pc:docMk/>
          <pc:sldMk cId="1813178866" sldId="283"/>
        </pc:sldMkLst>
        <pc:spChg chg="mod">
          <ac:chgData name="kitn.lzh →" userId="aae51206e0f3c209" providerId="LiveId" clId="{2B599A23-E6BC-4D57-BA0D-73F904748290}" dt="2026-01-29T16:27:03.602" v="50"/>
          <ac:spMkLst>
            <pc:docMk/>
            <pc:sldMk cId="1813178866" sldId="283"/>
            <ac:spMk id="2" creationId="{487E7F74-F63D-0804-EEF8-4BCFBC6A1D5E}"/>
          </ac:spMkLst>
        </pc:spChg>
        <pc:spChg chg="add del">
          <ac:chgData name="kitn.lzh →" userId="aae51206e0f3c209" providerId="LiveId" clId="{2B599A23-E6BC-4D57-BA0D-73F904748290}" dt="2026-01-29T16:25:45.218" v="27"/>
          <ac:spMkLst>
            <pc:docMk/>
            <pc:sldMk cId="1813178866" sldId="283"/>
            <ac:spMk id="3" creationId="{2BD1FFE0-EC0C-A94E-5BE2-97BDE37D641F}"/>
          </ac:spMkLst>
        </pc:spChg>
        <pc:spChg chg="add mod">
          <ac:chgData name="kitn.lzh →" userId="aae51206e0f3c209" providerId="LiveId" clId="{2B599A23-E6BC-4D57-BA0D-73F904748290}" dt="2026-01-29T16:25:43.292" v="26"/>
          <ac:spMkLst>
            <pc:docMk/>
            <pc:sldMk cId="1813178866" sldId="283"/>
            <ac:spMk id="5" creationId="{CCC5EC37-50D8-6752-46EA-EFA432375251}"/>
          </ac:spMkLst>
        </pc:spChg>
        <pc:spChg chg="add mod">
          <ac:chgData name="kitn.lzh →" userId="aae51206e0f3c209" providerId="LiveId" clId="{2B599A23-E6BC-4D57-BA0D-73F904748290}" dt="2026-01-29T16:26:52.619" v="49" actId="20577"/>
          <ac:spMkLst>
            <pc:docMk/>
            <pc:sldMk cId="1813178866" sldId="283"/>
            <ac:spMk id="6" creationId="{8DF27BCF-8B6E-1A02-A77B-06EFC44479B2}"/>
          </ac:spMkLst>
        </pc:spChg>
      </pc:sldChg>
      <pc:sldChg chg="new del">
        <pc:chgData name="kitn.lzh →" userId="aae51206e0f3c209" providerId="LiveId" clId="{2B599A23-E6BC-4D57-BA0D-73F904748290}" dt="2026-01-29T16:27:50.397" v="53" actId="2696"/>
        <pc:sldMkLst>
          <pc:docMk/>
          <pc:sldMk cId="1905339208" sldId="284"/>
        </pc:sldMkLst>
      </pc:sldChg>
      <pc:sldChg chg="modSp add mod">
        <pc:chgData name="kitn.lzh →" userId="aae51206e0f3c209" providerId="LiveId" clId="{2B599A23-E6BC-4D57-BA0D-73F904748290}" dt="2026-01-29T16:29:05.926" v="65" actId="20577"/>
        <pc:sldMkLst>
          <pc:docMk/>
          <pc:sldMk cId="3346968774" sldId="284"/>
        </pc:sldMkLst>
        <pc:spChg chg="mod">
          <ac:chgData name="kitn.lzh →" userId="aae51206e0f3c209" providerId="LiveId" clId="{2B599A23-E6BC-4D57-BA0D-73F904748290}" dt="2026-01-29T16:28:04.882" v="55"/>
          <ac:spMkLst>
            <pc:docMk/>
            <pc:sldMk cId="3346968774" sldId="284"/>
            <ac:spMk id="2" creationId="{86E223C0-A8FC-9500-5208-DBE6FB40316C}"/>
          </ac:spMkLst>
        </pc:spChg>
        <pc:spChg chg="mod">
          <ac:chgData name="kitn.lzh →" userId="aae51206e0f3c209" providerId="LiveId" clId="{2B599A23-E6BC-4D57-BA0D-73F904748290}" dt="2026-01-29T16:29:05.926" v="65" actId="20577"/>
          <ac:spMkLst>
            <pc:docMk/>
            <pc:sldMk cId="3346968774" sldId="284"/>
            <ac:spMk id="6" creationId="{0EC5C55D-9182-4A6F-4A49-5539923AE17D}"/>
          </ac:spMkLst>
        </pc:spChg>
      </pc:sldChg>
      <pc:sldChg chg="addSp modSp new mod">
        <pc:chgData name="kitn.lzh →" userId="aae51206e0f3c209" providerId="LiveId" clId="{2B599A23-E6BC-4D57-BA0D-73F904748290}" dt="2026-01-29T16:38:34.593" v="104" actId="20577"/>
        <pc:sldMkLst>
          <pc:docMk/>
          <pc:sldMk cId="3874743553" sldId="285"/>
        </pc:sldMkLst>
        <pc:spChg chg="mod">
          <ac:chgData name="kitn.lzh →" userId="aae51206e0f3c209" providerId="LiveId" clId="{2B599A23-E6BC-4D57-BA0D-73F904748290}" dt="2026-01-29T16:37:02.877" v="81" actId="20577"/>
          <ac:spMkLst>
            <pc:docMk/>
            <pc:sldMk cId="3874743553" sldId="285"/>
            <ac:spMk id="2" creationId="{27D061D9-E0D5-CA06-26F6-56870CB9D4A2}"/>
          </ac:spMkLst>
        </pc:spChg>
        <pc:spChg chg="mod">
          <ac:chgData name="kitn.lzh →" userId="aae51206e0f3c209" providerId="LiveId" clId="{2B599A23-E6BC-4D57-BA0D-73F904748290}" dt="2026-01-29T16:38:34.593" v="104" actId="20577"/>
          <ac:spMkLst>
            <pc:docMk/>
            <pc:sldMk cId="3874743553" sldId="285"/>
            <ac:spMk id="3" creationId="{F7867067-EC54-D92A-FE55-ABD20DF9A727}"/>
          </ac:spMkLst>
        </pc:spChg>
        <pc:graphicFrameChg chg="add mod">
          <ac:chgData name="kitn.lzh →" userId="aae51206e0f3c209" providerId="LiveId" clId="{2B599A23-E6BC-4D57-BA0D-73F904748290}" dt="2026-01-29T16:38:02.663" v="91"/>
          <ac:graphicFrameMkLst>
            <pc:docMk/>
            <pc:sldMk cId="3874743553" sldId="285"/>
            <ac:graphicFrameMk id="5" creationId="{3B0420E1-1F07-FCFF-3A9B-0F7F6BE21BAC}"/>
          </ac:graphicFrameMkLst>
        </pc:graphicFrameChg>
      </pc:sldChg>
      <pc:sldChg chg="new del">
        <pc:chgData name="kitn.lzh →" userId="aae51206e0f3c209" providerId="LiveId" clId="{2B599A23-E6BC-4D57-BA0D-73F904748290}" dt="2026-01-29T16:39:30.472" v="106" actId="2696"/>
        <pc:sldMkLst>
          <pc:docMk/>
          <pc:sldMk cId="3524762974"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892EFF-7BF5-4949-A8BD-C36865765487}" type="datetimeFigureOut">
              <a:rPr kumimoji="1" lang="ja-JP" altLang="en-US" smtClean="0"/>
              <a:t>2026/1/30</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0CDDE9-6468-42B0-A004-4CFA88B6499D}" type="slidenum">
              <a:rPr kumimoji="1" lang="ja-JP" altLang="en-US" smtClean="0"/>
              <a:t>‹#›</a:t>
            </a:fld>
            <a:endParaRPr kumimoji="1" lang="ja-JP" altLang="en-US"/>
          </a:p>
        </p:txBody>
      </p:sp>
    </p:spTree>
    <p:extLst>
      <p:ext uri="{BB962C8B-B14F-4D97-AF65-F5344CB8AC3E}">
        <p14:creationId xmlns:p14="http://schemas.microsoft.com/office/powerpoint/2010/main" val="42128596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31056-AFCE-7BB1-3670-C3A6CD17DE92}"/>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A6AB77C-E8A5-1570-C194-4069577E047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4108542-E8E6-827A-1C6F-7443AA2A1CA5}"/>
              </a:ext>
            </a:extLst>
          </p:cNvPr>
          <p:cNvSpPr>
            <a:spLocks noGrp="1"/>
          </p:cNvSpPr>
          <p:nvPr>
            <p:ph type="dt" sz="half" idx="10"/>
          </p:nvPr>
        </p:nvSpPr>
        <p:spPr/>
        <p:txBody>
          <a:bodyPr/>
          <a:lstStyle/>
          <a:p>
            <a:fld id="{C0149694-E46D-4B25-AA64-025818939D10}" type="datetime1">
              <a:rPr lang="en-US" altLang="ja-JP" smtClean="0"/>
              <a:t>1/30/2026</a:t>
            </a:fld>
            <a:endParaRPr lang="en-US"/>
          </a:p>
        </p:txBody>
      </p:sp>
      <p:sp>
        <p:nvSpPr>
          <p:cNvPr id="5" name="フッター プレースホルダー 4">
            <a:extLst>
              <a:ext uri="{FF2B5EF4-FFF2-40B4-BE49-F238E27FC236}">
                <a16:creationId xmlns:a16="http://schemas.microsoft.com/office/drawing/2014/main" id="{FAC8BAD8-1880-142A-6415-3C47119AB7E3}"/>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1A88B217-B423-4797-492D-18425796B74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3830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571F9A-462B-4358-F1CE-11EF8029244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7B2FAB-A223-33F2-6433-7849CC88A8E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E0561A9-0445-FB3E-5F47-73A1571E783B}"/>
              </a:ext>
            </a:extLst>
          </p:cNvPr>
          <p:cNvSpPr>
            <a:spLocks noGrp="1"/>
          </p:cNvSpPr>
          <p:nvPr>
            <p:ph type="dt" sz="half" idx="10"/>
          </p:nvPr>
        </p:nvSpPr>
        <p:spPr/>
        <p:txBody>
          <a:bodyPr/>
          <a:lstStyle/>
          <a:p>
            <a:fld id="{9D702321-DE90-40AE-879E-6B10B63F340C}" type="datetime1">
              <a:rPr lang="en-US" altLang="ja-JP" smtClean="0"/>
              <a:t>1/30/2026</a:t>
            </a:fld>
            <a:endParaRPr lang="en-US"/>
          </a:p>
        </p:txBody>
      </p:sp>
      <p:sp>
        <p:nvSpPr>
          <p:cNvPr id="5" name="フッター プレースホルダー 4">
            <a:extLst>
              <a:ext uri="{FF2B5EF4-FFF2-40B4-BE49-F238E27FC236}">
                <a16:creationId xmlns:a16="http://schemas.microsoft.com/office/drawing/2014/main" id="{E62FAC13-95EE-AB68-FE8D-7B89BA990DAE}"/>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4814D525-70AA-CC16-5618-E1CF714B1EA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2820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586ACD-A37E-FCEC-E852-DDF1DF6A83B1}"/>
              </a:ext>
            </a:extLst>
          </p:cNvPr>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8FDCEA-33EE-7237-9F47-29BBBB0CF3B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BB62F67-8E09-741D-73CB-609D3A1F1363}"/>
              </a:ext>
            </a:extLst>
          </p:cNvPr>
          <p:cNvSpPr>
            <a:spLocks noGrp="1"/>
          </p:cNvSpPr>
          <p:nvPr>
            <p:ph type="dt" sz="half" idx="10"/>
          </p:nvPr>
        </p:nvSpPr>
        <p:spPr/>
        <p:txBody>
          <a:bodyPr/>
          <a:lstStyle/>
          <a:p>
            <a:fld id="{227A3481-46E7-47D3-BA66-F40FB421B16A}" type="datetime1">
              <a:rPr lang="en-US" altLang="ja-JP" smtClean="0"/>
              <a:t>1/30/2026</a:t>
            </a:fld>
            <a:endParaRPr lang="en-US"/>
          </a:p>
        </p:txBody>
      </p:sp>
      <p:sp>
        <p:nvSpPr>
          <p:cNvPr id="5" name="フッター プレースホルダー 4">
            <a:extLst>
              <a:ext uri="{FF2B5EF4-FFF2-40B4-BE49-F238E27FC236}">
                <a16:creationId xmlns:a16="http://schemas.microsoft.com/office/drawing/2014/main" id="{B85B013C-5522-4A66-F8B6-9C6626B484E7}"/>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7C941157-58B1-2FB5-38B3-A2B4AD4E108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680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AF3A16-320D-88C9-2680-CC7067D41F6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CF544D1-38F2-27EB-BE82-38DE4EAE39A6}"/>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24C9FA3-38AA-CEF4-DEA3-5120B392399A}"/>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46FE63F-5667-429E-D689-F0A661793CD6}"/>
              </a:ext>
            </a:extLst>
          </p:cNvPr>
          <p:cNvSpPr>
            <a:spLocks noGrp="1"/>
          </p:cNvSpPr>
          <p:nvPr>
            <p:ph type="dt" sz="half" idx="10"/>
          </p:nvPr>
        </p:nvSpPr>
        <p:spPr/>
        <p:txBody>
          <a:bodyPr/>
          <a:lstStyle/>
          <a:p>
            <a:fld id="{7585744F-683D-4295-91E1-EDC5C481E7E9}" type="datetime1">
              <a:rPr lang="en-US" altLang="ja-JP" smtClean="0"/>
              <a:t>1/30/2026</a:t>
            </a:fld>
            <a:endParaRPr lang="en-US"/>
          </a:p>
        </p:txBody>
      </p:sp>
      <p:sp>
        <p:nvSpPr>
          <p:cNvPr id="6" name="フッター プレースホルダー 5">
            <a:extLst>
              <a:ext uri="{FF2B5EF4-FFF2-40B4-BE49-F238E27FC236}">
                <a16:creationId xmlns:a16="http://schemas.microsoft.com/office/drawing/2014/main" id="{0C6B9CE6-6CDD-61B0-EAFE-0BF8CF59C904}"/>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D5D9CD0D-456F-3A67-28D4-37895B64FAB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721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4FB062-6D4C-5E0C-ED0F-B688CFB0CE43}"/>
              </a:ext>
            </a:extLst>
          </p:cNvPr>
          <p:cNvSpPr>
            <a:spLocks noGrp="1"/>
          </p:cNvSpPr>
          <p:nvPr>
            <p:ph type="title"/>
          </p:nvPr>
        </p:nvSpPr>
        <p:spPr>
          <a:xfrm>
            <a:off x="629841" y="365126"/>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3247379-1118-DA3E-60B6-9D5CA5B0B1F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585D19E-3657-B89E-EA08-7CBB6B59DB65}"/>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4D5F4C7-A776-10E9-7C68-4319C6E7F02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454F2A2-743D-508D-F463-F7988B960D83}"/>
              </a:ext>
            </a:extLst>
          </p:cNvPr>
          <p:cNvSpPr>
            <a:spLocks noGrp="1"/>
          </p:cNvSpPr>
          <p:nvPr>
            <p:ph sz="quarter" idx="4"/>
          </p:nvPr>
        </p:nvSpPr>
        <p:spPr>
          <a:xfrm>
            <a:off x="4629150"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9C41F7B-B8C7-F783-BA7A-D47A835D4FFF}"/>
              </a:ext>
            </a:extLst>
          </p:cNvPr>
          <p:cNvSpPr>
            <a:spLocks noGrp="1"/>
          </p:cNvSpPr>
          <p:nvPr>
            <p:ph type="dt" sz="half" idx="10"/>
          </p:nvPr>
        </p:nvSpPr>
        <p:spPr/>
        <p:txBody>
          <a:bodyPr/>
          <a:lstStyle/>
          <a:p>
            <a:fld id="{9D13564B-4F8A-498E-BEDB-BF41CC47508F}" type="datetime1">
              <a:rPr lang="en-US" altLang="ja-JP" smtClean="0"/>
              <a:t>1/30/2026</a:t>
            </a:fld>
            <a:endParaRPr lang="en-US"/>
          </a:p>
        </p:txBody>
      </p:sp>
      <p:sp>
        <p:nvSpPr>
          <p:cNvPr id="8" name="フッター プレースホルダー 7">
            <a:extLst>
              <a:ext uri="{FF2B5EF4-FFF2-40B4-BE49-F238E27FC236}">
                <a16:creationId xmlns:a16="http://schemas.microsoft.com/office/drawing/2014/main" id="{E2FB74C9-0012-C284-5C6B-1EF38A24613E}"/>
              </a:ext>
            </a:extLst>
          </p:cNvPr>
          <p:cNvSpPr>
            <a:spLocks noGrp="1"/>
          </p:cNvSpPr>
          <p:nvPr>
            <p:ph type="ftr" sz="quarter" idx="11"/>
          </p:nvPr>
        </p:nvSpPr>
        <p:spPr/>
        <p:txBody>
          <a:bodyPr/>
          <a:lstStyle/>
          <a:p>
            <a:endParaRPr lang="en-US"/>
          </a:p>
        </p:txBody>
      </p:sp>
      <p:sp>
        <p:nvSpPr>
          <p:cNvPr id="9" name="スライド番号プレースホルダー 8">
            <a:extLst>
              <a:ext uri="{FF2B5EF4-FFF2-40B4-BE49-F238E27FC236}">
                <a16:creationId xmlns:a16="http://schemas.microsoft.com/office/drawing/2014/main" id="{4180A9D5-16F4-FD1F-ECE2-C64968F8DC3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9365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4A7F6C-BC6B-6E23-70A3-9FAB35CA320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44CFA9C-C095-95AB-8436-B4584CE72989}"/>
              </a:ext>
            </a:extLst>
          </p:cNvPr>
          <p:cNvSpPr>
            <a:spLocks noGrp="1"/>
          </p:cNvSpPr>
          <p:nvPr>
            <p:ph type="dt" sz="half" idx="10"/>
          </p:nvPr>
        </p:nvSpPr>
        <p:spPr/>
        <p:txBody>
          <a:bodyPr/>
          <a:lstStyle/>
          <a:p>
            <a:fld id="{618E58A8-3B26-4F81-929C-F58FA5B35334}" type="datetime1">
              <a:rPr lang="en-US" altLang="ja-JP" smtClean="0"/>
              <a:t>1/30/2026</a:t>
            </a:fld>
            <a:endParaRPr lang="en-US"/>
          </a:p>
        </p:txBody>
      </p:sp>
      <p:sp>
        <p:nvSpPr>
          <p:cNvPr id="4" name="フッター プレースホルダー 3">
            <a:extLst>
              <a:ext uri="{FF2B5EF4-FFF2-40B4-BE49-F238E27FC236}">
                <a16:creationId xmlns:a16="http://schemas.microsoft.com/office/drawing/2014/main" id="{45A0C160-45B3-687B-BC7D-6C128EE5272D}"/>
              </a:ext>
            </a:extLst>
          </p:cNvPr>
          <p:cNvSpPr>
            <a:spLocks noGrp="1"/>
          </p:cNvSpPr>
          <p:nvPr>
            <p:ph type="ftr" sz="quarter" idx="11"/>
          </p:nvPr>
        </p:nvSpPr>
        <p:spPr/>
        <p:txBody>
          <a:bodyPr/>
          <a:lstStyle/>
          <a:p>
            <a:endParaRPr lang="en-US"/>
          </a:p>
        </p:txBody>
      </p:sp>
      <p:sp>
        <p:nvSpPr>
          <p:cNvPr id="5" name="スライド番号プレースホルダー 4">
            <a:extLst>
              <a:ext uri="{FF2B5EF4-FFF2-40B4-BE49-F238E27FC236}">
                <a16:creationId xmlns:a16="http://schemas.microsoft.com/office/drawing/2014/main" id="{F4D4A671-7B9E-F932-A85B-4F5CA667212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1059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BC9E092-3049-D6FA-FD25-3677487E81DD}"/>
              </a:ext>
            </a:extLst>
          </p:cNvPr>
          <p:cNvSpPr>
            <a:spLocks noGrp="1"/>
          </p:cNvSpPr>
          <p:nvPr>
            <p:ph type="dt" sz="half" idx="10"/>
          </p:nvPr>
        </p:nvSpPr>
        <p:spPr/>
        <p:txBody>
          <a:bodyPr/>
          <a:lstStyle/>
          <a:p>
            <a:fld id="{AD7C39B4-407D-4C2A-B10D-1766E11D4E7C}" type="datetime1">
              <a:rPr lang="en-US" altLang="ja-JP" smtClean="0"/>
              <a:t>1/30/2026</a:t>
            </a:fld>
            <a:endParaRPr lang="en-US"/>
          </a:p>
        </p:txBody>
      </p:sp>
      <p:sp>
        <p:nvSpPr>
          <p:cNvPr id="3" name="フッター プレースホルダー 2">
            <a:extLst>
              <a:ext uri="{FF2B5EF4-FFF2-40B4-BE49-F238E27FC236}">
                <a16:creationId xmlns:a16="http://schemas.microsoft.com/office/drawing/2014/main" id="{5011C245-4B51-C495-8867-0981702008B2}"/>
              </a:ext>
            </a:extLst>
          </p:cNvPr>
          <p:cNvSpPr>
            <a:spLocks noGrp="1"/>
          </p:cNvSpPr>
          <p:nvPr>
            <p:ph type="ftr" sz="quarter" idx="11"/>
          </p:nvPr>
        </p:nvSpPr>
        <p:spPr/>
        <p:txBody>
          <a:bodyPr/>
          <a:lstStyle/>
          <a:p>
            <a:endParaRPr lang="en-US"/>
          </a:p>
        </p:txBody>
      </p:sp>
      <p:sp>
        <p:nvSpPr>
          <p:cNvPr id="4" name="スライド番号プレースホルダー 3">
            <a:extLst>
              <a:ext uri="{FF2B5EF4-FFF2-40B4-BE49-F238E27FC236}">
                <a16:creationId xmlns:a16="http://schemas.microsoft.com/office/drawing/2014/main" id="{7CAAFB4D-EC8C-EC6D-98A4-374AEA67F58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4550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D985E4-37D4-9CCF-4920-383BADD23151}"/>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B372187-53AE-8664-D996-DEDD01A4D7C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C144108-E0DE-AA07-2290-76CD54471B5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EB660E7-888E-AC02-E4AD-AD339706B77B}"/>
              </a:ext>
            </a:extLst>
          </p:cNvPr>
          <p:cNvSpPr>
            <a:spLocks noGrp="1"/>
          </p:cNvSpPr>
          <p:nvPr>
            <p:ph type="dt" sz="half" idx="10"/>
          </p:nvPr>
        </p:nvSpPr>
        <p:spPr/>
        <p:txBody>
          <a:bodyPr/>
          <a:lstStyle/>
          <a:p>
            <a:fld id="{DA070EC0-909C-48E5-BABB-FAFB4AD53EFC}" type="datetime1">
              <a:rPr lang="en-US" altLang="ja-JP" smtClean="0"/>
              <a:t>1/30/2026</a:t>
            </a:fld>
            <a:endParaRPr lang="en-US"/>
          </a:p>
        </p:txBody>
      </p:sp>
      <p:sp>
        <p:nvSpPr>
          <p:cNvPr id="6" name="フッター プレースホルダー 5">
            <a:extLst>
              <a:ext uri="{FF2B5EF4-FFF2-40B4-BE49-F238E27FC236}">
                <a16:creationId xmlns:a16="http://schemas.microsoft.com/office/drawing/2014/main" id="{F4DF3EC4-B910-1F3C-830E-C24325FDA57D}"/>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8A4244F8-3F57-8B9C-8B64-3F02F6F52A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1034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6DBC93-14A7-D02E-BE2C-D8416116BB07}"/>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549800B-B240-21BE-C189-C69F1B964EB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E3E06559-CB17-EB17-36A7-2C0D6FD6500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501933F-3084-839D-67BE-954C4B3E4168}"/>
              </a:ext>
            </a:extLst>
          </p:cNvPr>
          <p:cNvSpPr>
            <a:spLocks noGrp="1"/>
          </p:cNvSpPr>
          <p:nvPr>
            <p:ph type="dt" sz="half" idx="10"/>
          </p:nvPr>
        </p:nvSpPr>
        <p:spPr/>
        <p:txBody>
          <a:bodyPr/>
          <a:lstStyle/>
          <a:p>
            <a:fld id="{E7E7CD14-A493-4D7B-805F-9849EF72B611}" type="datetime1">
              <a:rPr lang="en-US" altLang="ja-JP" smtClean="0"/>
              <a:t>1/30/2026</a:t>
            </a:fld>
            <a:endParaRPr lang="en-US"/>
          </a:p>
        </p:txBody>
      </p:sp>
      <p:sp>
        <p:nvSpPr>
          <p:cNvPr id="6" name="フッター プレースホルダー 5">
            <a:extLst>
              <a:ext uri="{FF2B5EF4-FFF2-40B4-BE49-F238E27FC236}">
                <a16:creationId xmlns:a16="http://schemas.microsoft.com/office/drawing/2014/main" id="{B5F751B8-C292-FB3B-B705-9901DD34E213}"/>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4F9218F6-4613-99ED-33B6-54670B71FC5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1930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BDD280-DD6A-1F63-C8EA-3ADDED1A3C0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5364B19-EF9D-56A8-3D47-945310D105E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C2AD99F-56EB-D5A3-AB79-EF77B8C3C68C}"/>
              </a:ext>
            </a:extLst>
          </p:cNvPr>
          <p:cNvSpPr>
            <a:spLocks noGrp="1"/>
          </p:cNvSpPr>
          <p:nvPr>
            <p:ph type="dt" sz="half" idx="10"/>
          </p:nvPr>
        </p:nvSpPr>
        <p:spPr/>
        <p:txBody>
          <a:bodyPr/>
          <a:lstStyle/>
          <a:p>
            <a:fld id="{9CC269AD-AAA7-4464-AAD2-0F70CC4B65F4}" type="datetime1">
              <a:rPr lang="en-US" altLang="ja-JP" smtClean="0"/>
              <a:t>1/30/2026</a:t>
            </a:fld>
            <a:endParaRPr lang="en-US"/>
          </a:p>
        </p:txBody>
      </p:sp>
      <p:sp>
        <p:nvSpPr>
          <p:cNvPr id="5" name="フッター プレースホルダー 4">
            <a:extLst>
              <a:ext uri="{FF2B5EF4-FFF2-40B4-BE49-F238E27FC236}">
                <a16:creationId xmlns:a16="http://schemas.microsoft.com/office/drawing/2014/main" id="{42EDA254-C519-6F45-2135-C69439563F1B}"/>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4717343F-97D5-9FE9-2752-4C294C1A162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404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A54E353-6DCC-B7A3-ECE2-B5CF056157DD}"/>
              </a:ext>
            </a:extLst>
          </p:cNvPr>
          <p:cNvSpPr>
            <a:spLocks noGrp="1"/>
          </p:cNvSpPr>
          <p:nvPr>
            <p:ph type="title" orient="vert"/>
          </p:nvPr>
        </p:nvSpPr>
        <p:spPr>
          <a:xfrm>
            <a:off x="6543675"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07BCFA2-C4E2-F208-2E1F-E57F8E5240D8}"/>
              </a:ext>
            </a:extLst>
          </p:cNvPr>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E46F51-6923-1011-541A-8824B59DEC06}"/>
              </a:ext>
            </a:extLst>
          </p:cNvPr>
          <p:cNvSpPr>
            <a:spLocks noGrp="1"/>
          </p:cNvSpPr>
          <p:nvPr>
            <p:ph type="dt" sz="half" idx="10"/>
          </p:nvPr>
        </p:nvSpPr>
        <p:spPr/>
        <p:txBody>
          <a:bodyPr/>
          <a:lstStyle/>
          <a:p>
            <a:fld id="{2E994986-0F17-442D-AAAE-B14DEB6DB290}" type="datetime1">
              <a:rPr lang="en-US" altLang="ja-JP" smtClean="0"/>
              <a:t>1/30/2026</a:t>
            </a:fld>
            <a:endParaRPr lang="en-US"/>
          </a:p>
        </p:txBody>
      </p:sp>
      <p:sp>
        <p:nvSpPr>
          <p:cNvPr id="5" name="フッター プレースホルダー 4">
            <a:extLst>
              <a:ext uri="{FF2B5EF4-FFF2-40B4-BE49-F238E27FC236}">
                <a16:creationId xmlns:a16="http://schemas.microsoft.com/office/drawing/2014/main" id="{5C54B209-FD54-B94C-0BD1-02E56CD4AAA4}"/>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58C1A561-A3E2-0F64-F454-CD7AF8B214A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9225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EA6D1D1-6326-0E44-7061-35EF5DA572B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FFBEE08-3B31-95DF-1AD6-EB02251EF7D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A9C2D68-3E84-89ED-4EEB-C6F119CD93E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B113122-FF44-4659-B74E-D182C85C7D49}" type="datetime1">
              <a:rPr lang="en-US" altLang="ja-JP" smtClean="0"/>
              <a:t>1/30/2026</a:t>
            </a:fld>
            <a:endParaRPr lang="en-US"/>
          </a:p>
        </p:txBody>
      </p:sp>
      <p:sp>
        <p:nvSpPr>
          <p:cNvPr id="5" name="フッター プレースホルダー 4">
            <a:extLst>
              <a:ext uri="{FF2B5EF4-FFF2-40B4-BE49-F238E27FC236}">
                <a16:creationId xmlns:a16="http://schemas.microsoft.com/office/drawing/2014/main" id="{67534AB2-9169-F8C4-F482-668AF228030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スライド番号プレースホルダー 5">
            <a:extLst>
              <a:ext uri="{FF2B5EF4-FFF2-40B4-BE49-F238E27FC236}">
                <a16:creationId xmlns:a16="http://schemas.microsoft.com/office/drawing/2014/main" id="{0ED05D0A-AA01-73AE-DF6B-6AEE2551261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1720744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endParaRPr dirty="0"/>
          </a:p>
          <a:p>
            <a:pPr marL="0" indent="0">
              <a:buNone/>
            </a:pPr>
            <a:r>
              <a:rPr lang="ja-JP" altLang="en-US" dirty="0"/>
              <a:t>劣化特性を考慮した定置用蓄電池の複数市場への容量の最適配分について</a:t>
            </a:r>
            <a:endParaRPr lang="en-US" altLang="ja-JP" dirty="0"/>
          </a:p>
          <a:p>
            <a:pPr marL="0" indent="0">
              <a:buNone/>
            </a:pPr>
            <a:endParaRPr lang="en-US" altLang="ja-JP" dirty="0"/>
          </a:p>
          <a:p>
            <a:pPr marL="0" indent="0">
              <a:buNone/>
            </a:pPr>
            <a:endParaRPr lang="en-US" altLang="ja-JP" dirty="0"/>
          </a:p>
          <a:p>
            <a:pPr marL="0" indent="0">
              <a:buNone/>
            </a:pPr>
            <a:r>
              <a:rPr lang="en-US" altLang="ja-JP" dirty="0"/>
              <a:t>4</a:t>
            </a:r>
            <a:r>
              <a:rPr lang="ja-JP" altLang="en-US" dirty="0"/>
              <a:t>年</a:t>
            </a:r>
            <a:r>
              <a:rPr lang="en-US" altLang="ja-JP" dirty="0"/>
              <a:t>5</a:t>
            </a:r>
            <a:r>
              <a:rPr lang="ja-JP" altLang="en-US" dirty="0"/>
              <a:t>組</a:t>
            </a:r>
            <a:r>
              <a:rPr lang="en-US" altLang="ja-JP" dirty="0"/>
              <a:t>17</a:t>
            </a:r>
            <a:r>
              <a:rPr lang="ja-JP" altLang="en-US" dirty="0"/>
              <a:t>番　北野岳澄</a:t>
            </a:r>
            <a:endParaRPr dirty="0"/>
          </a:p>
        </p:txBody>
      </p:sp>
      <p:sp>
        <p:nvSpPr>
          <p:cNvPr id="5" name="スライド番号プレースホルダー 4">
            <a:extLst>
              <a:ext uri="{FF2B5EF4-FFF2-40B4-BE49-F238E27FC236}">
                <a16:creationId xmlns:a16="http://schemas.microsoft.com/office/drawing/2014/main" id="{6C7454B6-D903-1087-A7AD-92084F77CF80}"/>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目次</a:t>
            </a:r>
            <a:br>
              <a:rPr lang="en-US" altLang="ja-JP" dirty="0"/>
            </a:br>
            <a:endParaRPr dirty="0"/>
          </a:p>
        </p:txBody>
      </p:sp>
      <p:sp>
        <p:nvSpPr>
          <p:cNvPr id="3" name="Content Placeholder 2"/>
          <p:cNvSpPr>
            <a:spLocks noGrp="1"/>
          </p:cNvSpPr>
          <p:nvPr>
            <p:ph idx="1"/>
          </p:nvPr>
        </p:nvSpPr>
        <p:spPr>
          <a:xfrm>
            <a:off x="1443491" y="2015733"/>
            <a:ext cx="6571343" cy="3836427"/>
          </a:xfrm>
        </p:spPr>
        <p:txBody>
          <a:bodyPr>
            <a:normAutofit fontScale="92500" lnSpcReduction="20000"/>
          </a:bodyPr>
          <a:lstStyle/>
          <a:p>
            <a:pPr marL="0" indent="0">
              <a:buNone/>
            </a:pPr>
            <a:endParaRPr lang="ja-JP" altLang="en-US" dirty="0">
              <a:latin typeface="+mn-ea"/>
            </a:endParaRPr>
          </a:p>
          <a:p>
            <a:pPr marL="0" indent="0">
              <a:buNone/>
            </a:pPr>
            <a:r>
              <a:rPr lang="en-US" altLang="ja-JP" dirty="0">
                <a:latin typeface="+mn-ea"/>
              </a:rPr>
              <a:t>1. </a:t>
            </a:r>
            <a:r>
              <a:rPr lang="ja-JP" altLang="en-US" dirty="0">
                <a:latin typeface="+mn-ea"/>
              </a:rPr>
              <a:t>研究背景</a:t>
            </a:r>
          </a:p>
          <a:p>
            <a:pPr marL="0" indent="0">
              <a:buNone/>
            </a:pPr>
            <a:r>
              <a:rPr lang="en-US" altLang="ja-JP" dirty="0">
                <a:latin typeface="+mn-ea"/>
              </a:rPr>
              <a:t>2. </a:t>
            </a:r>
            <a:r>
              <a:rPr lang="ja-JP" altLang="en-US" dirty="0">
                <a:latin typeface="+mn-ea"/>
              </a:rPr>
              <a:t>研究目的</a:t>
            </a:r>
          </a:p>
          <a:p>
            <a:pPr marL="0" indent="0">
              <a:buNone/>
            </a:pPr>
            <a:r>
              <a:rPr lang="en-US" altLang="ja-JP" dirty="0">
                <a:latin typeface="+mn-ea"/>
              </a:rPr>
              <a:t>3. </a:t>
            </a:r>
            <a:r>
              <a:rPr lang="ja-JP" altLang="en-US" dirty="0">
                <a:latin typeface="+mn-ea"/>
              </a:rPr>
              <a:t>既存研究との比較</a:t>
            </a:r>
          </a:p>
          <a:p>
            <a:pPr marL="0" indent="0">
              <a:buNone/>
            </a:pPr>
            <a:r>
              <a:rPr lang="en-US" altLang="ja-JP" dirty="0">
                <a:latin typeface="+mn-ea"/>
              </a:rPr>
              <a:t>4. </a:t>
            </a:r>
            <a:r>
              <a:rPr lang="ja-JP" altLang="en-US" dirty="0">
                <a:latin typeface="+mn-ea"/>
              </a:rPr>
              <a:t>モデル概要</a:t>
            </a:r>
          </a:p>
          <a:p>
            <a:pPr marL="0" indent="0">
              <a:buNone/>
            </a:pPr>
            <a:r>
              <a:rPr lang="en-US" altLang="ja-JP" dirty="0">
                <a:latin typeface="+mn-ea"/>
              </a:rPr>
              <a:t>5.</a:t>
            </a:r>
            <a:r>
              <a:rPr lang="ja-JP" altLang="en-US" dirty="0">
                <a:latin typeface="+mn-ea"/>
              </a:rPr>
              <a:t> 目的関数</a:t>
            </a:r>
          </a:p>
          <a:p>
            <a:pPr marL="0" indent="0">
              <a:buNone/>
            </a:pPr>
            <a:r>
              <a:rPr lang="en-US" altLang="ja-JP" dirty="0">
                <a:latin typeface="+mn-ea"/>
              </a:rPr>
              <a:t>6. </a:t>
            </a:r>
            <a:r>
              <a:rPr lang="ja-JP" altLang="en-US" dirty="0">
                <a:latin typeface="+mn-ea"/>
              </a:rPr>
              <a:t>制約</a:t>
            </a:r>
          </a:p>
          <a:p>
            <a:pPr marL="0" indent="0">
              <a:buNone/>
            </a:pPr>
            <a:r>
              <a:rPr lang="en-US" altLang="ja-JP" dirty="0">
                <a:latin typeface="+mn-ea"/>
              </a:rPr>
              <a:t>7. </a:t>
            </a:r>
            <a:r>
              <a:rPr lang="ja-JP" altLang="en-US" dirty="0">
                <a:latin typeface="+mn-ea"/>
              </a:rPr>
              <a:t>結果</a:t>
            </a:r>
          </a:p>
          <a:p>
            <a:pPr marL="0" indent="0">
              <a:buNone/>
            </a:pPr>
            <a:r>
              <a:rPr lang="en-US" altLang="ja-JP" dirty="0">
                <a:latin typeface="+mn-ea"/>
              </a:rPr>
              <a:t>8. </a:t>
            </a:r>
            <a:r>
              <a:rPr lang="ja-JP" altLang="en-US" dirty="0">
                <a:latin typeface="+mn-ea"/>
              </a:rPr>
              <a:t>考察</a:t>
            </a:r>
          </a:p>
          <a:p>
            <a:pPr marL="0" indent="0">
              <a:buNone/>
            </a:pPr>
            <a:r>
              <a:rPr lang="en-US" altLang="ja-JP" dirty="0">
                <a:latin typeface="+mn-ea"/>
              </a:rPr>
              <a:t>9. </a:t>
            </a:r>
            <a:r>
              <a:rPr lang="ja-JP" altLang="en-US" dirty="0">
                <a:latin typeface="+mn-ea"/>
              </a:rPr>
              <a:t>確率統計学との関係性</a:t>
            </a:r>
            <a:endParaRPr lang="en-US" altLang="ja-JP" dirty="0">
              <a:latin typeface="+mn-ea"/>
            </a:endParaRPr>
          </a:p>
          <a:p>
            <a:pPr marL="0" indent="0">
              <a:buNone/>
            </a:pPr>
            <a:r>
              <a:rPr lang="en-US" altLang="ja-JP" dirty="0">
                <a:latin typeface="+mn-ea"/>
              </a:rPr>
              <a:t>10. </a:t>
            </a:r>
            <a:r>
              <a:rPr lang="ja-JP" altLang="en-US" dirty="0">
                <a:latin typeface="+mn-ea"/>
              </a:rPr>
              <a:t>研究の貢献</a:t>
            </a:r>
            <a:endParaRPr lang="en-US" altLang="ja-JP" dirty="0">
              <a:latin typeface="+mn-ea"/>
            </a:endParaRPr>
          </a:p>
          <a:p>
            <a:pPr marL="0" indent="0">
              <a:buNone/>
            </a:pPr>
            <a:r>
              <a:rPr lang="en-US" altLang="ja-JP" dirty="0">
                <a:latin typeface="+mn-ea"/>
              </a:rPr>
              <a:t>11. </a:t>
            </a:r>
            <a:r>
              <a:rPr lang="ja-JP" altLang="en-US" dirty="0">
                <a:latin typeface="+mn-ea"/>
              </a:rPr>
              <a:t>まとめ</a:t>
            </a:r>
          </a:p>
          <a:p>
            <a:pPr marL="0" indent="0">
              <a:buNone/>
            </a:pPr>
            <a:endParaRPr dirty="0">
              <a:latin typeface="+mn-ea"/>
            </a:endParaRPr>
          </a:p>
        </p:txBody>
      </p:sp>
      <p:sp>
        <p:nvSpPr>
          <p:cNvPr id="4" name="スライド番号プレースホルダー 3">
            <a:extLst>
              <a:ext uri="{FF2B5EF4-FFF2-40B4-BE49-F238E27FC236}">
                <a16:creationId xmlns:a16="http://schemas.microsoft.com/office/drawing/2014/main" id="{34314734-B5A9-112D-128D-7B20D980A88D}"/>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研究背景</a:t>
            </a:r>
            <a:endParaRPr dirty="0"/>
          </a:p>
        </p:txBody>
      </p:sp>
      <p:sp>
        <p:nvSpPr>
          <p:cNvPr id="3" name="Content Placeholder 2"/>
          <p:cNvSpPr>
            <a:spLocks noGrp="1"/>
          </p:cNvSpPr>
          <p:nvPr>
            <p:ph idx="1"/>
          </p:nvPr>
        </p:nvSpPr>
        <p:spPr/>
        <p:txBody>
          <a:bodyPr/>
          <a:lstStyle/>
          <a:p>
            <a:endParaRPr lang="ja-JP" altLang="en-US" dirty="0"/>
          </a:p>
          <a:p>
            <a:r>
              <a:rPr lang="ja-JP" altLang="en-US" dirty="0"/>
              <a:t>再生可能エネルギーの普及により電力需給の変動が課題</a:t>
            </a:r>
          </a:p>
          <a:p>
            <a:r>
              <a:rPr lang="ja-JP" altLang="en-US" dirty="0"/>
              <a:t>蓄電池の充放電最適化が必要</a:t>
            </a:r>
          </a:p>
          <a:p>
            <a:r>
              <a:rPr lang="ja-JP" altLang="en-US" dirty="0"/>
              <a:t>目的：電力コスト最小化と安定運用</a:t>
            </a:r>
          </a:p>
          <a:p>
            <a:endParaRPr lang="ja-JP" altLang="en-US" dirty="0"/>
          </a:p>
        </p:txBody>
      </p:sp>
      <p:sp>
        <p:nvSpPr>
          <p:cNvPr id="4" name="スライド番号プレースホルダー 3">
            <a:extLst>
              <a:ext uri="{FF2B5EF4-FFF2-40B4-BE49-F238E27FC236}">
                <a16:creationId xmlns:a16="http://schemas.microsoft.com/office/drawing/2014/main" id="{57351F8F-4CF0-7DCA-E9D1-4D4C2D7EA071}"/>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研究目的</a:t>
            </a:r>
            <a:endParaRPr dirty="0"/>
          </a:p>
        </p:txBody>
      </p:sp>
      <p:sp>
        <p:nvSpPr>
          <p:cNvPr id="3" name="Content Placeholder 2"/>
          <p:cNvSpPr>
            <a:spLocks noGrp="1"/>
          </p:cNvSpPr>
          <p:nvPr>
            <p:ph idx="1"/>
          </p:nvPr>
        </p:nvSpPr>
        <p:spPr/>
        <p:txBody>
          <a:bodyPr/>
          <a:lstStyle/>
          <a:p>
            <a:endParaRPr lang="ja-JP" altLang="en-US" dirty="0"/>
          </a:p>
          <a:p>
            <a:r>
              <a:rPr lang="ja-JP" altLang="en-US" dirty="0"/>
              <a:t>電力価格変動を考慮した最適充放電戦略の策定</a:t>
            </a:r>
          </a:p>
          <a:p>
            <a:r>
              <a:rPr lang="ja-JP" altLang="en-US" dirty="0"/>
              <a:t>サイクル劣化を考慮した検証</a:t>
            </a:r>
          </a:p>
          <a:p>
            <a:endParaRPr dirty="0"/>
          </a:p>
        </p:txBody>
      </p:sp>
      <p:sp>
        <p:nvSpPr>
          <p:cNvPr id="4" name="スライド番号プレースホルダー 3">
            <a:extLst>
              <a:ext uri="{FF2B5EF4-FFF2-40B4-BE49-F238E27FC236}">
                <a16:creationId xmlns:a16="http://schemas.microsoft.com/office/drawing/2014/main" id="{598177CF-568B-381B-486A-77ECE20BE118}"/>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モデル概要</a:t>
            </a:r>
            <a:endParaRPr dirty="0"/>
          </a:p>
        </p:txBody>
      </p:sp>
      <p:sp>
        <p:nvSpPr>
          <p:cNvPr id="3" name="Content Placeholder 2"/>
          <p:cNvSpPr>
            <a:spLocks noGrp="1"/>
          </p:cNvSpPr>
          <p:nvPr>
            <p:ph idx="1"/>
          </p:nvPr>
        </p:nvSpPr>
        <p:spPr/>
        <p:txBody>
          <a:bodyPr>
            <a:normAutofit/>
          </a:bodyPr>
          <a:lstStyle/>
          <a:p>
            <a:r>
              <a:rPr lang="ja-JP" altLang="en-US" dirty="0"/>
              <a:t>線形計画問題として考える</a:t>
            </a:r>
          </a:p>
          <a:p>
            <a:r>
              <a:rPr lang="ja-JP" altLang="en-US" dirty="0"/>
              <a:t>目的関数：電力コストと劣化コストの最小化（利益の最大化）</a:t>
            </a:r>
          </a:p>
          <a:p>
            <a:r>
              <a:rPr lang="ja-JP" altLang="en-US" dirty="0"/>
              <a:t>制約条件：容量・充放電バランス・バイナリ変数による制御</a:t>
            </a:r>
          </a:p>
          <a:p>
            <a:r>
              <a:rPr lang="ja-JP" altLang="en-US" dirty="0"/>
              <a:t>劣化関数をピースワイズして線形化</a:t>
            </a:r>
            <a:endParaRPr lang="en-US" altLang="ja-JP" dirty="0"/>
          </a:p>
          <a:p>
            <a:endParaRPr lang="en-US" dirty="0"/>
          </a:p>
        </p:txBody>
      </p:sp>
      <p:sp>
        <p:nvSpPr>
          <p:cNvPr id="4" name="スライド番号プレースホルダー 3">
            <a:extLst>
              <a:ext uri="{FF2B5EF4-FFF2-40B4-BE49-F238E27FC236}">
                <a16:creationId xmlns:a16="http://schemas.microsoft.com/office/drawing/2014/main" id="{86D24DD2-0C2A-E4EA-B566-BCF0190D5D27}"/>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A060C8-1AEB-739C-4B2F-8AD92D60D382}"/>
              </a:ext>
            </a:extLst>
          </p:cNvPr>
          <p:cNvSpPr>
            <a:spLocks noGrp="1"/>
          </p:cNvSpPr>
          <p:nvPr>
            <p:ph type="title"/>
          </p:nvPr>
        </p:nvSpPr>
        <p:spPr>
          <a:xfrm>
            <a:off x="75660" y="436065"/>
            <a:ext cx="7886700" cy="1325563"/>
          </a:xfrm>
        </p:spPr>
        <p:txBody>
          <a:bodyPr/>
          <a:lstStyle/>
          <a:p>
            <a:r>
              <a:rPr lang="ja-JP" altLang="en-US" b="1" dirty="0"/>
              <a:t>ピースワイズ線形化</a:t>
            </a:r>
            <a:r>
              <a:rPr lang="ja-JP" altLang="en-US" dirty="0"/>
              <a:t>とは</a:t>
            </a:r>
            <a:endParaRPr kumimoji="1" lang="ja-JP" altLang="en-US" dirty="0"/>
          </a:p>
        </p:txBody>
      </p:sp>
      <p:sp>
        <p:nvSpPr>
          <p:cNvPr id="4" name="スライド番号プレースホルダー 3">
            <a:extLst>
              <a:ext uri="{FF2B5EF4-FFF2-40B4-BE49-F238E27FC236}">
                <a16:creationId xmlns:a16="http://schemas.microsoft.com/office/drawing/2014/main" id="{83E74468-2787-2C29-4093-24E482BF1046}"/>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12" name="テキスト ボックス 11">
            <a:extLst>
              <a:ext uri="{FF2B5EF4-FFF2-40B4-BE49-F238E27FC236}">
                <a16:creationId xmlns:a16="http://schemas.microsoft.com/office/drawing/2014/main" id="{8E0907B3-BDD2-4388-8A1D-95D8E954C929}"/>
              </a:ext>
            </a:extLst>
          </p:cNvPr>
          <p:cNvSpPr txBox="1"/>
          <p:nvPr/>
        </p:nvSpPr>
        <p:spPr>
          <a:xfrm>
            <a:off x="297173" y="2086467"/>
            <a:ext cx="4572000" cy="646331"/>
          </a:xfrm>
          <a:prstGeom prst="rect">
            <a:avLst/>
          </a:prstGeom>
          <a:noFill/>
        </p:spPr>
        <p:txBody>
          <a:bodyPr wrap="square">
            <a:spAutoFit/>
          </a:bodyPr>
          <a:lstStyle/>
          <a:p>
            <a:pPr marL="285750" indent="-285750">
              <a:buFont typeface="Arial" panose="020B0604020202020204" pitchFamily="34" charset="0"/>
              <a:buChar char="•"/>
            </a:pPr>
            <a:r>
              <a:rPr lang="ja-JP" altLang="en-US" dirty="0"/>
              <a:t>非線形な曲線を</a:t>
            </a:r>
            <a:r>
              <a:rPr lang="en-US" altLang="ja-JP" dirty="0"/>
              <a:t>3</a:t>
            </a:r>
            <a:r>
              <a:rPr lang="ja-JP" altLang="en-US" dirty="0"/>
              <a:t>個の小さな直線に分けて近似する手法</a:t>
            </a:r>
            <a:endParaRPr lang="en-US" altLang="ja-JP" dirty="0"/>
          </a:p>
        </p:txBody>
      </p:sp>
      <p:sp>
        <p:nvSpPr>
          <p:cNvPr id="5" name="テキスト ボックス 4">
            <a:extLst>
              <a:ext uri="{FF2B5EF4-FFF2-40B4-BE49-F238E27FC236}">
                <a16:creationId xmlns:a16="http://schemas.microsoft.com/office/drawing/2014/main" id="{A8572749-FC11-E0D3-F5B2-9DD1708E818E}"/>
              </a:ext>
            </a:extLst>
          </p:cNvPr>
          <p:cNvSpPr txBox="1"/>
          <p:nvPr/>
        </p:nvSpPr>
        <p:spPr>
          <a:xfrm>
            <a:off x="1" y="1608189"/>
            <a:ext cx="6640436" cy="369332"/>
          </a:xfrm>
          <a:prstGeom prst="rect">
            <a:avLst/>
          </a:prstGeom>
          <a:noFill/>
        </p:spPr>
        <p:txBody>
          <a:bodyPr wrap="square" rtlCol="0">
            <a:spAutoFit/>
          </a:bodyPr>
          <a:lstStyle/>
          <a:p>
            <a:r>
              <a:rPr kumimoji="1" lang="ja-JP" altLang="en-US" dirty="0">
                <a:solidFill>
                  <a:srgbClr val="FF0000"/>
                </a:solidFill>
              </a:rPr>
              <a:t>目的　非線形関数を線形関数として扱えるように</a:t>
            </a:r>
          </a:p>
        </p:txBody>
      </p:sp>
      <mc:AlternateContent xmlns:mc="http://schemas.openxmlformats.org/markup-compatibility/2006" xmlns:a14="http://schemas.microsoft.com/office/drawing/2010/main">
        <mc:Choice Requires="a14">
          <p:sp>
            <p:nvSpPr>
              <p:cNvPr id="14" name="Rectangle 3">
                <a:extLst>
                  <a:ext uri="{FF2B5EF4-FFF2-40B4-BE49-F238E27FC236}">
                    <a16:creationId xmlns:a16="http://schemas.microsoft.com/office/drawing/2014/main" id="{46A8C6B5-18FD-9BFF-46D2-4C84E0ABE6B6}"/>
                  </a:ext>
                </a:extLst>
              </p:cNvPr>
              <p:cNvSpPr>
                <a:spLocks noChangeArrowheads="1"/>
              </p:cNvSpPr>
              <p:nvPr/>
            </p:nvSpPr>
            <p:spPr bwMode="auto">
              <a:xfrm>
                <a:off x="297173" y="2732798"/>
                <a:ext cx="4439569" cy="618630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en-US" sz="1800" b="0" i="0" u="none" strike="noStrike" cap="none" normalizeH="0" baseline="0" dirty="0">
                    <a:ln>
                      <a:noFill/>
                    </a:ln>
                    <a:solidFill>
                      <a:schemeClr val="tx1"/>
                    </a:solidFill>
                    <a:effectLst/>
                    <a:latin typeface="Arial" panose="020B0604020202020204" pitchFamily="34" charset="0"/>
                  </a:rPr>
                  <a:t>各区間ごとに、元の曲線に近づくよう 直線を当てる</a:t>
                </a:r>
                <a:endParaRPr kumimoji="0" lang="en-US" altLang="ja-JP"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kumimoji="0" lang="ja-JP" altLang="en-US" dirty="0">
                    <a:latin typeface="Arial" panose="020B0604020202020204" pitchFamily="34" charset="0"/>
                  </a:rPr>
                  <a:t>分割した区間</a:t>
                </a:r>
                <a14:m>
                  <m:oMath xmlns:m="http://schemas.openxmlformats.org/officeDocument/2006/math">
                    <m:sSub>
                      <m:sSubPr>
                        <m:ctrlPr>
                          <a:rPr kumimoji="0" lang="en-US" altLang="ja-JP" i="1">
                            <a:latin typeface="Cambria Math" panose="02040503050406030204" pitchFamily="18" charset="0"/>
                          </a:rPr>
                        </m:ctrlPr>
                      </m:sSubPr>
                      <m:e>
                        <m:r>
                          <m:rPr>
                            <m:sty m:val="p"/>
                          </m:rPr>
                          <a:rPr kumimoji="0" lang="en-US" altLang="ja-JP" b="0" i="1" smtClean="0">
                            <a:latin typeface="Cambria Math" panose="02040503050406030204" pitchFamily="18" charset="0"/>
                          </a:rPr>
                          <m:t>x</m:t>
                        </m:r>
                      </m:e>
                      <m:sub>
                        <m:r>
                          <a:rPr kumimoji="0" lang="en-US" altLang="ja-JP" i="1">
                            <a:latin typeface="Cambria Math" panose="02040503050406030204" pitchFamily="18" charset="0"/>
                          </a:rPr>
                          <m:t>1</m:t>
                        </m:r>
                      </m:sub>
                    </m:sSub>
                    <m:r>
                      <a:rPr kumimoji="0" lang="en-US" altLang="ja-JP" b="0" i="1" smtClean="0">
                        <a:latin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b="0" i="1" smtClean="0">
                            <a:latin typeface="Cambria Math" panose="02040503050406030204" pitchFamily="18" charset="0"/>
                          </a:rPr>
                          <m:t>x</m:t>
                        </m:r>
                      </m:e>
                      <m:sub>
                        <m:r>
                          <a:rPr kumimoji="0" lang="en-US" altLang="ja-JP" b="0" i="1" smtClean="0">
                            <a:latin typeface="Cambria Math" panose="02040503050406030204" pitchFamily="18" charset="0"/>
                          </a:rPr>
                          <m:t>3</m:t>
                        </m:r>
                      </m:sub>
                    </m:sSub>
                  </m:oMath>
                </a14:m>
                <a:r>
                  <a:rPr kumimoji="0" lang="ja-JP" altLang="en-US" dirty="0">
                    <a:latin typeface="Arial" panose="020B0604020202020204" pitchFamily="34" charset="0"/>
                  </a:rPr>
                  <a:t>をインディケータ変数</a:t>
                </a:r>
                <a14:m>
                  <m:oMath xmlns:m="http://schemas.openxmlformats.org/officeDocument/2006/math">
                    <m:sSub>
                      <m:sSubPr>
                        <m:ctrlPr>
                          <a:rPr kumimoji="0" lang="en-US" altLang="ja-JP" i="1" smtClean="0">
                            <a:latin typeface="Cambria Math" panose="02040503050406030204" pitchFamily="18" charset="0"/>
                          </a:rPr>
                        </m:ctrlPr>
                      </m:sSubPr>
                      <m:e>
                        <m:r>
                          <m:rPr>
                            <m:sty m:val="p"/>
                          </m:rPr>
                          <a:rPr kumimoji="0" lang="en-US" altLang="ja-JP" b="0" i="1" smtClean="0">
                            <a:latin typeface="Cambria Math" panose="02040503050406030204" pitchFamily="18" charset="0"/>
                          </a:rPr>
                          <m:t>z</m:t>
                        </m:r>
                      </m:e>
                      <m:sub>
                        <m:r>
                          <a:rPr kumimoji="0" lang="en-US" altLang="ja-JP" b="0" i="1" smtClean="0">
                            <a:latin typeface="Cambria Math" panose="02040503050406030204" pitchFamily="18" charset="0"/>
                          </a:rPr>
                          <m:t>1</m:t>
                        </m:r>
                      </m:sub>
                    </m:sSub>
                  </m:oMath>
                </a14:m>
                <a:r>
                  <a:rPr kumimoji="0" lang="ja-JP" altLang="en-US" dirty="0">
                    <a:latin typeface="Arial" panose="020B0604020202020204" pitchFamily="34" charset="0"/>
                  </a:rPr>
                  <a:t>と</a:t>
                </a:r>
                <a14:m>
                  <m:oMath xmlns:m="http://schemas.openxmlformats.org/officeDocument/2006/math">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z</m:t>
                        </m:r>
                      </m:e>
                      <m:sub>
                        <m:r>
                          <a:rPr kumimoji="0" lang="en-US" altLang="ja-JP" b="0" i="1" smtClean="0">
                            <a:latin typeface="Cambria Math" panose="02040503050406030204" pitchFamily="18" charset="0"/>
                          </a:rPr>
                          <m:t>2</m:t>
                        </m:r>
                      </m:sub>
                    </m:sSub>
                  </m:oMath>
                </a14:m>
                <a:r>
                  <a:rPr kumimoji="0" lang="ja-JP" altLang="en-US" dirty="0">
                    <a:latin typeface="Arial" panose="020B0604020202020204" pitchFamily="34" charset="0"/>
                  </a:rPr>
                  <a:t>（バイナリ）によって選択</a:t>
                </a:r>
                <a:endParaRPr kumimoji="0" lang="en-US" altLang="ja-JP" dirty="0">
                  <a:latin typeface="Arial" panose="020B0604020202020204" pitchFamily="34"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1</m:t>
                          </m:r>
                        </m:sub>
                      </m:sSub>
                      <m:sSub>
                        <m:sSubPr>
                          <m:ctrlPr>
                            <a:rPr kumimoji="0" lang="en-US" altLang="ja-JP" i="1">
                              <a:latin typeface="Cambria Math" panose="02040503050406030204" pitchFamily="18" charset="0"/>
                            </a:rPr>
                          </m:ctrlPr>
                        </m:sSubPr>
                        <m:e>
                          <m:r>
                            <m:rPr>
                              <m:sty m:val="p"/>
                            </m:rPr>
                            <a:rPr kumimoji="0" lang="en-US" altLang="ja-JP" b="0" i="1" smtClean="0">
                              <a:latin typeface="Cambria Math" panose="02040503050406030204" pitchFamily="18" charset="0"/>
                            </a:rPr>
                            <m:t>z</m:t>
                          </m:r>
                        </m:e>
                        <m:sub>
                          <m:r>
                            <a:rPr kumimoji="0" lang="en-US" altLang="ja-JP" b="0" i="1" smtClean="0">
                              <a:latin typeface="Cambria Math" panose="02040503050406030204" pitchFamily="18" charset="0"/>
                            </a:rPr>
                            <m:t>1</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1</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smtClean="0">
                              <a:latin typeface="Cambria Math" panose="02040503050406030204" pitchFamily="18" charset="0"/>
                              <a:ea typeface="Cambria Math" panose="02040503050406030204" pitchFamily="18" charset="0"/>
                            </a:rPr>
                          </m:ctrlPr>
                        </m:sSubPr>
                        <m:e>
                          <m:r>
                            <m:rPr>
                              <m:sty m:val="p"/>
                            </m:rPr>
                            <a:rPr kumimoji="0" lang="en-US" altLang="ja-JP" b="0" i="1" smtClean="0">
                              <a:latin typeface="Cambria Math" panose="02040503050406030204" pitchFamily="18" charset="0"/>
                              <a:ea typeface="Cambria Math" panose="02040503050406030204" pitchFamily="18" charset="0"/>
                            </a:rPr>
                            <m:t>L</m:t>
                          </m:r>
                        </m:e>
                        <m:sub>
                          <m:r>
                            <a:rPr kumimoji="0" lang="en-US" altLang="ja-JP" b="0" i="1" smtClean="0">
                              <a:latin typeface="Cambria Math" panose="02040503050406030204" pitchFamily="18" charset="0"/>
                              <a:ea typeface="Cambria Math" panose="02040503050406030204" pitchFamily="18" charset="0"/>
                            </a:rPr>
                            <m:t>1</m:t>
                          </m:r>
                        </m:sub>
                      </m:sSub>
                    </m:oMath>
                  </m:oMathPara>
                </a14:m>
                <a:endParaRPr kumimoji="0" lang="en-US" altLang="ja-JP" i="1" dirty="0">
                  <a:latin typeface="Cambria Math" panose="02040503050406030204" pitchFamily="18"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2</m:t>
                          </m:r>
                        </m:sub>
                      </m:sSub>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z</m:t>
                          </m:r>
                        </m:e>
                        <m:sub>
                          <m:r>
                            <a:rPr kumimoji="0" lang="en-US" altLang="ja-JP" b="0" i="1" smtClean="0">
                              <a:latin typeface="Cambria Math" panose="02040503050406030204" pitchFamily="18" charset="0"/>
                            </a:rPr>
                            <m:t>2</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2</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i="1">
                              <a:latin typeface="Cambria Math" panose="02040503050406030204" pitchFamily="18" charset="0"/>
                            </a:rPr>
                            <m:t>2</m:t>
                          </m:r>
                        </m:sub>
                      </m:sSub>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z</m:t>
                          </m:r>
                        </m:e>
                        <m:sub>
                          <m:r>
                            <a:rPr kumimoji="0" lang="en-US" altLang="ja-JP" b="0" i="1" smtClean="0">
                              <a:latin typeface="Cambria Math" panose="02040503050406030204" pitchFamily="18" charset="0"/>
                            </a:rPr>
                            <m:t>1</m:t>
                          </m:r>
                        </m:sub>
                      </m:sSub>
                    </m:oMath>
                  </m:oMathPara>
                </a14:m>
                <a:endParaRPr kumimoji="0" lang="en-US" altLang="ja-JP" dirty="0">
                  <a:latin typeface="Arial" panose="020B0604020202020204" pitchFamily="34"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0" lang="en-US" altLang="ja-JP" b="0" i="1" smtClean="0">
                          <a:latin typeface="Cambria Math" panose="02040503050406030204" pitchFamily="18" charset="0"/>
                          <a:ea typeface="Cambria Math" panose="02040503050406030204" pitchFamily="18" charset="0"/>
                        </a:rPr>
                        <m:t>0</m:t>
                      </m:r>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3</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3</m:t>
                          </m:r>
                        </m:sub>
                      </m:sSub>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z</m:t>
                          </m:r>
                        </m:e>
                        <m:sub>
                          <m:r>
                            <a:rPr kumimoji="0" lang="en-US" altLang="ja-JP" b="0" i="1" smtClean="0">
                              <a:latin typeface="Cambria Math" panose="02040503050406030204" pitchFamily="18" charset="0"/>
                            </a:rPr>
                            <m:t>2</m:t>
                          </m:r>
                        </m:sub>
                      </m:sSub>
                    </m:oMath>
                  </m:oMathPara>
                </a14:m>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en-US" dirty="0">
                    <a:latin typeface="Arial" panose="020B0604020202020204" pitchFamily="34" charset="0"/>
                  </a:rPr>
                  <a:t>（例）</a:t>
                </a:r>
                <a14:m>
                  <m:oMath xmlns:m="http://schemas.openxmlformats.org/officeDocument/2006/math">
                    <m:sSub>
                      <m:sSubPr>
                        <m:ctrlPr>
                          <a:rPr kumimoji="0" lang="en-US" altLang="ja-JP" i="1" dirty="0" smtClean="0">
                            <a:latin typeface="Cambria Math" panose="02040503050406030204" pitchFamily="18" charset="0"/>
                          </a:rPr>
                        </m:ctrlPr>
                      </m:sSubPr>
                      <m:e>
                        <m:r>
                          <m:rPr>
                            <m:sty m:val="p"/>
                          </m:rPr>
                          <a:rPr kumimoji="0" lang="en-US" altLang="ja-JP" b="0" i="1" dirty="0" smtClean="0">
                            <a:latin typeface="Cambria Math" panose="02040503050406030204" pitchFamily="18" charset="0"/>
                          </a:rPr>
                          <m:t>z</m:t>
                        </m:r>
                      </m:e>
                      <m:sub>
                        <m:r>
                          <a:rPr kumimoji="0" lang="en-US" altLang="ja-JP" b="0" i="1" dirty="0" smtClean="0">
                            <a:latin typeface="Cambria Math" panose="02040503050406030204" pitchFamily="18" charset="0"/>
                          </a:rPr>
                          <m:t>1</m:t>
                        </m:r>
                      </m:sub>
                    </m:sSub>
                    <m:r>
                      <a:rPr kumimoji="0" lang="en-US" altLang="ja-JP" i="1" dirty="0" smtClean="0">
                        <a:latin typeface="Cambria Math" panose="02040503050406030204" pitchFamily="18" charset="0"/>
                      </a:rPr>
                      <m:t>=1,</m:t>
                    </m:r>
                    <m:sSub>
                      <m:sSubPr>
                        <m:ctrlPr>
                          <a:rPr kumimoji="0" lang="en-US" altLang="ja-JP" i="1" dirty="0" smtClean="0">
                            <a:latin typeface="Cambria Math" panose="02040503050406030204" pitchFamily="18" charset="0"/>
                          </a:rPr>
                        </m:ctrlPr>
                      </m:sSubPr>
                      <m:e>
                        <m:r>
                          <m:rPr>
                            <m:sty m:val="p"/>
                          </m:rPr>
                          <a:rPr kumimoji="0" lang="en-US" altLang="ja-JP" b="0" i="1" dirty="0" smtClean="0">
                            <a:latin typeface="Cambria Math" panose="02040503050406030204" pitchFamily="18" charset="0"/>
                          </a:rPr>
                          <m:t>z</m:t>
                        </m:r>
                      </m:e>
                      <m:sub>
                        <m:r>
                          <a:rPr kumimoji="0" lang="en-US" altLang="ja-JP" b="0" i="1" dirty="0" smtClean="0">
                            <a:latin typeface="Cambria Math" panose="02040503050406030204" pitchFamily="18" charset="0"/>
                          </a:rPr>
                          <m:t>2</m:t>
                        </m:r>
                      </m:sub>
                    </m:sSub>
                    <m:r>
                      <a:rPr kumimoji="0" lang="en-US" altLang="ja-JP" i="1" dirty="0" smtClean="0">
                        <a:latin typeface="Cambria Math" panose="02040503050406030204" pitchFamily="18" charset="0"/>
                      </a:rPr>
                      <m:t>=0</m:t>
                    </m:r>
                  </m:oMath>
                </a14:m>
                <a:r>
                  <a:rPr kumimoji="0" lang="ja-JP" altLang="en-US" dirty="0">
                    <a:latin typeface="Arial" panose="020B0604020202020204" pitchFamily="34" charset="0"/>
                  </a:rPr>
                  <a:t>の時</a:t>
                </a: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ja-JP" dirty="0">
                  <a:latin typeface="Arial" panose="020B0604020202020204" pitchFamily="34"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0" lang="en-US" altLang="ja-JP" i="1" smtClean="0">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1</m:t>
                          </m:r>
                        </m:sub>
                      </m:sSub>
                      <m:r>
                        <a:rPr kumimoji="0" lang="en-US" altLang="ja-JP" b="0" i="1" smtClean="0">
                          <a:latin typeface="Cambria Math" panose="02040503050406030204" pitchFamily="18" charset="0"/>
                        </a:rPr>
                        <m:t>∗1</m:t>
                      </m:r>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1</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smtClean="0">
                              <a:latin typeface="Cambria Math" panose="02040503050406030204" pitchFamily="18" charset="0"/>
                              <a:ea typeface="Cambria Math" panose="02040503050406030204" pitchFamily="18" charset="0"/>
                            </a:rPr>
                          </m:ctrlPr>
                        </m:sSubPr>
                        <m:e>
                          <m:r>
                            <m:rPr>
                              <m:sty m:val="p"/>
                            </m:rPr>
                            <a:rPr kumimoji="0" lang="en-US" altLang="ja-JP" b="0" i="1" smtClean="0">
                              <a:latin typeface="Cambria Math" panose="02040503050406030204" pitchFamily="18" charset="0"/>
                              <a:ea typeface="Cambria Math" panose="02040503050406030204" pitchFamily="18" charset="0"/>
                            </a:rPr>
                            <m:t>L</m:t>
                          </m:r>
                        </m:e>
                        <m:sub>
                          <m:r>
                            <a:rPr kumimoji="0" lang="en-US" altLang="ja-JP" b="0" i="1" smtClean="0">
                              <a:latin typeface="Cambria Math" panose="02040503050406030204" pitchFamily="18" charset="0"/>
                              <a:ea typeface="Cambria Math" panose="02040503050406030204" pitchFamily="18" charset="0"/>
                            </a:rPr>
                            <m:t>1</m:t>
                          </m:r>
                        </m:sub>
                      </m:sSub>
                    </m:oMath>
                  </m:oMathPara>
                </a14:m>
                <a:endParaRPr kumimoji="0" lang="en-US" altLang="ja-JP" b="0" dirty="0">
                  <a:latin typeface="Arial" panose="020B0604020202020204" pitchFamily="34" charset="0"/>
                  <a:ea typeface="Cambria Math" panose="02040503050406030204" pitchFamily="18" charset="0"/>
                </a:endParaRPr>
              </a:p>
              <a:p>
                <a:pPr eaLnBrk="0" fontAlgn="base" hangingPunct="0">
                  <a:spcBef>
                    <a:spcPct val="0"/>
                  </a:spcBef>
                  <a:spcAft>
                    <a:spcPct val="0"/>
                  </a:spcAft>
                </a:pPr>
                <a:endParaRPr kumimoji="0" lang="en-US" altLang="ja-JP" b="0" dirty="0">
                  <a:latin typeface="Arial" panose="020B0604020202020204" pitchFamily="34" charset="0"/>
                  <a:ea typeface="Cambria Math" panose="02040503050406030204" pitchFamily="18"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0" lang="en-US" altLang="ja-JP" i="1" smtClean="0">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2</m:t>
                          </m:r>
                        </m:sub>
                      </m:sSub>
                      <m:r>
                        <a:rPr kumimoji="0" lang="en-US" altLang="ja-JP" i="1">
                          <a:latin typeface="Cambria Math" panose="02040503050406030204" pitchFamily="18" charset="0"/>
                        </a:rPr>
                        <m:t>∗</m:t>
                      </m:r>
                      <m:r>
                        <a:rPr kumimoji="0" lang="en-US" altLang="ja-JP" b="0" i="1" smtClean="0">
                          <a:latin typeface="Cambria Math" panose="02040503050406030204" pitchFamily="18" charset="0"/>
                        </a:rPr>
                        <m:t>0</m:t>
                      </m:r>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2</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ea typeface="Cambria Math" panose="02040503050406030204" pitchFamily="18" charset="0"/>
                            </a:rPr>
                          </m:ctrlPr>
                        </m:sSubPr>
                        <m:e>
                          <m:r>
                            <m:rPr>
                              <m:sty m:val="p"/>
                            </m:rPr>
                            <a:rPr kumimoji="0" lang="en-US" altLang="ja-JP" i="1">
                              <a:latin typeface="Cambria Math" panose="02040503050406030204" pitchFamily="18" charset="0"/>
                              <a:ea typeface="Cambria Math" panose="02040503050406030204" pitchFamily="18" charset="0"/>
                            </a:rPr>
                            <m:t>L</m:t>
                          </m:r>
                        </m:e>
                        <m:sub>
                          <m:r>
                            <a:rPr kumimoji="0" lang="en-US" altLang="ja-JP" b="0" i="1" smtClean="0">
                              <a:latin typeface="Cambria Math" panose="02040503050406030204" pitchFamily="18" charset="0"/>
                              <a:ea typeface="Cambria Math" panose="02040503050406030204" pitchFamily="18" charset="0"/>
                            </a:rPr>
                            <m:t>2</m:t>
                          </m:r>
                        </m:sub>
                      </m:sSub>
                      <m:r>
                        <a:rPr kumimoji="0" lang="en-US" altLang="ja-JP" i="1" smtClean="0">
                          <a:latin typeface="Cambria Math" panose="02040503050406030204" pitchFamily="18" charset="0"/>
                          <a:ea typeface="Cambria Math" panose="02040503050406030204" pitchFamily="18" charset="0"/>
                        </a:rPr>
                        <m:t>∗1</m:t>
                      </m:r>
                    </m:oMath>
                  </m:oMathPara>
                </a14:m>
                <a:endParaRPr kumimoji="0" lang="en-US" altLang="ja-JP" b="0" dirty="0">
                  <a:latin typeface="Arial" panose="020B0604020202020204" pitchFamily="34" charset="0"/>
                  <a:ea typeface="Cambria Math" panose="02040503050406030204" pitchFamily="18" charset="0"/>
                </a:endParaRPr>
              </a:p>
              <a:p>
                <a:pPr eaLnBrk="0" fontAlgn="base" hangingPunct="0">
                  <a:spcBef>
                    <a:spcPct val="0"/>
                  </a:spcBef>
                  <a:spcAft>
                    <a:spcPct val="0"/>
                  </a:spcAft>
                </a:pPr>
                <a:endParaRPr kumimoji="0" lang="en-US" altLang="ja-JP" dirty="0">
                  <a:latin typeface="Arial" panose="020B0604020202020204" pitchFamily="34" charset="0"/>
                  <a:ea typeface="Cambria Math" panose="02040503050406030204" pitchFamily="18"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0" lang="en-US" altLang="ja-JP" i="1">
                          <a:latin typeface="Cambria Math" panose="02040503050406030204" pitchFamily="18" charset="0"/>
                        </a:rPr>
                        <m:t>0</m:t>
                      </m:r>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3</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ea typeface="Cambria Math" panose="02040503050406030204" pitchFamily="18" charset="0"/>
                            </a:rPr>
                          </m:ctrlPr>
                        </m:sSubPr>
                        <m:e>
                          <m:r>
                            <m:rPr>
                              <m:sty m:val="p"/>
                            </m:rPr>
                            <a:rPr kumimoji="0" lang="en-US" altLang="ja-JP" i="1">
                              <a:latin typeface="Cambria Math" panose="02040503050406030204" pitchFamily="18" charset="0"/>
                              <a:ea typeface="Cambria Math" panose="02040503050406030204" pitchFamily="18" charset="0"/>
                            </a:rPr>
                            <m:t>L</m:t>
                          </m:r>
                        </m:e>
                        <m:sub>
                          <m:r>
                            <a:rPr kumimoji="0" lang="en-US" altLang="ja-JP" b="0" i="1" smtClean="0">
                              <a:latin typeface="Cambria Math" panose="02040503050406030204" pitchFamily="18" charset="0"/>
                              <a:ea typeface="Cambria Math" panose="02040503050406030204" pitchFamily="18" charset="0"/>
                            </a:rPr>
                            <m:t>3</m:t>
                          </m:r>
                        </m:sub>
                      </m:sSub>
                      <m:r>
                        <a:rPr kumimoji="0" lang="en-US" altLang="ja-JP" i="1">
                          <a:latin typeface="Cambria Math" panose="02040503050406030204" pitchFamily="18" charset="0"/>
                          <a:ea typeface="Cambria Math" panose="02040503050406030204" pitchFamily="18" charset="0"/>
                        </a:rPr>
                        <m:t>∗</m:t>
                      </m:r>
                      <m:r>
                        <a:rPr kumimoji="0" lang="en-US" altLang="ja-JP" b="0" i="1" smtClean="0">
                          <a:latin typeface="Cambria Math" panose="02040503050406030204" pitchFamily="18" charset="0"/>
                          <a:ea typeface="Cambria Math" panose="02040503050406030204" pitchFamily="18" charset="0"/>
                        </a:rPr>
                        <m:t>0</m:t>
                      </m:r>
                    </m:oMath>
                  </m:oMathPara>
                </a14:m>
                <a:endParaRPr kumimoji="0" lang="en-US" altLang="ja-JP" dirty="0">
                  <a:latin typeface="Arial" panose="020B0604020202020204" pitchFamily="34" charset="0"/>
                  <a:ea typeface="Cambria Math" panose="02040503050406030204" pitchFamily="18" charset="0"/>
                </a:endParaRPr>
              </a:p>
              <a:p>
                <a:pPr eaLnBrk="0" fontAlgn="base" hangingPunct="0">
                  <a:spcBef>
                    <a:spcPct val="0"/>
                  </a:spcBef>
                  <a:spcAft>
                    <a:spcPct val="0"/>
                  </a:spcAf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4" name="Rectangle 3">
                <a:extLst>
                  <a:ext uri="{FF2B5EF4-FFF2-40B4-BE49-F238E27FC236}">
                    <a16:creationId xmlns:a16="http://schemas.microsoft.com/office/drawing/2014/main" id="{46A8C6B5-18FD-9BFF-46D2-4C84E0ABE6B6}"/>
                  </a:ext>
                </a:extLst>
              </p:cNvPr>
              <p:cNvSpPr>
                <a:spLocks noRot="1" noChangeAspect="1" noMove="1" noResize="1" noEditPoints="1" noAdjustHandles="1" noChangeArrowheads="1" noChangeShapeType="1" noTextEdit="1"/>
              </p:cNvSpPr>
              <p:nvPr/>
            </p:nvSpPr>
            <p:spPr bwMode="auto">
              <a:xfrm>
                <a:off x="297173" y="2732798"/>
                <a:ext cx="4439569" cy="6186309"/>
              </a:xfrm>
              <a:prstGeom prst="rect">
                <a:avLst/>
              </a:prstGeom>
              <a:blipFill>
                <a:blip r:embed="rId2"/>
                <a:stretch>
                  <a:fillRect l="-123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6034FA13-FE32-9960-3A4B-D20B4A87846C}"/>
              </a:ext>
            </a:extLst>
          </p:cNvPr>
          <p:cNvPicPr>
            <a:picLocks noChangeAspect="1"/>
          </p:cNvPicPr>
          <p:nvPr/>
        </p:nvPicPr>
        <p:blipFill>
          <a:blip r:embed="rId3"/>
          <a:stretch>
            <a:fillRect/>
          </a:stretch>
        </p:blipFill>
        <p:spPr>
          <a:xfrm>
            <a:off x="4529470" y="3149645"/>
            <a:ext cx="4614530" cy="2336699"/>
          </a:xfrm>
          <a:prstGeom prst="rect">
            <a:avLst/>
          </a:prstGeom>
        </p:spPr>
      </p:pic>
      <p:sp>
        <p:nvSpPr>
          <p:cNvPr id="8" name="コンテンツ プレースホルダー 7">
            <a:extLst>
              <a:ext uri="{FF2B5EF4-FFF2-40B4-BE49-F238E27FC236}">
                <a16:creationId xmlns:a16="http://schemas.microsoft.com/office/drawing/2014/main" id="{D3235E1B-8881-2BDF-314E-2B3609054A3A}"/>
              </a:ext>
            </a:extLst>
          </p:cNvPr>
          <p:cNvSpPr>
            <a:spLocks noGrp="1"/>
          </p:cNvSpPr>
          <p:nvPr>
            <p:ph idx="1"/>
          </p:nvPr>
        </p:nvSpPr>
        <p:spPr>
          <a:xfrm>
            <a:off x="8666233" y="-185340"/>
            <a:ext cx="477767" cy="370680"/>
          </a:xfrm>
        </p:spPr>
        <p:txBody>
          <a:bodyPr>
            <a:normAutofit lnSpcReduction="10000"/>
          </a:bodyPr>
          <a:lstStyle/>
          <a:p>
            <a:pPr marL="0" indent="0">
              <a:buNone/>
            </a:pPr>
            <a:endParaRPr lang="ja-JP" altLang="en-US"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C1FF2C56-9CC1-F225-28E0-C4E97A5565FC}"/>
                  </a:ext>
                </a:extLst>
              </p:cNvPr>
              <p:cNvSpPr txBox="1"/>
              <p:nvPr/>
            </p:nvSpPr>
            <p:spPr>
              <a:xfrm>
                <a:off x="4019010" y="5775604"/>
                <a:ext cx="4173928" cy="646331"/>
              </a:xfrm>
              <a:prstGeom prst="rect">
                <a:avLst/>
              </a:prstGeom>
              <a:noFill/>
            </p:spPr>
            <p:txBody>
              <a:bodyPr wrap="square" rtlCol="0">
                <a:spAutoFit/>
              </a:bodyPr>
              <a:lstStyle/>
              <a:p>
                <a:r>
                  <a:rPr lang="ja-JP" altLang="en-US" dirty="0"/>
                  <a:t>この場合、</a:t>
                </a:r>
                <a14:m>
                  <m:oMath xmlns:m="http://schemas.openxmlformats.org/officeDocument/2006/math">
                    <m:sSub>
                      <m:sSubPr>
                        <m:ctrlPr>
                          <a:rPr lang="en-US" altLang="ja-JP" i="1" smtClean="0">
                            <a:latin typeface="Cambria Math" panose="02040503050406030204" pitchFamily="18" charset="0"/>
                          </a:rPr>
                        </m:ctrlPr>
                      </m:sSubPr>
                      <m:e>
                        <m:r>
                          <m:rPr>
                            <m:sty m:val="p"/>
                          </m:rPr>
                          <a:rPr lang="en-US" altLang="ja-JP" b="0" i="1" smtClean="0">
                            <a:latin typeface="Cambria Math" panose="02040503050406030204" pitchFamily="18" charset="0"/>
                          </a:rPr>
                          <m:t>x</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m:rPr>
                            <m:sty m:val="p"/>
                          </m:rPr>
                          <a:rPr lang="en-US" altLang="ja-JP" b="0" i="1" smtClean="0">
                            <a:latin typeface="Cambria Math" panose="02040503050406030204" pitchFamily="18" charset="0"/>
                          </a:rPr>
                          <m:t>L</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0</m:t>
                        </m:r>
                        <m:r>
                          <a:rPr lang="en-US" altLang="ja-JP" b="0" i="1" smtClean="0">
                            <a:latin typeface="Cambria Math" panose="02040503050406030204" pitchFamily="18" charset="0"/>
                            <a:ea typeface="Cambria Math" panose="02040503050406030204" pitchFamily="18" charset="0"/>
                          </a:rPr>
                          <m:t>≤</m:t>
                        </m:r>
                        <m:r>
                          <m:rPr>
                            <m:sty m:val="p"/>
                          </m:rPr>
                          <a:rPr lang="en-US" altLang="ja-JP" i="1">
                            <a:latin typeface="Cambria Math" panose="02040503050406030204" pitchFamily="18" charset="0"/>
                          </a:rPr>
                          <m:t>x</m:t>
                        </m:r>
                      </m:e>
                      <m:sub>
                        <m:r>
                          <a:rPr lang="en-US" altLang="ja-JP" b="0" i="1" smtClean="0">
                            <a:latin typeface="Cambria Math" panose="02040503050406030204" pitchFamily="18" charset="0"/>
                          </a:rPr>
                          <m:t>2</m:t>
                        </m:r>
                      </m:sub>
                    </m:sSub>
                    <m:r>
                      <a:rPr lang="en-US" altLang="ja-JP" i="1" smtClean="0">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rPr>
                        </m:ctrlPr>
                      </m:sSubPr>
                      <m:e>
                        <m:r>
                          <m:rPr>
                            <m:sty m:val="p"/>
                          </m:rPr>
                          <a:rPr lang="en-US" altLang="ja-JP" i="1">
                            <a:latin typeface="Cambria Math" panose="02040503050406030204" pitchFamily="18" charset="0"/>
                          </a:rPr>
                          <m:t>L</m:t>
                        </m:r>
                      </m:e>
                      <m:sub>
                        <m:r>
                          <a:rPr lang="en-US" altLang="ja-JP" b="0" i="1" smtClean="0">
                            <a:latin typeface="Cambria Math" panose="02040503050406030204" pitchFamily="18" charset="0"/>
                          </a:rPr>
                          <m:t>2</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m:rPr>
                            <m:sty m:val="p"/>
                          </m:rPr>
                          <a:rPr lang="en-US" altLang="ja-JP" i="1">
                            <a:latin typeface="Cambria Math" panose="02040503050406030204" pitchFamily="18" charset="0"/>
                          </a:rPr>
                          <m:t>x</m:t>
                        </m:r>
                      </m:e>
                      <m:sub>
                        <m:r>
                          <a:rPr lang="en-US" altLang="ja-JP" b="0" i="1" smtClean="0">
                            <a:latin typeface="Cambria Math" panose="02040503050406030204" pitchFamily="18" charset="0"/>
                          </a:rPr>
                          <m:t>3</m:t>
                        </m:r>
                      </m:sub>
                    </m:sSub>
                    <m:r>
                      <a:rPr lang="en-US" altLang="ja-JP" i="1">
                        <a:latin typeface="Cambria Math" panose="02040503050406030204" pitchFamily="18" charset="0"/>
                      </a:rPr>
                      <m:t>=</m:t>
                    </m:r>
                    <m:r>
                      <a:rPr lang="en-US" altLang="ja-JP" b="0" i="1" smtClean="0">
                        <a:latin typeface="Cambria Math" panose="02040503050406030204" pitchFamily="18" charset="0"/>
                      </a:rPr>
                      <m:t>0</m:t>
                    </m:r>
                  </m:oMath>
                </a14:m>
                <a:r>
                  <a:rPr kumimoji="1" lang="ja-JP" altLang="en-US" dirty="0"/>
                  <a:t>なので、</a:t>
                </a:r>
                <a14:m>
                  <m:oMath xmlns:m="http://schemas.openxmlformats.org/officeDocument/2006/math">
                    <m:r>
                      <a:rPr lang="en-US" altLang="ja-JP" i="1" dirty="0" smtClean="0">
                        <a:latin typeface="Cambria Math" panose="02040503050406030204" pitchFamily="18" charset="0"/>
                      </a:rPr>
                      <m:t>𝑥</m:t>
                    </m:r>
                    <m:r>
                      <a:rPr lang="ja-JP" altLang="en-US" i="1" dirty="0">
                        <a:latin typeface="Cambria Math" panose="02040503050406030204" pitchFamily="18" charset="0"/>
                      </a:rPr>
                      <m:t>は</m:t>
                    </m:r>
                    <m:sSub>
                      <m:sSubPr>
                        <m:ctrlPr>
                          <a:rPr lang="en-US" altLang="ja-JP" i="1" dirty="0" smtClean="0">
                            <a:latin typeface="Cambria Math" panose="02040503050406030204" pitchFamily="18" charset="0"/>
                          </a:rPr>
                        </m:ctrlPr>
                      </m:sSubPr>
                      <m:e>
                        <m:r>
                          <m:rPr>
                            <m:sty m:val="p"/>
                          </m:rPr>
                          <a:rPr lang="en-US" altLang="ja-JP" b="0" i="1" dirty="0" smtClean="0">
                            <a:latin typeface="Cambria Math" panose="02040503050406030204" pitchFamily="18" charset="0"/>
                          </a:rPr>
                          <m:t>L</m:t>
                        </m:r>
                      </m:e>
                      <m:sub>
                        <m:r>
                          <a:rPr lang="en-US" altLang="ja-JP" b="0" i="1" dirty="0" smtClean="0">
                            <a:latin typeface="Cambria Math" panose="02040503050406030204" pitchFamily="18" charset="0"/>
                          </a:rPr>
                          <m:t>2</m:t>
                        </m:r>
                      </m:sub>
                    </m:sSub>
                    <m:r>
                      <a:rPr lang="ja-JP" altLang="en-US" i="1" dirty="0" smtClean="0">
                        <a:latin typeface="Cambria Math" panose="02040503050406030204" pitchFamily="18" charset="0"/>
                      </a:rPr>
                      <m:t>の</m:t>
                    </m:r>
                    <m:r>
                      <a:rPr kumimoji="1" lang="ja-JP" altLang="en-US" i="1" dirty="0" smtClean="0">
                        <a:latin typeface="Cambria Math" panose="02040503050406030204" pitchFamily="18" charset="0"/>
                      </a:rPr>
                      <m:t>区間にある</m:t>
                    </m:r>
                  </m:oMath>
                </a14:m>
                <a:r>
                  <a:rPr kumimoji="1" lang="ja-JP" altLang="en-US"/>
                  <a:t>と言える</a:t>
                </a:r>
                <a:endParaRPr kumimoji="1" lang="ja-JP" altLang="en-US" dirty="0"/>
              </a:p>
            </p:txBody>
          </p:sp>
        </mc:Choice>
        <mc:Fallback xmlns="">
          <p:sp>
            <p:nvSpPr>
              <p:cNvPr id="9" name="テキスト ボックス 8">
                <a:extLst>
                  <a:ext uri="{FF2B5EF4-FFF2-40B4-BE49-F238E27FC236}">
                    <a16:creationId xmlns:a16="http://schemas.microsoft.com/office/drawing/2014/main" id="{C1FF2C56-9CC1-F225-28E0-C4E97A5565FC}"/>
                  </a:ext>
                </a:extLst>
              </p:cNvPr>
              <p:cNvSpPr txBox="1">
                <a:spLocks noRot="1" noChangeAspect="1" noMove="1" noResize="1" noEditPoints="1" noAdjustHandles="1" noChangeArrowheads="1" noChangeShapeType="1" noTextEdit="1"/>
              </p:cNvSpPr>
              <p:nvPr/>
            </p:nvSpPr>
            <p:spPr>
              <a:xfrm>
                <a:off x="4019010" y="5775604"/>
                <a:ext cx="4173928" cy="646331"/>
              </a:xfrm>
              <a:prstGeom prst="rect">
                <a:avLst/>
              </a:prstGeom>
              <a:blipFill>
                <a:blip r:embed="rId4"/>
                <a:stretch>
                  <a:fillRect l="-1168" t="-3774" b="-150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82426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1CF254-5FBC-E5D7-34AA-BAEFEEF7AEA1}"/>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60BE48E-9EA7-1AD7-AA73-E35262416413}"/>
              </a:ext>
            </a:extLst>
          </p:cNvPr>
          <p:cNvSpPr>
            <a:spLocks noGrp="1"/>
          </p:cNvSpPr>
          <p:nvPr>
            <p:ph idx="1"/>
          </p:nvPr>
        </p:nvSpPr>
        <p:spPr/>
        <p:txBody>
          <a:bodyPr/>
          <a:lstStyle/>
          <a:p>
            <a:pPr marL="0" lvl="0" indent="0" defTabSz="914400" eaLnBrk="0" fontAlgn="base" hangingPunct="0">
              <a:lnSpc>
                <a:spcPct val="100000"/>
              </a:lnSpc>
              <a:spcBef>
                <a:spcPct val="0"/>
              </a:spcBef>
              <a:spcAft>
                <a:spcPct val="0"/>
              </a:spcAft>
              <a:buFontTx/>
              <a:buChar char="•"/>
            </a:pPr>
            <a:r>
              <a:rPr kumimoji="0" lang="en-US" altLang="ja-JP" sz="2400" dirty="0">
                <a:latin typeface="Arial" panose="020B0604020202020204" pitchFamily="34" charset="0"/>
              </a:rPr>
              <a:t>Z2 W2</a:t>
            </a:r>
          </a:p>
          <a:p>
            <a:pPr marL="0" lvl="0" indent="0" defTabSz="914400" eaLnBrk="0" fontAlgn="base" hangingPunct="0">
              <a:lnSpc>
                <a:spcPct val="100000"/>
              </a:lnSpc>
              <a:spcBef>
                <a:spcPct val="0"/>
              </a:spcBef>
              <a:spcAft>
                <a:spcPct val="0"/>
              </a:spcAft>
            </a:pPr>
            <a:r>
              <a:rPr kumimoji="0" lang="ja-JP" altLang="ja-JP" sz="2400" dirty="0">
                <a:latin typeface="Arial" panose="020B0604020202020204" pitchFamily="34" charset="0"/>
              </a:rPr>
              <a:t>→ 「</a:t>
            </a:r>
            <a:r>
              <a:rPr kumimoji="0" lang="ja-JP" altLang="ja-JP" sz="2400" b="1" dirty="0">
                <a:latin typeface="Arial" panose="020B0604020202020204" pitchFamily="34" charset="0"/>
              </a:rPr>
              <a:t>どのマス目を使うか</a:t>
            </a:r>
            <a:r>
              <a:rPr kumimoji="0" lang="ja-JP" altLang="ja-JP" sz="2400" dirty="0">
                <a:latin typeface="Arial" panose="020B0604020202020204" pitchFamily="34" charset="0"/>
              </a:rPr>
              <a:t>」を決める0か1のスイッチ</a:t>
            </a:r>
            <a:br>
              <a:rPr kumimoji="0" lang="ja-JP" altLang="ja-JP" sz="2400" dirty="0">
                <a:latin typeface="Arial" panose="020B0604020202020204" pitchFamily="34" charset="0"/>
              </a:rPr>
            </a:br>
            <a:r>
              <a:rPr kumimoji="0" lang="ja-JP" altLang="ja-JP" sz="2400" dirty="0">
                <a:latin typeface="Arial" panose="020B0604020202020204" pitchFamily="34" charset="0"/>
              </a:rPr>
              <a:t>→ 1なら「このピースを使う」、0なら「使わない」</a:t>
            </a:r>
          </a:p>
          <a:p>
            <a:pPr marL="0" lvl="0" indent="0" defTabSz="914400" eaLnBrk="0" fontAlgn="base" hangingPunct="0">
              <a:lnSpc>
                <a:spcPct val="100000"/>
              </a:lnSpc>
              <a:spcBef>
                <a:spcPct val="0"/>
              </a:spcBef>
              <a:spcAft>
                <a:spcPct val="0"/>
              </a:spcAft>
              <a:buFontTx/>
              <a:buChar char="•"/>
            </a:pPr>
            <a:r>
              <a:rPr kumimoji="0" lang="en-US" altLang="ja-JP" sz="2400" dirty="0">
                <a:latin typeface="Arial" panose="020B0604020202020204" pitchFamily="34" charset="0"/>
              </a:rPr>
              <a:t>S,T</a:t>
            </a:r>
            <a:br>
              <a:rPr kumimoji="0" lang="ja-JP" altLang="ja-JP" sz="2400" dirty="0">
                <a:latin typeface="Arial" panose="020B0604020202020204" pitchFamily="34" charset="0"/>
              </a:rPr>
            </a:br>
            <a:r>
              <a:rPr kumimoji="0" lang="ja-JP" altLang="ja-JP" sz="2400" dirty="0">
                <a:latin typeface="Arial" panose="020B0604020202020204" pitchFamily="34" charset="0"/>
              </a:rPr>
              <a:t>→ 各マス目に対応する「</a:t>
            </a:r>
            <a:r>
              <a:rPr kumimoji="0" lang="ja-JP" altLang="ja-JP" sz="2400" b="1" dirty="0">
                <a:latin typeface="Arial" panose="020B0604020202020204" pitchFamily="34" charset="0"/>
              </a:rPr>
              <a:t>まっすぐな線の傾きと高さ</a:t>
            </a:r>
            <a:r>
              <a:rPr kumimoji="0" lang="ja-JP" altLang="ja-JP" sz="2400" dirty="0">
                <a:latin typeface="Arial" panose="020B0604020202020204" pitchFamily="34" charset="0"/>
              </a:rPr>
              <a:t>」をメモした係数</a:t>
            </a:r>
            <a:br>
              <a:rPr kumimoji="0" lang="ja-JP" altLang="ja-JP" sz="2400" dirty="0">
                <a:latin typeface="Arial" panose="020B0604020202020204" pitchFamily="34" charset="0"/>
              </a:rPr>
            </a:br>
            <a:r>
              <a:rPr kumimoji="0" lang="ja-JP" altLang="ja-JP" sz="2400" dirty="0">
                <a:latin typeface="Arial" panose="020B0604020202020204" pitchFamily="34" charset="0"/>
              </a:rPr>
              <a:t>→ これを使って、もとの難しい関数を折れ線で近似している</a:t>
            </a:r>
          </a:p>
          <a:p>
            <a:endParaRPr kumimoji="1" lang="ja-JP" altLang="en-US" dirty="0"/>
          </a:p>
        </p:txBody>
      </p:sp>
      <p:sp>
        <p:nvSpPr>
          <p:cNvPr id="4" name="スライド番号プレースホルダー 3">
            <a:extLst>
              <a:ext uri="{FF2B5EF4-FFF2-40B4-BE49-F238E27FC236}">
                <a16:creationId xmlns:a16="http://schemas.microsoft.com/office/drawing/2014/main" id="{1BC9F303-8A70-7326-4ADE-A903D92ABF86}"/>
              </a:ext>
            </a:extLst>
          </p:cNvPr>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989957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目的関数</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𝑀𝑖𝑛</m:t>
                      </m:r>
                      <m:r>
                        <a:rPr lang="en-US" altLang="ja-JP" b="0" i="1" smtClean="0">
                          <a:latin typeface="Cambria Math" panose="02040503050406030204" pitchFamily="18" charset="0"/>
                        </a:rPr>
                        <m:t> </m:t>
                      </m:r>
                      <m:nary>
                        <m:naryPr>
                          <m:chr m:val="∑"/>
                          <m:supHide m:val="on"/>
                          <m:ctrlPr>
                            <a:rPr lang="en-US" altLang="ja-JP" b="0" i="1" smtClean="0">
                              <a:latin typeface="Cambria Math" panose="02040503050406030204" pitchFamily="18" charset="0"/>
                            </a:rPr>
                          </m:ctrlPr>
                        </m:naryPr>
                        <m:sub>
                          <m:r>
                            <m:rPr>
                              <m:brk m:alnAt="7"/>
                            </m:rPr>
                            <a:rPr lang="en-US" altLang="ja-JP" b="0" i="1" smtClean="0">
                              <a:latin typeface="Cambria Math" panose="02040503050406030204" pitchFamily="18" charset="0"/>
                            </a:rPr>
                            <m:t>𝑡</m:t>
                          </m:r>
                        </m:sub>
                        <m:sup/>
                        <m:e>
                          <m:d>
                            <m:dPr>
                              <m:begChr m:val="{"/>
                              <m:endChr m:val="}"/>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ja-JP" altLang="en-US" i="1">
                                      <a:latin typeface="Cambria Math" panose="02040503050406030204" pitchFamily="18" charset="0"/>
                                      <a:ea typeface="Cambria Math" panose="02040503050406030204" pitchFamily="18" charset="0"/>
                                    </a:rPr>
                                    <m:t>𝜆</m:t>
                                  </m:r>
                                </m:e>
                                <m:sub>
                                  <m:r>
                                    <a:rPr lang="en-US" altLang="ja-JP" i="1">
                                      <a:latin typeface="Cambria Math" panose="02040503050406030204" pitchFamily="18" charset="0"/>
                                      <a:ea typeface="Cambria Math" panose="02040503050406030204" pitchFamily="18" charset="0"/>
                                    </a:rPr>
                                    <m:t>𝑡</m:t>
                                  </m:r>
                                </m:sub>
                              </m:sSub>
                              <m:d>
                                <m:dPr>
                                  <m:ctrlPr>
                                    <a:rPr lang="en-US" altLang="ja-JP" i="1">
                                      <a:latin typeface="Cambria Math" panose="02040503050406030204" pitchFamily="18" charset="0"/>
                                      <a:ea typeface="Cambria Math" panose="02040503050406030204" pitchFamily="18" charset="0"/>
                                    </a:rPr>
                                  </m:ctrlPr>
                                </m:dPr>
                                <m:e>
                                  <m:sSubSup>
                                    <m:sSubSupPr>
                                      <m:ctrlPr>
                                        <a:rPr lang="en-US" altLang="ja-JP" i="1">
                                          <a:latin typeface="Cambria Math" panose="02040503050406030204" pitchFamily="18" charset="0"/>
                                          <a:ea typeface="Cambria Math" panose="02040503050406030204" pitchFamily="18" charset="0"/>
                                        </a:rPr>
                                      </m:ctrlPr>
                                    </m:sSubSupPr>
                                    <m:e>
                                      <m:r>
                                        <a:rPr lang="en-US" altLang="ja-JP" i="1">
                                          <a:latin typeface="Cambria Math" panose="02040503050406030204" pitchFamily="18" charset="0"/>
                                          <a:ea typeface="Cambria Math" panose="02040503050406030204" pitchFamily="18" charset="0"/>
                                        </a:rPr>
                                        <m:t>𝑃</m:t>
                                      </m:r>
                                    </m:e>
                                    <m:sub>
                                      <m:r>
                                        <a:rPr lang="en-US" altLang="ja-JP" i="1">
                                          <a:latin typeface="Cambria Math" panose="02040503050406030204" pitchFamily="18" charset="0"/>
                                          <a:ea typeface="Cambria Math" panose="02040503050406030204" pitchFamily="18" charset="0"/>
                                        </a:rPr>
                                        <m:t>𝑡</m:t>
                                      </m:r>
                                    </m:sub>
                                    <m:sup>
                                      <m:r>
                                        <a:rPr lang="en-US" altLang="ja-JP" i="1">
                                          <a:latin typeface="Cambria Math" panose="02040503050406030204" pitchFamily="18" charset="0"/>
                                          <a:ea typeface="Cambria Math" panose="02040503050406030204" pitchFamily="18" charset="0"/>
                                        </a:rPr>
                                        <m:t>𝑏𝑢𝑦</m:t>
                                      </m:r>
                                    </m:sup>
                                  </m:sSubSup>
                                  <m:r>
                                    <a:rPr lang="en-US" altLang="ja-JP" i="1">
                                      <a:latin typeface="Cambria Math" panose="02040503050406030204" pitchFamily="18" charset="0"/>
                                      <a:ea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i="1">
                                          <a:latin typeface="Cambria Math" panose="02040503050406030204" pitchFamily="18" charset="0"/>
                                          <a:ea typeface="Cambria Math" panose="02040503050406030204" pitchFamily="18" charset="0"/>
                                        </a:rPr>
                                        <m:t>𝑃</m:t>
                                      </m:r>
                                    </m:e>
                                    <m:sub>
                                      <m:r>
                                        <a:rPr lang="en-US" altLang="ja-JP" i="1">
                                          <a:latin typeface="Cambria Math" panose="02040503050406030204" pitchFamily="18" charset="0"/>
                                          <a:ea typeface="Cambria Math" panose="02040503050406030204" pitchFamily="18" charset="0"/>
                                        </a:rPr>
                                        <m:t>𝑡</m:t>
                                      </m:r>
                                    </m:sub>
                                    <m:sup>
                                      <m:r>
                                        <a:rPr lang="en-US" altLang="ja-JP" i="1">
                                          <a:latin typeface="Cambria Math" panose="02040503050406030204" pitchFamily="18" charset="0"/>
                                          <a:ea typeface="Cambria Math" panose="02040503050406030204" pitchFamily="18" charset="0"/>
                                        </a:rPr>
                                        <m:t>𝑠𝑒𝑙</m:t>
                                      </m:r>
                                    </m:sup>
                                  </m:sSubSup>
                                </m:e>
                              </m:d>
                            </m:e>
                          </m:d>
                          <m:r>
                            <a:rPr lang="en-US" altLang="ja-JP" i="1">
                              <a:latin typeface="Cambria Math" panose="02040503050406030204" pitchFamily="18" charset="0"/>
                              <a:ea typeface="Cambria Math" panose="02040503050406030204" pitchFamily="18" charset="0"/>
                            </a:rPr>
                            <m:t>−</m:t>
                          </m:r>
                        </m:e>
                      </m:nary>
                      <m:nary>
                        <m:naryPr>
                          <m:chr m:val="∑"/>
                          <m:ctrlPr>
                            <a:rPr lang="en-US" altLang="ja-JP" b="0" i="1" smtClean="0">
                              <a:latin typeface="Cambria Math" panose="02040503050406030204" pitchFamily="18" charset="0"/>
                            </a:rPr>
                          </m:ctrlPr>
                        </m:naryPr>
                        <m:sub>
                          <m:r>
                            <m:rPr>
                              <m:brk m:alnAt="23"/>
                            </m:rPr>
                            <a:rPr lang="en-US" altLang="ja-JP" b="0" i="1" smtClean="0">
                              <a:latin typeface="Cambria Math" panose="02040503050406030204" pitchFamily="18" charset="0"/>
                            </a:rPr>
                            <m:t>𝑏</m:t>
                          </m:r>
                        </m:sub>
                        <m:sup>
                          <m:r>
                            <a:rPr lang="en-US" altLang="ja-JP" b="0" i="1" smtClean="0">
                              <a:latin typeface="Cambria Math" panose="02040503050406030204" pitchFamily="18" charset="0"/>
                            </a:rPr>
                            <m:t>8</m:t>
                          </m:r>
                        </m:sup>
                        <m:e>
                          <m:r>
                            <a:rPr lang="en-US" altLang="ja-JP" b="0" i="1" smtClean="0">
                              <a:latin typeface="Cambria Math" panose="02040503050406030204" pitchFamily="18" charset="0"/>
                            </a:rPr>
                            <m:t>6</m:t>
                          </m:r>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𝑅</m:t>
                              </m:r>
                            </m:e>
                            <m:sub>
                              <m:r>
                                <a:rPr lang="en-US" altLang="ja-JP" b="0" i="1" smtClean="0">
                                  <a:latin typeface="Cambria Math" panose="02040503050406030204" pitchFamily="18" charset="0"/>
                                </a:rPr>
                                <m:t>𝑏</m:t>
                              </m:r>
                            </m:sub>
                            <m:sup>
                              <m:r>
                                <a:rPr lang="en-US" altLang="ja-JP" b="0" i="1" smtClean="0">
                                  <a:latin typeface="Cambria Math" panose="02040503050406030204" pitchFamily="18" charset="0"/>
                                </a:rPr>
                                <m:t>𝑟</m:t>
                              </m:r>
                              <m:r>
                                <a:rPr lang="en-US" altLang="ja-JP" b="0" i="1" smtClean="0">
                                  <a:latin typeface="Cambria Math" panose="02040503050406030204" pitchFamily="18" charset="0"/>
                                </a:rPr>
                                <m:t>1</m:t>
                              </m:r>
                            </m:sup>
                          </m:sSubSup>
                          <m:sSubSup>
                            <m:sSubSupPr>
                              <m:ctrlPr>
                                <a:rPr lang="en-US" altLang="ja-JP" b="0" i="1" smtClean="0">
                                  <a:latin typeface="Cambria Math" panose="02040503050406030204" pitchFamily="18" charset="0"/>
                                </a:rPr>
                              </m:ctrlPr>
                            </m:sSubSupPr>
                            <m:e>
                              <m:r>
                                <m:rPr>
                                  <m:sty m:val="p"/>
                                </m:rPr>
                                <a:rPr lang="en-US" altLang="ja-JP" i="1">
                                  <a:latin typeface="Cambria Math" panose="02040503050406030204" pitchFamily="18" charset="0"/>
                                </a:rPr>
                                <m:t>Δ</m:t>
                              </m:r>
                              <m:r>
                                <a:rPr lang="en-US" altLang="ja-JP" b="0" i="1" smtClean="0">
                                  <a:latin typeface="Cambria Math" panose="02040503050406030204" pitchFamily="18" charset="0"/>
                                </a:rPr>
                                <m:t>𝑘𝑊</m:t>
                              </m:r>
                            </m:e>
                            <m:sub>
                              <m:r>
                                <a:rPr lang="en-US" altLang="ja-JP" b="0" i="1" smtClean="0">
                                  <a:latin typeface="Cambria Math" panose="02040503050406030204" pitchFamily="18" charset="0"/>
                                </a:rPr>
                                <m:t>𝑏</m:t>
                              </m:r>
                            </m:sub>
                            <m:sup>
                              <m:r>
                                <a:rPr lang="en-US" altLang="ja-JP" b="0" i="1" smtClean="0">
                                  <a:latin typeface="Cambria Math" panose="02040503050406030204" pitchFamily="18" charset="0"/>
                                </a:rPr>
                                <m:t>𝑟</m:t>
                              </m:r>
                              <m:r>
                                <a:rPr lang="en-US" altLang="ja-JP" b="0" i="1" smtClean="0">
                                  <a:latin typeface="Cambria Math" panose="02040503050406030204" pitchFamily="18" charset="0"/>
                                </a:rPr>
                                <m:t>1</m:t>
                              </m:r>
                            </m:sup>
                          </m:sSubSup>
                        </m:e>
                      </m:nary>
                      <m:r>
                        <a:rPr lang="en-US" altLang="ja-JP" b="0" i="1" smtClean="0">
                          <a:latin typeface="Cambria Math" panose="02040503050406030204" pitchFamily="18" charset="0"/>
                        </a:rPr>
                        <m:t>−</m:t>
                      </m:r>
                      <m:nary>
                        <m:naryPr>
                          <m:chr m:val="∑"/>
                          <m:ctrlPr>
                            <a:rPr lang="en-US" altLang="ja-JP" i="1">
                              <a:latin typeface="Cambria Math" panose="02040503050406030204" pitchFamily="18" charset="0"/>
                            </a:rPr>
                          </m:ctrlPr>
                        </m:naryPr>
                        <m:sub>
                          <m:r>
                            <m:rPr>
                              <m:brk m:alnAt="23"/>
                            </m:rPr>
                            <a:rPr lang="en-US" altLang="ja-JP" i="1">
                              <a:latin typeface="Cambria Math" panose="02040503050406030204" pitchFamily="18" charset="0"/>
                            </a:rPr>
                            <m:t>𝑏</m:t>
                          </m:r>
                        </m:sub>
                        <m:sup>
                          <m:r>
                            <a:rPr lang="en-US" altLang="ja-JP" i="1">
                              <a:latin typeface="Cambria Math" panose="02040503050406030204" pitchFamily="18" charset="0"/>
                            </a:rPr>
                            <m:t>8</m:t>
                          </m:r>
                        </m:sup>
                        <m:e>
                          <m:r>
                            <a:rPr lang="en-US" altLang="ja-JP" i="1">
                              <a:latin typeface="Cambria Math" panose="02040503050406030204" pitchFamily="18" charset="0"/>
                            </a:rPr>
                            <m:t>6</m:t>
                          </m:r>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𝑅</m:t>
                              </m:r>
                            </m:e>
                            <m:sub>
                              <m:r>
                                <a:rPr lang="en-US" altLang="ja-JP" i="1">
                                  <a:latin typeface="Cambria Math" panose="02040503050406030204" pitchFamily="18" charset="0"/>
                                </a:rPr>
                                <m:t>𝑏</m:t>
                              </m:r>
                            </m:sub>
                            <m:sup>
                              <m:r>
                                <a:rPr lang="en-US" altLang="ja-JP" i="1">
                                  <a:latin typeface="Cambria Math" panose="02040503050406030204" pitchFamily="18" charset="0"/>
                                </a:rPr>
                                <m:t>𝑟</m:t>
                              </m:r>
                              <m:r>
                                <a:rPr lang="en-US" altLang="ja-JP" b="0" i="1" smtClean="0">
                                  <a:latin typeface="Cambria Math" panose="02040503050406030204" pitchFamily="18" charset="0"/>
                                </a:rPr>
                                <m:t>2</m:t>
                              </m:r>
                            </m:sup>
                          </m:sSubSup>
                          <m:sSubSup>
                            <m:sSubSupPr>
                              <m:ctrlPr>
                                <a:rPr lang="en-US" altLang="ja-JP" i="1">
                                  <a:latin typeface="Cambria Math" panose="02040503050406030204" pitchFamily="18" charset="0"/>
                                </a:rPr>
                              </m:ctrlPr>
                            </m:sSubSupPr>
                            <m:e>
                              <m:r>
                                <m:rPr>
                                  <m:sty m:val="p"/>
                                </m:rPr>
                                <a:rPr lang="en-US" altLang="ja-JP" i="1">
                                  <a:latin typeface="Cambria Math" panose="02040503050406030204" pitchFamily="18" charset="0"/>
                                </a:rPr>
                                <m:t>Δ</m:t>
                              </m:r>
                              <m:r>
                                <a:rPr lang="en-US" altLang="ja-JP" i="1">
                                  <a:latin typeface="Cambria Math" panose="02040503050406030204" pitchFamily="18" charset="0"/>
                                </a:rPr>
                                <m:t>𝑘𝑊</m:t>
                              </m:r>
                            </m:e>
                            <m:sub>
                              <m:r>
                                <a:rPr lang="en-US" altLang="ja-JP" i="1">
                                  <a:latin typeface="Cambria Math" panose="02040503050406030204" pitchFamily="18" charset="0"/>
                                </a:rPr>
                                <m:t>𝑏</m:t>
                              </m:r>
                            </m:sub>
                            <m:sup>
                              <m:r>
                                <a:rPr lang="en-US" altLang="ja-JP" i="1">
                                  <a:latin typeface="Cambria Math" panose="02040503050406030204" pitchFamily="18" charset="0"/>
                                </a:rPr>
                                <m:t>𝑟</m:t>
                              </m:r>
                              <m:r>
                                <a:rPr lang="en-US" altLang="ja-JP" b="0" i="1" smtClean="0">
                                  <a:latin typeface="Cambria Math" panose="02040503050406030204" pitchFamily="18" charset="0"/>
                                </a:rPr>
                                <m:t>2</m:t>
                              </m:r>
                            </m:sup>
                          </m:sSubSup>
                        </m:e>
                      </m:nary>
                      <m:r>
                        <a:rPr lang="en-US" altLang="ja-JP" b="0" i="1" smtClean="0">
                          <a:latin typeface="Cambria Math" panose="02040503050406030204" pitchFamily="18" charset="0"/>
                        </a:rPr>
                        <m:t>+</m:t>
                      </m:r>
                      <m:f>
                        <m:fPr>
                          <m:ctrlPr>
                            <a:rPr lang="en-US" altLang="ja-JP"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nary>
                        <m:naryPr>
                          <m:chr m:val="∑"/>
                          <m:ctrlPr>
                            <a:rPr lang="en-US" altLang="ja-JP" i="1" smtClean="0">
                              <a:latin typeface="Cambria Math" panose="02040503050406030204" pitchFamily="18" charset="0"/>
                            </a:rPr>
                          </m:ctrlPr>
                        </m:naryPr>
                        <m:sub>
                          <m:r>
                            <m:rPr>
                              <m:brk m:alnAt="23"/>
                            </m:rPr>
                            <a:rPr lang="en-US" altLang="ja-JP" b="0" i="1" smtClean="0">
                              <a:latin typeface="Cambria Math" panose="02040503050406030204" pitchFamily="18" charset="0"/>
                            </a:rPr>
                            <m:t>𝑖</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10</m:t>
                          </m:r>
                        </m:sup>
                        <m:e>
                          <m:nary>
                            <m:naryPr>
                              <m:chr m:val="∑"/>
                              <m:ctrlPr>
                                <a:rPr lang="en-US" altLang="ja-JP" i="1" smtClean="0">
                                  <a:latin typeface="Cambria Math" panose="02040503050406030204" pitchFamily="18" charset="0"/>
                                </a:rPr>
                              </m:ctrlPr>
                            </m:naryPr>
                            <m:sub>
                              <m:r>
                                <m:rPr>
                                  <m:brk m:alnAt="23"/>
                                </m:rPr>
                                <a:rPr lang="en-US" altLang="ja-JP" b="0" i="1" smtClean="0">
                                  <a:latin typeface="Cambria Math" panose="02040503050406030204" pitchFamily="18" charset="0"/>
                                </a:rPr>
                                <m:t>𝑗</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10</m:t>
                              </m:r>
                            </m:sup>
                            <m:e>
                              <m:nary>
                                <m:naryPr>
                                  <m:chr m:val="∑"/>
                                  <m:ctrlPr>
                                    <a:rPr lang="en-US" altLang="ja-JP" i="1" smtClean="0">
                                      <a:latin typeface="Cambria Math" panose="02040503050406030204" pitchFamily="18" charset="0"/>
                                    </a:rPr>
                                  </m:ctrlPr>
                                </m:naryPr>
                                <m:sub>
                                  <m:r>
                                    <m:rPr>
                                      <m:brk m:alnAt="23"/>
                                    </m:rPr>
                                    <a:rPr lang="en-US" altLang="ja-JP" b="0" i="1" smtClean="0">
                                      <a:latin typeface="Cambria Math" panose="02040503050406030204" pitchFamily="18" charset="0"/>
                                    </a:rPr>
                                    <m:t>𝑡</m:t>
                                  </m:r>
                                </m:sub>
                                <m:sup/>
                                <m:e>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𝑆</m:t>
                                          </m:r>
                                        </m:e>
                                        <m:sub>
                                          <m:r>
                                            <a:rPr lang="en-US" altLang="ja-JP" b="0" i="1" smtClean="0">
                                              <a:latin typeface="Cambria Math" panose="02040503050406030204" pitchFamily="18" charset="0"/>
                                            </a:rPr>
                                            <m:t>𝑖𝑗</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r>
                                            <a:rPr lang="en-US" altLang="ja-JP" b="0" i="1" smtClean="0">
                                              <a:latin typeface="Cambria Math" panose="02040503050406030204" pitchFamily="18" charset="0"/>
                                            </a:rPr>
                                            <m:t>2</m:t>
                                          </m:r>
                                        </m:e>
                                        <m:sub>
                                          <m:r>
                                            <a:rPr lang="en-US" altLang="ja-JP" b="0" i="1" smtClean="0">
                                              <a:latin typeface="Cambria Math" panose="02040503050406030204" pitchFamily="18" charset="0"/>
                                            </a:rPr>
                                            <m:t>𝑖𝑗𝑡</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𝑇</m:t>
                                          </m:r>
                                        </m:e>
                                        <m:sub>
                                          <m:r>
                                            <a:rPr lang="en-US" altLang="ja-JP" i="1">
                                              <a:latin typeface="Cambria Math" panose="02040503050406030204" pitchFamily="18" charset="0"/>
                                            </a:rPr>
                                            <m:t>𝑖𝑗</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𝑦</m:t>
                                          </m:r>
                                          <m:r>
                                            <a:rPr lang="en-US" altLang="ja-JP" i="1">
                                              <a:latin typeface="Cambria Math" panose="02040503050406030204" pitchFamily="18" charset="0"/>
                                            </a:rPr>
                                            <m:t>2</m:t>
                                          </m:r>
                                        </m:e>
                                        <m:sub>
                                          <m:r>
                                            <a:rPr lang="en-US" altLang="ja-JP" i="1">
                                              <a:latin typeface="Cambria Math" panose="02040503050406030204" pitchFamily="18" charset="0"/>
                                            </a:rPr>
                                            <m:t>𝑖𝑗𝑡</m:t>
                                          </m:r>
                                        </m:sub>
                                      </m:sSub>
                                    </m:e>
                                  </m:d>
                                </m:e>
                              </m:nary>
                            </m:e>
                          </m:nary>
                        </m:e>
                      </m:nary>
                    </m:oMath>
                  </m:oMathPara>
                </a14:m>
                <a:endParaRPr lang="en-US" altLang="ja-JP" i="1" dirty="0">
                  <a:latin typeface="Cambria Math" panose="02040503050406030204" pitchFamily="18" charset="0"/>
                </a:endParaRPr>
              </a:p>
              <a:p>
                <a:pPr marL="0" indent="0">
                  <a:buNone/>
                </a:pPr>
                <a:endParaRPr lang="en-US" altLang="ja-JP" i="1" dirty="0">
                  <a:latin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F0A8A6DD-328A-B7F8-C1BB-13AC0B980B01}"/>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5" name="テキスト ボックス 4">
            <a:extLst>
              <a:ext uri="{FF2B5EF4-FFF2-40B4-BE49-F238E27FC236}">
                <a16:creationId xmlns:a16="http://schemas.microsoft.com/office/drawing/2014/main" id="{321B9B93-D8D9-DE76-DA61-E5CD30C5BCDF}"/>
              </a:ext>
            </a:extLst>
          </p:cNvPr>
          <p:cNvSpPr txBox="1"/>
          <p:nvPr/>
        </p:nvSpPr>
        <p:spPr>
          <a:xfrm>
            <a:off x="1456660" y="3582155"/>
            <a:ext cx="6671931" cy="3139321"/>
          </a:xfrm>
          <a:prstGeom prst="rect">
            <a:avLst/>
          </a:prstGeom>
          <a:noFill/>
        </p:spPr>
        <p:txBody>
          <a:bodyPr wrap="square" rtlCol="0">
            <a:spAutoFit/>
          </a:bodyPr>
          <a:lstStyle/>
          <a:p>
            <a:r>
              <a:rPr lang="en-US" altLang="ja-JP" dirty="0" err="1">
                <a:latin typeface="Cambria Math" panose="02040503050406030204" pitchFamily="18" charset="0"/>
                <a:ea typeface="Cambria Math" panose="02040503050406030204" pitchFamily="18" charset="0"/>
              </a:rPr>
              <a:t>λ</a:t>
            </a:r>
            <a:r>
              <a:rPr kumimoji="1" lang="en-US" altLang="ja-JP" dirty="0" err="1">
                <a:latin typeface="Cambria Math" panose="02040503050406030204" pitchFamily="18" charset="0"/>
                <a:ea typeface="Cambria Math" panose="02040503050406030204" pitchFamily="18" charset="0"/>
              </a:rPr>
              <a:t>t</a:t>
            </a:r>
            <a:r>
              <a:rPr kumimoji="1" lang="en-US" altLang="ja-JP" dirty="0"/>
              <a:t>:</a:t>
            </a:r>
            <a:r>
              <a:rPr kumimoji="1" lang="ja-JP" altLang="en-US" dirty="0"/>
              <a:t>時刻ｔでのスポット市場の電力価格</a:t>
            </a:r>
            <a:r>
              <a:rPr kumimoji="1" lang="en-US" altLang="ja-JP" dirty="0"/>
              <a:t>[</a:t>
            </a:r>
            <a:r>
              <a:rPr kumimoji="1" lang="ja-JP" altLang="en-US" dirty="0"/>
              <a:t>円</a:t>
            </a:r>
            <a:r>
              <a:rPr kumimoji="1" lang="en-US" altLang="ja-JP" dirty="0"/>
              <a:t>/kWh]</a:t>
            </a:r>
          </a:p>
          <a:p>
            <a:r>
              <a:rPr kumimoji="1" lang="en-US" altLang="ja-JP" dirty="0" err="1">
                <a:latin typeface="Cambria Math" panose="02040503050406030204" pitchFamily="18" charset="0"/>
                <a:ea typeface="Cambria Math" panose="02040503050406030204" pitchFamily="18" charset="0"/>
              </a:rPr>
              <a:t>Ptbuy</a:t>
            </a:r>
            <a:r>
              <a:rPr kumimoji="1" lang="en-US" altLang="ja-JP" dirty="0"/>
              <a:t>:</a:t>
            </a:r>
            <a:r>
              <a:rPr kumimoji="1" lang="ja-JP" altLang="en-US" dirty="0"/>
              <a:t>スポット市場からの買い電力量</a:t>
            </a:r>
            <a:r>
              <a:rPr kumimoji="1" lang="en-US" altLang="ja-JP" dirty="0"/>
              <a:t>[kWh]</a:t>
            </a:r>
          </a:p>
          <a:p>
            <a:r>
              <a:rPr kumimoji="1" lang="en-US" altLang="ja-JP" dirty="0" err="1">
                <a:latin typeface="Cambria Math" panose="02040503050406030204" pitchFamily="18" charset="0"/>
                <a:ea typeface="Cambria Math" panose="02040503050406030204" pitchFamily="18" charset="0"/>
              </a:rPr>
              <a:t>Ptsel</a:t>
            </a:r>
            <a:r>
              <a:rPr kumimoji="1" lang="en-US" altLang="ja-JP" dirty="0"/>
              <a:t>:</a:t>
            </a:r>
            <a:r>
              <a:rPr kumimoji="1" lang="ja-JP" altLang="en-US" dirty="0"/>
              <a:t>スポット市場への売り電力量</a:t>
            </a:r>
            <a:r>
              <a:rPr kumimoji="1" lang="en-US" altLang="ja-JP" dirty="0"/>
              <a:t>[kWh]</a:t>
            </a:r>
          </a:p>
          <a:p>
            <a:r>
              <a:rPr kumimoji="1" lang="en-US" altLang="ja-JP" dirty="0">
                <a:latin typeface="Cambria Math" panose="02040503050406030204" pitchFamily="18" charset="0"/>
                <a:ea typeface="Cambria Math" panose="02040503050406030204" pitchFamily="18" charset="0"/>
              </a:rPr>
              <a:t>Rr1b</a:t>
            </a:r>
            <a:r>
              <a:rPr kumimoji="1" lang="en-US" altLang="ja-JP" dirty="0"/>
              <a:t>:</a:t>
            </a:r>
            <a:r>
              <a:rPr kumimoji="1" lang="ja-JP" altLang="en-US" dirty="0"/>
              <a:t>ブロック</a:t>
            </a:r>
            <a:r>
              <a:rPr kumimoji="1" lang="en-US" altLang="ja-JP" dirty="0"/>
              <a:t>b</a:t>
            </a:r>
            <a:r>
              <a:rPr kumimoji="1" lang="ja-JP" altLang="en-US" dirty="0"/>
              <a:t>での１次調整市場の電力売り価格</a:t>
            </a:r>
            <a:r>
              <a:rPr kumimoji="1" lang="en-US" altLang="ja-JP" dirty="0"/>
              <a:t>[</a:t>
            </a:r>
            <a:r>
              <a:rPr kumimoji="1" lang="ja-JP" altLang="en-US" dirty="0"/>
              <a:t>円</a:t>
            </a:r>
            <a:r>
              <a:rPr kumimoji="1" lang="en-US" altLang="ja-JP" dirty="0"/>
              <a:t>/kW*30</a:t>
            </a:r>
            <a:r>
              <a:rPr kumimoji="1" lang="ja-JP" altLang="en-US" dirty="0"/>
              <a:t>分</a:t>
            </a:r>
            <a:r>
              <a:rPr kumimoji="1" lang="en-US" altLang="ja-JP" dirty="0"/>
              <a:t>]</a:t>
            </a:r>
          </a:p>
          <a:p>
            <a:r>
              <a:rPr kumimoji="1" lang="en-US" altLang="ja-JP" dirty="0">
                <a:latin typeface="Cambria Math" panose="02040503050406030204" pitchFamily="18" charset="0"/>
                <a:ea typeface="Cambria Math" panose="02040503050406030204" pitchFamily="18" charset="0"/>
              </a:rPr>
              <a:t>Rr2b</a:t>
            </a:r>
            <a:r>
              <a:rPr kumimoji="1" lang="en-US" altLang="ja-JP" dirty="0"/>
              <a:t>:</a:t>
            </a:r>
            <a:r>
              <a:rPr lang="ja-JP" altLang="en-US" dirty="0"/>
              <a:t>ブロック</a:t>
            </a:r>
            <a:r>
              <a:rPr lang="en-US" altLang="ja-JP" dirty="0"/>
              <a:t>b</a:t>
            </a:r>
            <a:r>
              <a:rPr lang="ja-JP" altLang="en-US" dirty="0"/>
              <a:t>で</a:t>
            </a:r>
            <a:r>
              <a:rPr kumimoji="1" lang="ja-JP" altLang="en-US" dirty="0"/>
              <a:t>の</a:t>
            </a:r>
            <a:r>
              <a:rPr lang="ja-JP" altLang="en-US" dirty="0"/>
              <a:t>２</a:t>
            </a:r>
            <a:r>
              <a:rPr kumimoji="1" lang="ja-JP" altLang="en-US" dirty="0"/>
              <a:t>次調整市場の電力売り価格</a:t>
            </a:r>
            <a:r>
              <a:rPr kumimoji="1" lang="en-US" altLang="ja-JP" dirty="0"/>
              <a:t>[</a:t>
            </a:r>
            <a:r>
              <a:rPr kumimoji="1" lang="ja-JP" altLang="en-US" dirty="0"/>
              <a:t>円</a:t>
            </a:r>
            <a:r>
              <a:rPr kumimoji="1" lang="en-US" altLang="ja-JP" dirty="0"/>
              <a:t>/kW*30</a:t>
            </a:r>
            <a:r>
              <a:rPr kumimoji="1" lang="ja-JP" altLang="en-US" dirty="0"/>
              <a:t>分</a:t>
            </a:r>
            <a:r>
              <a:rPr kumimoji="1" lang="en-US" altLang="ja-JP" dirty="0"/>
              <a:t>]</a:t>
            </a:r>
          </a:p>
          <a:p>
            <a:r>
              <a:rPr kumimoji="1" lang="en-US" altLang="ja-JP" dirty="0">
                <a:latin typeface="Cambria Math" panose="02040503050406030204" pitchFamily="18" charset="0"/>
                <a:ea typeface="Cambria Math" panose="02040503050406030204" pitchFamily="18" charset="0"/>
              </a:rPr>
              <a:t>ΔkWr</a:t>
            </a:r>
            <a:r>
              <a:rPr lang="en-US" altLang="ja-JP" dirty="0">
                <a:latin typeface="Cambria Math" panose="02040503050406030204" pitchFamily="18" charset="0"/>
                <a:ea typeface="Cambria Math" panose="02040503050406030204" pitchFamily="18" charset="0"/>
              </a:rPr>
              <a:t>1b</a:t>
            </a:r>
            <a:r>
              <a:rPr lang="en-US" altLang="ja-JP" dirty="0"/>
              <a:t>:</a:t>
            </a:r>
            <a:r>
              <a:rPr lang="ja-JP" altLang="en-US" dirty="0"/>
              <a:t>ブロック</a:t>
            </a:r>
            <a:r>
              <a:rPr lang="en-US" altLang="ja-JP" dirty="0"/>
              <a:t>b</a:t>
            </a:r>
            <a:r>
              <a:rPr lang="ja-JP" altLang="en-US" dirty="0"/>
              <a:t>での１次調整市場の売り電力</a:t>
            </a:r>
            <a:r>
              <a:rPr lang="en-US" altLang="ja-JP" dirty="0"/>
              <a:t>[kW*30</a:t>
            </a:r>
            <a:r>
              <a:rPr lang="ja-JP" altLang="en-US" dirty="0"/>
              <a:t>分</a:t>
            </a:r>
            <a:r>
              <a:rPr lang="en-US" altLang="ja-JP" dirty="0"/>
              <a:t>]</a:t>
            </a:r>
          </a:p>
          <a:p>
            <a:r>
              <a:rPr lang="en-US" altLang="ja-JP" dirty="0">
                <a:latin typeface="Cambria Math" panose="02040503050406030204" pitchFamily="18" charset="0"/>
                <a:ea typeface="Cambria Math" panose="02040503050406030204" pitchFamily="18" charset="0"/>
              </a:rPr>
              <a:t>ΔkWr2b</a:t>
            </a:r>
            <a:r>
              <a:rPr lang="en-US" altLang="ja-JP" dirty="0"/>
              <a:t>:</a:t>
            </a:r>
            <a:r>
              <a:rPr lang="ja-JP" altLang="en-US" dirty="0"/>
              <a:t>ブロック</a:t>
            </a:r>
            <a:r>
              <a:rPr lang="en-US" altLang="ja-JP" dirty="0"/>
              <a:t>b</a:t>
            </a:r>
            <a:r>
              <a:rPr lang="ja-JP" altLang="en-US" dirty="0"/>
              <a:t>での２次調整市場の売り電力</a:t>
            </a:r>
            <a:r>
              <a:rPr lang="en-US" altLang="ja-JP" dirty="0"/>
              <a:t>[kW*30</a:t>
            </a:r>
            <a:r>
              <a:rPr lang="ja-JP" altLang="en-US" dirty="0"/>
              <a:t>分</a:t>
            </a:r>
            <a:r>
              <a:rPr lang="en-US" altLang="ja-JP" dirty="0"/>
              <a:t>]</a:t>
            </a:r>
          </a:p>
          <a:p>
            <a:r>
              <a:rPr lang="en-US" altLang="ja-JP" dirty="0">
                <a:latin typeface="Cambria Math" panose="02040503050406030204" pitchFamily="18" charset="0"/>
                <a:ea typeface="Cambria Math" panose="02040503050406030204" pitchFamily="18" charset="0"/>
              </a:rPr>
              <a:t>Sij</a:t>
            </a:r>
            <a:r>
              <a:rPr lang="en-US" altLang="ja-JP" dirty="0"/>
              <a:t>:x2</a:t>
            </a:r>
            <a:r>
              <a:rPr lang="ja-JP" altLang="en-US" dirty="0"/>
              <a:t>が変化するときの劣化の</a:t>
            </a:r>
            <a:r>
              <a:rPr lang="en-US" altLang="ja-JP" dirty="0"/>
              <a:t>σ</a:t>
            </a:r>
            <a:r>
              <a:rPr lang="ja-JP" altLang="en-US" dirty="0"/>
              <a:t>の係数</a:t>
            </a:r>
            <a:endParaRPr lang="en-US" altLang="ja-JP" dirty="0"/>
          </a:p>
          <a:p>
            <a:r>
              <a:rPr lang="en-US" altLang="ja-JP" dirty="0">
                <a:latin typeface="Cambria Math" panose="02040503050406030204" pitchFamily="18" charset="0"/>
                <a:ea typeface="Cambria Math" panose="02040503050406030204" pitchFamily="18" charset="0"/>
              </a:rPr>
              <a:t>Tij</a:t>
            </a:r>
            <a:r>
              <a:rPr lang="en-US" altLang="ja-JP" dirty="0"/>
              <a:t>:y2</a:t>
            </a:r>
            <a:r>
              <a:rPr lang="ja-JP" altLang="en-US" dirty="0"/>
              <a:t>が変化するときの劣化の</a:t>
            </a:r>
            <a:r>
              <a:rPr lang="en-US" altLang="ja-JP" dirty="0"/>
              <a:t>δ</a:t>
            </a:r>
            <a:r>
              <a:rPr lang="ja-JP" altLang="en-US" dirty="0"/>
              <a:t>の係数</a:t>
            </a:r>
            <a:endParaRPr lang="en-US" altLang="ja-JP" dirty="0"/>
          </a:p>
          <a:p>
            <a:r>
              <a:rPr lang="en-US" altLang="ja-JP" dirty="0">
                <a:latin typeface="Cambria Math" panose="02040503050406030204" pitchFamily="18" charset="0"/>
                <a:ea typeface="Cambria Math" panose="02040503050406030204" pitchFamily="18" charset="0"/>
              </a:rPr>
              <a:t>x2ijt</a:t>
            </a:r>
            <a:r>
              <a:rPr lang="en-US" altLang="ja-JP" dirty="0"/>
              <a:t>:</a:t>
            </a:r>
            <a:r>
              <a:rPr lang="ja-JP" altLang="en-US" dirty="0"/>
              <a:t>時刻</a:t>
            </a:r>
            <a:r>
              <a:rPr lang="en-US" altLang="ja-JP" dirty="0"/>
              <a:t>t</a:t>
            </a:r>
            <a:r>
              <a:rPr lang="ja-JP" altLang="en-US" dirty="0"/>
              <a:t>でのピースワイズ構造の</a:t>
            </a:r>
            <a:r>
              <a:rPr lang="en-US" altLang="ja-JP" dirty="0"/>
              <a:t>σ</a:t>
            </a:r>
            <a:r>
              <a:rPr lang="ja-JP" altLang="en-US" dirty="0"/>
              <a:t>の変化</a:t>
            </a:r>
            <a:endParaRPr lang="en-US" altLang="ja-JP" dirty="0"/>
          </a:p>
          <a:p>
            <a:r>
              <a:rPr lang="en-US" altLang="ja-JP" dirty="0">
                <a:latin typeface="Cambria Math" panose="02040503050406030204" pitchFamily="18" charset="0"/>
                <a:ea typeface="Cambria Math" panose="02040503050406030204" pitchFamily="18" charset="0"/>
              </a:rPr>
              <a:t>y</a:t>
            </a:r>
            <a:r>
              <a:rPr kumimoji="1" lang="en-US" altLang="ja-JP" dirty="0">
                <a:latin typeface="Cambria Math" panose="02040503050406030204" pitchFamily="18" charset="0"/>
                <a:ea typeface="Cambria Math" panose="02040503050406030204" pitchFamily="18" charset="0"/>
              </a:rPr>
              <a:t>2ijt</a:t>
            </a:r>
            <a:r>
              <a:rPr kumimoji="1" lang="en-US" altLang="ja-JP" dirty="0"/>
              <a:t>:</a:t>
            </a:r>
            <a:r>
              <a:rPr lang="ja-JP" altLang="en-US" dirty="0"/>
              <a:t>時刻</a:t>
            </a:r>
            <a:r>
              <a:rPr lang="en-US" altLang="ja-JP" dirty="0"/>
              <a:t>t</a:t>
            </a:r>
            <a:r>
              <a:rPr lang="ja-JP" altLang="en-US" dirty="0"/>
              <a:t>でのピースワイズ構造の</a:t>
            </a:r>
            <a:r>
              <a:rPr lang="en-US" altLang="ja-JP" dirty="0"/>
              <a:t>δ</a:t>
            </a:r>
            <a:r>
              <a:rPr lang="ja-JP" altLang="en-US" dirty="0"/>
              <a:t>の変化</a:t>
            </a:r>
            <a:endParaRPr lang="en-US" altLang="ja-JP"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7E7F74-F63D-0804-EEF8-4BCFBC6A1D5E}"/>
              </a:ext>
            </a:extLst>
          </p:cNvPr>
          <p:cNvSpPr>
            <a:spLocks noGrp="1"/>
          </p:cNvSpPr>
          <p:nvPr>
            <p:ph type="title"/>
          </p:nvPr>
        </p:nvSpPr>
        <p:spPr/>
        <p:txBody>
          <a:bodyPr/>
          <a:lstStyle/>
          <a:p>
            <a:r>
              <a:rPr kumimoji="1" lang="ja-JP" altLang="en-US" dirty="0"/>
              <a:t>目的関数</a:t>
            </a:r>
          </a:p>
        </p:txBody>
      </p:sp>
      <p:sp>
        <p:nvSpPr>
          <p:cNvPr id="4" name="スライド番号プレースホルダー 3">
            <a:extLst>
              <a:ext uri="{FF2B5EF4-FFF2-40B4-BE49-F238E27FC236}">
                <a16:creationId xmlns:a16="http://schemas.microsoft.com/office/drawing/2014/main" id="{BAB64349-D116-3D4F-9BD5-0DDF9C3A2482}"/>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6" name="Rectangle 2">
            <a:extLst>
              <a:ext uri="{FF2B5EF4-FFF2-40B4-BE49-F238E27FC236}">
                <a16:creationId xmlns:a16="http://schemas.microsoft.com/office/drawing/2014/main" id="{8DF27BCF-8B6E-1A02-A77B-06EFC44479B2}"/>
              </a:ext>
            </a:extLst>
          </p:cNvPr>
          <p:cNvSpPr>
            <a:spLocks noGrp="1" noChangeArrowheads="1"/>
          </p:cNvSpPr>
          <p:nvPr>
            <p:ph idx="1"/>
          </p:nvPr>
        </p:nvSpPr>
        <p:spPr bwMode="auto">
          <a:xfrm>
            <a:off x="628649" y="2140948"/>
            <a:ext cx="566613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ja-JP" altLang="ja-JP" sz="1800" b="0" i="0" u="none" strike="noStrike" cap="none" normalizeH="0" baseline="0" dirty="0">
                <a:ln>
                  <a:noFill/>
                </a:ln>
                <a:solidFill>
                  <a:schemeClr val="tx1"/>
                </a:solidFill>
                <a:effectLst/>
                <a:latin typeface="Arial" panose="020B0604020202020204" pitchFamily="34" charset="0"/>
              </a:rPr>
              <a:t>スポットの売買損益（価格×売買量），一次・二次の提供収益（ブロック価格×提供量）を入れる。</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800" b="0" i="0" u="none" strike="noStrike" cap="none" normalizeH="0" baseline="0" dirty="0">
                <a:ln>
                  <a:noFill/>
                </a:ln>
                <a:solidFill>
                  <a:schemeClr val="tx1"/>
                </a:solidFill>
                <a:effectLst/>
                <a:latin typeface="Arial" panose="020B0604020202020204" pitchFamily="34" charset="0"/>
              </a:rPr>
              <a:t>そこに</a:t>
            </a:r>
            <a:r>
              <a:rPr kumimoji="0" lang="ja-JP" altLang="ja-JP" sz="1800" i="0" u="none" strike="noStrike" cap="none" normalizeH="0" baseline="0" dirty="0">
                <a:ln>
                  <a:noFill/>
                </a:ln>
                <a:solidFill>
                  <a:schemeClr val="tx1"/>
                </a:solidFill>
                <a:effectLst/>
                <a:latin typeface="Arial" panose="020B0604020202020204" pitchFamily="34" charset="0"/>
              </a:rPr>
              <a:t>劣化コスト項</a:t>
            </a:r>
            <a:r>
              <a:rPr kumimoji="0" lang="ja-JP" altLang="ja-JP" sz="1800" b="0" i="0" u="none" strike="noStrike" cap="none" normalizeH="0" baseline="0" dirty="0">
                <a:ln>
                  <a:noFill/>
                </a:ln>
                <a:solidFill>
                  <a:schemeClr val="tx1"/>
                </a:solidFill>
                <a:effectLst/>
                <a:latin typeface="Arial" panose="020B0604020202020204" pitchFamily="34" charset="0"/>
              </a:rPr>
              <a:t>を追加し，DoD・SOCに依存する劣化を二次元ピースワイズで評価する。</a:t>
            </a:r>
            <a:endParaRPr kumimoji="0" lang="en-US" altLang="ja-JP"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800" b="0" i="0" u="none" strike="noStrike" cap="none" normalizeH="0" baseline="0" dirty="0">
                <a:ln>
                  <a:noFill/>
                </a:ln>
                <a:solidFill>
                  <a:schemeClr val="tx1"/>
                </a:solidFill>
                <a:effectLst/>
                <a:latin typeface="Arial" panose="020B0604020202020204" pitchFamily="34" charset="0"/>
              </a:rPr>
              <a:t>劣化量→円換算係数も設定している（導入費用等から日次単価を作る）。</a:t>
            </a:r>
          </a:p>
        </p:txBody>
      </p:sp>
    </p:spTree>
    <p:extLst>
      <p:ext uri="{BB962C8B-B14F-4D97-AF65-F5344CB8AC3E}">
        <p14:creationId xmlns:p14="http://schemas.microsoft.com/office/powerpoint/2010/main" val="1813178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DC04D-F773-50C0-F6C9-DABA6AE14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4A446-1452-B4CB-65D8-EE39A596DA6B}"/>
              </a:ext>
            </a:extLst>
          </p:cNvPr>
          <p:cNvSpPr>
            <a:spLocks noGrp="1"/>
          </p:cNvSpPr>
          <p:nvPr>
            <p:ph type="title"/>
          </p:nvPr>
        </p:nvSpPr>
        <p:spPr/>
        <p:txBody>
          <a:bodyPr>
            <a:normAutofit/>
          </a:bodyPr>
          <a:lstStyle/>
          <a:p>
            <a:r>
              <a:rPr lang="ja-JP" altLang="en-US" dirty="0"/>
              <a:t>制約</a:t>
            </a:r>
            <a:br>
              <a:rPr lang="en-US" altLang="ja-JP" dirty="0"/>
            </a:br>
            <a:endParaRPr dirty="0"/>
          </a:p>
        </p:txBody>
      </p:sp>
      <p:sp>
        <p:nvSpPr>
          <p:cNvPr id="3" name="スライド番号プレースホルダー 2">
            <a:extLst>
              <a:ext uri="{FF2B5EF4-FFF2-40B4-BE49-F238E27FC236}">
                <a16:creationId xmlns:a16="http://schemas.microsoft.com/office/drawing/2014/main" id="{192BC9F5-60F0-8A5C-600C-DAD863230763}"/>
              </a:ext>
            </a:extLst>
          </p:cNvPr>
          <p:cNvSpPr>
            <a:spLocks noGrp="1"/>
          </p:cNvSpPr>
          <p:nvPr>
            <p:ph type="sldNum" sz="quarter" idx="12"/>
          </p:nvPr>
        </p:nvSpPr>
        <p:spPr/>
        <p:txBody>
          <a:bodyPr/>
          <a:lstStyle/>
          <a:p>
            <a:fld id="{C1FF6DA9-008F-8B48-92A6-B652298478BF}" type="slidenum">
              <a:rPr lang="en-US" smtClean="0"/>
              <a:t>10</a:t>
            </a:fld>
            <a:endParaRPr lang="en-US"/>
          </a:p>
        </p:txBody>
      </p:sp>
      <p:pic>
        <p:nvPicPr>
          <p:cNvPr id="8" name="図 7">
            <a:extLst>
              <a:ext uri="{FF2B5EF4-FFF2-40B4-BE49-F238E27FC236}">
                <a16:creationId xmlns:a16="http://schemas.microsoft.com/office/drawing/2014/main" id="{E4F9AC14-4F38-DC2C-70FD-DDE6CF8097FC}"/>
              </a:ext>
            </a:extLst>
          </p:cNvPr>
          <p:cNvPicPr>
            <a:picLocks noChangeAspect="1"/>
          </p:cNvPicPr>
          <p:nvPr/>
        </p:nvPicPr>
        <p:blipFill>
          <a:blip r:embed="rId2"/>
          <a:stretch>
            <a:fillRect/>
          </a:stretch>
        </p:blipFill>
        <p:spPr>
          <a:xfrm>
            <a:off x="1400959" y="3061674"/>
            <a:ext cx="3128511" cy="1437424"/>
          </a:xfrm>
          <a:prstGeom prst="rect">
            <a:avLst/>
          </a:prstGeom>
        </p:spPr>
      </p:pic>
      <p:pic>
        <p:nvPicPr>
          <p:cNvPr id="7" name="図 6">
            <a:extLst>
              <a:ext uri="{FF2B5EF4-FFF2-40B4-BE49-F238E27FC236}">
                <a16:creationId xmlns:a16="http://schemas.microsoft.com/office/drawing/2014/main" id="{19904263-2974-E295-62C9-4EC575E11519}"/>
              </a:ext>
            </a:extLst>
          </p:cNvPr>
          <p:cNvPicPr>
            <a:picLocks noChangeAspect="1"/>
          </p:cNvPicPr>
          <p:nvPr/>
        </p:nvPicPr>
        <p:blipFill>
          <a:blip r:embed="rId3"/>
          <a:stretch>
            <a:fillRect/>
          </a:stretch>
        </p:blipFill>
        <p:spPr>
          <a:xfrm>
            <a:off x="1400959" y="1767402"/>
            <a:ext cx="3359888" cy="1708809"/>
          </a:xfrm>
          <a:prstGeom prst="rect">
            <a:avLst/>
          </a:prstGeom>
        </p:spPr>
      </p:pic>
      <p:sp>
        <p:nvSpPr>
          <p:cNvPr id="11" name="テキスト ボックス 10">
            <a:extLst>
              <a:ext uri="{FF2B5EF4-FFF2-40B4-BE49-F238E27FC236}">
                <a16:creationId xmlns:a16="http://schemas.microsoft.com/office/drawing/2014/main" id="{CF685208-28DE-AF1D-3293-4C519E255D78}"/>
              </a:ext>
            </a:extLst>
          </p:cNvPr>
          <p:cNvSpPr txBox="1"/>
          <p:nvPr/>
        </p:nvSpPr>
        <p:spPr>
          <a:xfrm>
            <a:off x="409353" y="4313199"/>
            <a:ext cx="7155712" cy="2769989"/>
          </a:xfrm>
          <a:prstGeom prst="rect">
            <a:avLst/>
          </a:prstGeom>
          <a:noFill/>
        </p:spPr>
        <p:txBody>
          <a:bodyPr wrap="square" rtlCol="0">
            <a:spAutoFit/>
          </a:bodyPr>
          <a:lstStyle/>
          <a:p>
            <a:r>
              <a:rPr lang="en-US" altLang="ja-JP" sz="1200" dirty="0" err="1">
                <a:latin typeface="Cambria Math" panose="02040503050406030204" pitchFamily="18" charset="0"/>
                <a:ea typeface="Cambria Math" panose="02040503050406030204" pitchFamily="18" charset="0"/>
              </a:rPr>
              <a:t>Qr</a:t>
            </a:r>
            <a:r>
              <a:rPr lang="en-US" altLang="ja-JP" sz="1200" dirty="0"/>
              <a:t>:</a:t>
            </a:r>
            <a:r>
              <a:rPr lang="ja-JP" altLang="en-US" sz="1200" dirty="0"/>
              <a:t>需給調整市場におけるバッテリー電力量</a:t>
            </a:r>
            <a:r>
              <a:rPr lang="en-US" altLang="ja-JP" sz="1200" dirty="0"/>
              <a:t>[kWh]</a:t>
            </a:r>
          </a:p>
          <a:p>
            <a:r>
              <a:rPr lang="en-US" altLang="ja-JP" sz="1200" dirty="0">
                <a:latin typeface="Cambria Math" panose="02040503050406030204" pitchFamily="18" charset="0"/>
                <a:ea typeface="Cambria Math" panose="02040503050406030204" pitchFamily="18" charset="0"/>
              </a:rPr>
              <a:t>Qr2</a:t>
            </a:r>
            <a:r>
              <a:rPr lang="en-US" altLang="ja-JP" sz="1200" dirty="0"/>
              <a:t>:</a:t>
            </a:r>
            <a:r>
              <a:rPr lang="ja-JP" altLang="en-US" sz="1200" dirty="0"/>
              <a:t>２次需給調整市場におけるバッテリー電力量</a:t>
            </a:r>
            <a:r>
              <a:rPr lang="en-US" altLang="ja-JP" sz="1200" dirty="0"/>
              <a:t>[kWh]</a:t>
            </a:r>
          </a:p>
          <a:p>
            <a:r>
              <a:rPr kumimoji="1" lang="en-US" altLang="ja-JP" sz="1200" dirty="0">
                <a:latin typeface="Cambria Math" panose="02040503050406030204" pitchFamily="18" charset="0"/>
                <a:ea typeface="Cambria Math" panose="02040503050406030204" pitchFamily="18" charset="0"/>
              </a:rPr>
              <a:t>Qs</a:t>
            </a:r>
            <a:r>
              <a:rPr kumimoji="1" lang="en-US" altLang="ja-JP" sz="1200" dirty="0"/>
              <a:t>:</a:t>
            </a:r>
            <a:r>
              <a:rPr kumimoji="1" lang="ja-JP" altLang="en-US" sz="1200" dirty="0"/>
              <a:t>スポット市場におけるバッテリー電力量</a:t>
            </a:r>
            <a:r>
              <a:rPr kumimoji="1" lang="en-US" altLang="ja-JP" sz="1200" dirty="0"/>
              <a:t>[kWh]</a:t>
            </a:r>
          </a:p>
          <a:p>
            <a:r>
              <a:rPr lang="en-US" altLang="ja-JP" sz="1200" dirty="0" err="1">
                <a:latin typeface="Cambria Math" panose="02040503050406030204" pitchFamily="18" charset="0"/>
                <a:ea typeface="Cambria Math" panose="02040503050406030204" pitchFamily="18" charset="0"/>
              </a:rPr>
              <a:t>ΔkWh</a:t>
            </a:r>
            <a:r>
              <a:rPr lang="en-US" altLang="ja-JP" sz="1200" dirty="0"/>
              <a:t>:</a:t>
            </a:r>
            <a:r>
              <a:rPr lang="ja-JP" altLang="en-US" sz="1200" dirty="0"/>
              <a:t>バッテリーの実際の充電量を </a:t>
            </a:r>
            <a:r>
              <a:rPr lang="en-US" altLang="ja-JP" sz="1200" dirty="0" err="1"/>
              <a:t>Wh</a:t>
            </a:r>
            <a:r>
              <a:rPr lang="en-US" altLang="ja-JP" sz="1200" dirty="0"/>
              <a:t> </a:t>
            </a:r>
            <a:r>
              <a:rPr lang="ja-JP" altLang="en-US" sz="1200" dirty="0"/>
              <a:t>換算した値</a:t>
            </a:r>
            <a:endParaRPr lang="en-US" altLang="ja-JP" sz="1200" dirty="0"/>
          </a:p>
          <a:p>
            <a:r>
              <a:rPr lang="en-US" altLang="ja-JP" sz="1200" dirty="0" err="1">
                <a:latin typeface="Cambria Math" panose="02040503050406030204" pitchFamily="18" charset="0"/>
                <a:ea typeface="Cambria Math" panose="02040503050406030204" pitchFamily="18" charset="0"/>
              </a:rPr>
              <a:t>ηpcs</a:t>
            </a:r>
            <a:r>
              <a:rPr lang="en-US" altLang="ja-JP" sz="1200" dirty="0"/>
              <a:t>:</a:t>
            </a:r>
            <a:r>
              <a:rPr lang="ja-JP" altLang="en-US" sz="1200" dirty="0"/>
              <a:t>パワーコンディショナ（</a:t>
            </a:r>
            <a:r>
              <a:rPr lang="en-US" altLang="ja-JP" sz="1200" dirty="0"/>
              <a:t>PCS</a:t>
            </a:r>
            <a:r>
              <a:rPr lang="ja-JP" altLang="en-US" sz="1200" dirty="0"/>
              <a:t>）の変換効率</a:t>
            </a:r>
            <a:endParaRPr lang="en-US" altLang="ja-JP" sz="1200" dirty="0"/>
          </a:p>
          <a:p>
            <a:r>
              <a:rPr lang="en-US" altLang="ja-JP" sz="1200" dirty="0" err="1">
                <a:latin typeface="Cambria Math" panose="02040503050406030204" pitchFamily="18" charset="0"/>
                <a:ea typeface="Cambria Math" panose="02040503050406030204" pitchFamily="18" charset="0"/>
              </a:rPr>
              <a:t>ηbat</a:t>
            </a:r>
            <a:r>
              <a:rPr lang="en-US" altLang="ja-JP" sz="1200" dirty="0"/>
              <a:t>:</a:t>
            </a:r>
            <a:r>
              <a:rPr lang="ja-JP" altLang="en-US" sz="1200" dirty="0"/>
              <a:t>充電時のロス</a:t>
            </a:r>
            <a:endParaRPr lang="en-US" altLang="ja-JP" sz="1200" dirty="0"/>
          </a:p>
          <a:p>
            <a:r>
              <a:rPr lang="en-US" altLang="ja-JP" sz="1200" dirty="0">
                <a:latin typeface="Cambria Math" panose="02040503050406030204" pitchFamily="18" charset="0"/>
                <a:ea typeface="Cambria Math" panose="02040503050406030204" pitchFamily="18" charset="0"/>
              </a:rPr>
              <a:t>α</a:t>
            </a:r>
            <a:r>
              <a:rPr lang="en-US" altLang="ja-JP" sz="1200" dirty="0"/>
              <a:t>:</a:t>
            </a:r>
            <a:r>
              <a:rPr lang="ja-JP" altLang="en-US" sz="1200" dirty="0"/>
              <a:t>放電側へ割り振られる比率　　　　　　　　　　　　　　　　　　</a:t>
            </a:r>
            <a:endParaRPr lang="en-US" altLang="ja-JP" sz="1200" dirty="0">
              <a:highlight>
                <a:srgbClr val="FFFF00"/>
              </a:highlight>
            </a:endParaRPr>
          </a:p>
          <a:p>
            <a:r>
              <a:rPr lang="en-US" altLang="ja-JP" sz="1200" dirty="0">
                <a:latin typeface="Cambria Math" panose="02040503050406030204" pitchFamily="18" charset="0"/>
                <a:ea typeface="Cambria Math" panose="02040503050406030204" pitchFamily="18" charset="0"/>
              </a:rPr>
              <a:t>k0~k2</a:t>
            </a:r>
            <a:r>
              <a:rPr lang="en-US" altLang="ja-JP" sz="1200" dirty="0"/>
              <a:t>:</a:t>
            </a:r>
            <a:r>
              <a:rPr lang="ja-JP" altLang="en-US" sz="1200" dirty="0"/>
              <a:t>バッテリーのそれぞれの電力量の割合</a:t>
            </a:r>
            <a:endParaRPr lang="en-US" altLang="ja-JP" sz="1200" dirty="0"/>
          </a:p>
          <a:p>
            <a:r>
              <a:rPr lang="en-US" altLang="ja-JP" sz="1200" dirty="0" err="1">
                <a:latin typeface="Cambria Math" panose="02040503050406030204" pitchFamily="18" charset="0"/>
                <a:ea typeface="Cambria Math" panose="02040503050406030204" pitchFamily="18" charset="0"/>
              </a:rPr>
              <a:t>B_const</a:t>
            </a:r>
            <a:r>
              <a:rPr lang="en-US" altLang="ja-JP" sz="1200" dirty="0"/>
              <a:t>:</a:t>
            </a:r>
            <a:r>
              <a:rPr lang="ja-JP" altLang="en-US" sz="1200" dirty="0"/>
              <a:t>バッテリー容量</a:t>
            </a:r>
            <a:endParaRPr lang="en-US" altLang="ja-JP" sz="1200" dirty="0"/>
          </a:p>
          <a:p>
            <a:r>
              <a:rPr lang="en-US" altLang="ja-JP" sz="1200" dirty="0">
                <a:latin typeface="Cambria Math" panose="02040503050406030204" pitchFamily="18" charset="0"/>
                <a:ea typeface="Cambria Math" panose="02040503050406030204" pitchFamily="18" charset="0"/>
              </a:rPr>
              <a:t>W2(</a:t>
            </a:r>
            <a:r>
              <a:rPr lang="en-US" altLang="ja-JP" sz="1200" dirty="0" err="1">
                <a:latin typeface="Cambria Math" panose="02040503050406030204" pitchFamily="18" charset="0"/>
                <a:ea typeface="Cambria Math" panose="02040503050406030204" pitchFamily="18" charset="0"/>
              </a:rPr>
              <a:t>I,j,t</a:t>
            </a:r>
            <a:r>
              <a:rPr lang="en-US" altLang="ja-JP" sz="1200" dirty="0">
                <a:latin typeface="Cambria Math" panose="02040503050406030204" pitchFamily="18" charset="0"/>
                <a:ea typeface="Cambria Math" panose="02040503050406030204" pitchFamily="18" charset="0"/>
              </a:rPr>
              <a:t>)</a:t>
            </a:r>
            <a:r>
              <a:rPr lang="en-US" altLang="ja-JP" sz="1200" dirty="0"/>
              <a:t>:Z2 </a:t>
            </a:r>
            <a:r>
              <a:rPr lang="ja-JP" altLang="en-US" sz="1200" dirty="0"/>
              <a:t>と </a:t>
            </a:r>
            <a:r>
              <a:rPr lang="en-US" altLang="ja-JP" sz="1200" dirty="0"/>
              <a:t>U </a:t>
            </a:r>
            <a:r>
              <a:rPr lang="ja-JP" altLang="en-US" sz="1200" dirty="0"/>
              <a:t>の </a:t>
            </a:r>
            <a:r>
              <a:rPr lang="en-US" altLang="ja-JP" sz="1200" dirty="0"/>
              <a:t>AND </a:t>
            </a:r>
            <a:r>
              <a:rPr lang="ja-JP" altLang="en-US" sz="1200" dirty="0"/>
              <a:t>を表すバイナリ（論理積）</a:t>
            </a:r>
            <a:endParaRPr lang="en-US" altLang="ja-JP" sz="1200" dirty="0"/>
          </a:p>
          <a:p>
            <a:r>
              <a:rPr lang="en-US" altLang="ja-JP" sz="1200" dirty="0">
                <a:latin typeface="Cambria Math" panose="02040503050406030204" pitchFamily="18" charset="0"/>
                <a:ea typeface="Cambria Math" panose="02040503050406030204" pitchFamily="18" charset="0"/>
              </a:rPr>
              <a:t>Z2(</a:t>
            </a:r>
            <a:r>
              <a:rPr lang="en-US" altLang="ja-JP" sz="1200" dirty="0" err="1">
                <a:latin typeface="Cambria Math" panose="02040503050406030204" pitchFamily="18" charset="0"/>
                <a:ea typeface="Cambria Math" panose="02040503050406030204" pitchFamily="18" charset="0"/>
              </a:rPr>
              <a:t>I,t</a:t>
            </a:r>
            <a:r>
              <a:rPr lang="en-US" altLang="ja-JP" sz="1200" dirty="0">
                <a:latin typeface="Cambria Math" panose="02040503050406030204" pitchFamily="18" charset="0"/>
                <a:ea typeface="Cambria Math" panose="02040503050406030204" pitchFamily="18" charset="0"/>
              </a:rPr>
              <a:t>)</a:t>
            </a:r>
            <a:r>
              <a:rPr lang="en-US" altLang="ja-JP" sz="1200" dirty="0"/>
              <a:t>:</a:t>
            </a:r>
            <a:r>
              <a:rPr lang="ja-JP" altLang="en-US" sz="1200" dirty="0"/>
              <a:t>時刻 </a:t>
            </a:r>
            <a:r>
              <a:rPr lang="en-US" altLang="ja-JP" sz="1200" dirty="0"/>
              <a:t>t </a:t>
            </a:r>
            <a:r>
              <a:rPr lang="ja-JP" altLang="en-US" sz="1200" dirty="0"/>
              <a:t>における</a:t>
            </a:r>
            <a:r>
              <a:rPr lang="en-US" altLang="ja-JP" sz="1200" dirty="0"/>
              <a:t>σ</a:t>
            </a:r>
            <a:r>
              <a:rPr lang="ja-JP" altLang="en-US" sz="1200" dirty="0"/>
              <a:t>のピースワイズ区間 </a:t>
            </a:r>
            <a:r>
              <a:rPr lang="en-US" altLang="ja-JP" sz="1200" dirty="0"/>
              <a:t>i </a:t>
            </a:r>
            <a:r>
              <a:rPr lang="ja-JP" altLang="en-US" sz="1200" dirty="0"/>
              <a:t>を選択するためのバイナリ変数</a:t>
            </a:r>
            <a:endParaRPr lang="en-US" altLang="ja-JP" sz="1200" dirty="0"/>
          </a:p>
          <a:p>
            <a:r>
              <a:rPr lang="en-US" altLang="ja-JP" sz="1200" dirty="0">
                <a:latin typeface="Cambria Math" panose="02040503050406030204" pitchFamily="18" charset="0"/>
                <a:ea typeface="Cambria Math" panose="02040503050406030204" pitchFamily="18" charset="0"/>
              </a:rPr>
              <a:t>U(</a:t>
            </a:r>
            <a:r>
              <a:rPr lang="en-US" altLang="ja-JP" sz="1200" dirty="0" err="1">
                <a:latin typeface="Cambria Math" panose="02040503050406030204" pitchFamily="18" charset="0"/>
                <a:ea typeface="Cambria Math" panose="02040503050406030204" pitchFamily="18" charset="0"/>
              </a:rPr>
              <a:t>j,t</a:t>
            </a:r>
            <a:r>
              <a:rPr lang="en-US" altLang="ja-JP" sz="1200" dirty="0">
                <a:latin typeface="Cambria Math" panose="02040503050406030204" pitchFamily="18" charset="0"/>
                <a:ea typeface="Cambria Math" panose="02040503050406030204" pitchFamily="18" charset="0"/>
              </a:rPr>
              <a:t>)</a:t>
            </a:r>
            <a:r>
              <a:rPr lang="en-US" altLang="ja-JP" sz="1200" dirty="0"/>
              <a:t>:</a:t>
            </a:r>
            <a:r>
              <a:rPr lang="ja-JP" altLang="en-US" sz="1200" dirty="0"/>
              <a:t>時刻 </a:t>
            </a:r>
            <a:r>
              <a:rPr lang="en-US" altLang="ja-JP" sz="1200" dirty="0"/>
              <a:t>t </a:t>
            </a:r>
            <a:r>
              <a:rPr lang="ja-JP" altLang="en-US" sz="1200" dirty="0"/>
              <a:t>における</a:t>
            </a:r>
            <a:r>
              <a:rPr lang="en-US" altLang="ja-JP" sz="1200" dirty="0"/>
              <a:t>δ</a:t>
            </a:r>
            <a:r>
              <a:rPr lang="ja-JP" altLang="en-US" sz="1200" dirty="0"/>
              <a:t>のピースワイズ区間 </a:t>
            </a:r>
            <a:r>
              <a:rPr lang="en-US" altLang="ja-JP" sz="1200" dirty="0"/>
              <a:t>j</a:t>
            </a:r>
            <a:r>
              <a:rPr lang="ja-JP" altLang="en-US" sz="1200" dirty="0"/>
              <a:t>の選択を示すバイナリ</a:t>
            </a:r>
            <a:endParaRPr lang="en-US" altLang="ja-JP" sz="1200" dirty="0"/>
          </a:p>
          <a:p>
            <a:r>
              <a:rPr lang="en-US" altLang="ja-JP" sz="1200" dirty="0">
                <a:latin typeface="Cambria Math" panose="02040503050406030204" pitchFamily="18" charset="0"/>
                <a:ea typeface="Cambria Math" panose="02040503050406030204" pitchFamily="18" charset="0"/>
              </a:rPr>
              <a:t>Z3</a:t>
            </a:r>
            <a:r>
              <a:rPr lang="en-US" altLang="ja-JP" sz="1200" dirty="0"/>
              <a:t>:Z2 </a:t>
            </a:r>
            <a:r>
              <a:rPr lang="ja-JP" altLang="en-US" sz="1200" dirty="0"/>
              <a:t>の補助変数。</a:t>
            </a:r>
            <a:endParaRPr lang="en-US" altLang="ja-JP" sz="1200" dirty="0"/>
          </a:p>
          <a:p>
            <a:endParaRPr kumimoji="1" lang="en-US" altLang="ja-JP" sz="1200" dirty="0"/>
          </a:p>
        </p:txBody>
      </p:sp>
      <p:pic>
        <p:nvPicPr>
          <p:cNvPr id="13" name="図 12">
            <a:extLst>
              <a:ext uri="{FF2B5EF4-FFF2-40B4-BE49-F238E27FC236}">
                <a16:creationId xmlns:a16="http://schemas.microsoft.com/office/drawing/2014/main" id="{FD99AA40-E7C6-0DFD-2299-0A59F3A40E01}"/>
              </a:ext>
            </a:extLst>
          </p:cNvPr>
          <p:cNvPicPr>
            <a:picLocks noChangeAspect="1"/>
          </p:cNvPicPr>
          <p:nvPr/>
        </p:nvPicPr>
        <p:blipFill>
          <a:blip r:embed="rId4"/>
          <a:stretch>
            <a:fillRect/>
          </a:stretch>
        </p:blipFill>
        <p:spPr>
          <a:xfrm>
            <a:off x="1400959" y="713608"/>
            <a:ext cx="5283570" cy="1435875"/>
          </a:xfrm>
          <a:prstGeom prst="rect">
            <a:avLst/>
          </a:prstGeom>
        </p:spPr>
      </p:pic>
      <p:pic>
        <p:nvPicPr>
          <p:cNvPr id="5" name="図 4">
            <a:extLst>
              <a:ext uri="{FF2B5EF4-FFF2-40B4-BE49-F238E27FC236}">
                <a16:creationId xmlns:a16="http://schemas.microsoft.com/office/drawing/2014/main" id="{8C45EF86-D7CF-6B3C-0E39-92AAEACC5F05}"/>
              </a:ext>
            </a:extLst>
          </p:cNvPr>
          <p:cNvPicPr>
            <a:picLocks noChangeAspect="1"/>
          </p:cNvPicPr>
          <p:nvPr/>
        </p:nvPicPr>
        <p:blipFill>
          <a:blip r:embed="rId5"/>
          <a:stretch>
            <a:fillRect/>
          </a:stretch>
        </p:blipFill>
        <p:spPr>
          <a:xfrm>
            <a:off x="5896222" y="1431545"/>
            <a:ext cx="3121231" cy="461902"/>
          </a:xfrm>
          <a:prstGeom prst="rect">
            <a:avLst/>
          </a:prstGeom>
        </p:spPr>
      </p:pic>
    </p:spTree>
    <p:extLst>
      <p:ext uri="{BB962C8B-B14F-4D97-AF65-F5344CB8AC3E}">
        <p14:creationId xmlns:p14="http://schemas.microsoft.com/office/powerpoint/2010/main" val="1974470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C5E254-F1F0-728F-4781-C8B314ED12C9}"/>
              </a:ext>
            </a:extLst>
          </p:cNvPr>
          <p:cNvSpPr>
            <a:spLocks noGrp="1"/>
          </p:cNvSpPr>
          <p:nvPr>
            <p:ph type="title"/>
          </p:nvPr>
        </p:nvSpPr>
        <p:spPr/>
        <p:txBody>
          <a:bodyPr/>
          <a:lstStyle/>
          <a:p>
            <a:r>
              <a:rPr lang="ja-JP" altLang="en-US" dirty="0"/>
              <a:t>制約</a:t>
            </a:r>
            <a:endParaRPr kumimoji="1" lang="ja-JP" altLang="en-US" dirty="0"/>
          </a:p>
        </p:txBody>
      </p:sp>
      <p:sp>
        <p:nvSpPr>
          <p:cNvPr id="4" name="スライド番号プレースホルダー 3">
            <a:extLst>
              <a:ext uri="{FF2B5EF4-FFF2-40B4-BE49-F238E27FC236}">
                <a16:creationId xmlns:a16="http://schemas.microsoft.com/office/drawing/2014/main" id="{A2DD4429-BF6B-F98C-18B8-258794BEFD36}"/>
              </a:ext>
            </a:extLst>
          </p:cNvPr>
          <p:cNvSpPr>
            <a:spLocks noGrp="1"/>
          </p:cNvSpPr>
          <p:nvPr>
            <p:ph type="sldNum" sz="quarter" idx="12"/>
          </p:nvPr>
        </p:nvSpPr>
        <p:spPr/>
        <p:txBody>
          <a:bodyPr/>
          <a:lstStyle/>
          <a:p>
            <a:fld id="{C1FF6DA9-008F-8B48-92A6-B652298478BF}" type="slidenum">
              <a:rPr lang="en-US" smtClean="0"/>
              <a:t>11</a:t>
            </a:fld>
            <a:endParaRPr lang="en-US"/>
          </a:p>
        </p:txBody>
      </p:sp>
      <p:pic>
        <p:nvPicPr>
          <p:cNvPr id="10" name="図 9">
            <a:extLst>
              <a:ext uri="{FF2B5EF4-FFF2-40B4-BE49-F238E27FC236}">
                <a16:creationId xmlns:a16="http://schemas.microsoft.com/office/drawing/2014/main" id="{1D8BCA7D-F56D-BA48-B534-946188F146AA}"/>
              </a:ext>
            </a:extLst>
          </p:cNvPr>
          <p:cNvPicPr>
            <a:picLocks noChangeAspect="1"/>
          </p:cNvPicPr>
          <p:nvPr/>
        </p:nvPicPr>
        <p:blipFill>
          <a:blip r:embed="rId2"/>
          <a:stretch>
            <a:fillRect/>
          </a:stretch>
        </p:blipFill>
        <p:spPr>
          <a:xfrm>
            <a:off x="628650" y="1250273"/>
            <a:ext cx="6390158" cy="717132"/>
          </a:xfrm>
          <a:prstGeom prst="rect">
            <a:avLst/>
          </a:prstGeom>
        </p:spPr>
      </p:pic>
      <p:pic>
        <p:nvPicPr>
          <p:cNvPr id="14" name="コンテンツ プレースホルダー 13">
            <a:extLst>
              <a:ext uri="{FF2B5EF4-FFF2-40B4-BE49-F238E27FC236}">
                <a16:creationId xmlns:a16="http://schemas.microsoft.com/office/drawing/2014/main" id="{9725DE67-D318-97DD-7405-91D83EAB0044}"/>
              </a:ext>
            </a:extLst>
          </p:cNvPr>
          <p:cNvPicPr>
            <a:picLocks noGrp="1" noChangeAspect="1"/>
          </p:cNvPicPr>
          <p:nvPr>
            <p:ph idx="1"/>
          </p:nvPr>
        </p:nvPicPr>
        <p:blipFill>
          <a:blip r:embed="rId3"/>
          <a:stretch>
            <a:fillRect/>
          </a:stretch>
        </p:blipFill>
        <p:spPr>
          <a:xfrm>
            <a:off x="628650" y="1690689"/>
            <a:ext cx="6390158" cy="1036851"/>
          </a:xfrm>
        </p:spPr>
      </p:pic>
      <p:pic>
        <p:nvPicPr>
          <p:cNvPr id="21" name="コンテンツ プレースホルダー 4">
            <a:extLst>
              <a:ext uri="{FF2B5EF4-FFF2-40B4-BE49-F238E27FC236}">
                <a16:creationId xmlns:a16="http://schemas.microsoft.com/office/drawing/2014/main" id="{2EE6CDCD-A335-2D7D-A681-B1836DB8A184}"/>
              </a:ext>
            </a:extLst>
          </p:cNvPr>
          <p:cNvPicPr>
            <a:picLocks noChangeAspect="1"/>
          </p:cNvPicPr>
          <p:nvPr/>
        </p:nvPicPr>
        <p:blipFill>
          <a:blip r:embed="rId4"/>
          <a:stretch>
            <a:fillRect/>
          </a:stretch>
        </p:blipFill>
        <p:spPr>
          <a:xfrm>
            <a:off x="628650" y="2486050"/>
            <a:ext cx="5128030" cy="1463505"/>
          </a:xfrm>
          <a:prstGeom prst="rect">
            <a:avLst/>
          </a:prstGeom>
        </p:spPr>
      </p:pic>
      <p:pic>
        <p:nvPicPr>
          <p:cNvPr id="22" name="図 21">
            <a:extLst>
              <a:ext uri="{FF2B5EF4-FFF2-40B4-BE49-F238E27FC236}">
                <a16:creationId xmlns:a16="http://schemas.microsoft.com/office/drawing/2014/main" id="{91B9D15D-FC22-FC25-DB17-A0D2CAD15997}"/>
              </a:ext>
            </a:extLst>
          </p:cNvPr>
          <p:cNvPicPr>
            <a:picLocks noChangeAspect="1"/>
          </p:cNvPicPr>
          <p:nvPr/>
        </p:nvPicPr>
        <p:blipFill>
          <a:blip r:embed="rId5"/>
          <a:stretch>
            <a:fillRect/>
          </a:stretch>
        </p:blipFill>
        <p:spPr>
          <a:xfrm>
            <a:off x="672793" y="4379219"/>
            <a:ext cx="4232548" cy="1576183"/>
          </a:xfrm>
          <a:prstGeom prst="rect">
            <a:avLst/>
          </a:prstGeom>
        </p:spPr>
      </p:pic>
      <p:pic>
        <p:nvPicPr>
          <p:cNvPr id="23" name="図 22">
            <a:extLst>
              <a:ext uri="{FF2B5EF4-FFF2-40B4-BE49-F238E27FC236}">
                <a16:creationId xmlns:a16="http://schemas.microsoft.com/office/drawing/2014/main" id="{2FFD4F48-FDAC-241F-5481-5F0C7A97B229}"/>
              </a:ext>
            </a:extLst>
          </p:cNvPr>
          <p:cNvPicPr>
            <a:picLocks noChangeAspect="1"/>
          </p:cNvPicPr>
          <p:nvPr/>
        </p:nvPicPr>
        <p:blipFill>
          <a:blip r:embed="rId6"/>
          <a:stretch>
            <a:fillRect/>
          </a:stretch>
        </p:blipFill>
        <p:spPr>
          <a:xfrm>
            <a:off x="793533" y="3591377"/>
            <a:ext cx="2548758" cy="980292"/>
          </a:xfrm>
          <a:prstGeom prst="rect">
            <a:avLst/>
          </a:prstGeom>
        </p:spPr>
      </p:pic>
    </p:spTree>
    <p:extLst>
      <p:ext uri="{BB962C8B-B14F-4D97-AF65-F5344CB8AC3E}">
        <p14:creationId xmlns:p14="http://schemas.microsoft.com/office/powerpoint/2010/main" val="3321471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AB6AD9-5BB5-FACD-5683-95300C27DE4A}"/>
              </a:ext>
            </a:extLst>
          </p:cNvPr>
          <p:cNvSpPr>
            <a:spLocks noGrp="1"/>
          </p:cNvSpPr>
          <p:nvPr>
            <p:ph type="title"/>
          </p:nvPr>
        </p:nvSpPr>
        <p:spPr/>
        <p:txBody>
          <a:bodyPr/>
          <a:lstStyle/>
          <a:p>
            <a:r>
              <a:rPr kumimoji="1" lang="ja-JP" altLang="en-US" dirty="0"/>
              <a:t>制約</a:t>
            </a:r>
          </a:p>
        </p:txBody>
      </p:sp>
      <p:sp>
        <p:nvSpPr>
          <p:cNvPr id="3" name="スライド番号プレースホルダー 2">
            <a:extLst>
              <a:ext uri="{FF2B5EF4-FFF2-40B4-BE49-F238E27FC236}">
                <a16:creationId xmlns:a16="http://schemas.microsoft.com/office/drawing/2014/main" id="{C94CDF6D-DDF8-DB95-2B32-0988C33D1357}"/>
              </a:ext>
            </a:extLst>
          </p:cNvPr>
          <p:cNvSpPr>
            <a:spLocks noGrp="1"/>
          </p:cNvSpPr>
          <p:nvPr>
            <p:ph type="sldNum" sz="quarter" idx="12"/>
          </p:nvPr>
        </p:nvSpPr>
        <p:spPr/>
        <p:txBody>
          <a:bodyPr/>
          <a:lstStyle/>
          <a:p>
            <a:fld id="{C1FF6DA9-008F-8B48-92A6-B652298478BF}" type="slidenum">
              <a:rPr lang="en-US" smtClean="0"/>
              <a:t>12</a:t>
            </a:fld>
            <a:endParaRPr lang="en-US"/>
          </a:p>
        </p:txBody>
      </p:sp>
      <p:pic>
        <p:nvPicPr>
          <p:cNvPr id="9" name="図 8">
            <a:extLst>
              <a:ext uri="{FF2B5EF4-FFF2-40B4-BE49-F238E27FC236}">
                <a16:creationId xmlns:a16="http://schemas.microsoft.com/office/drawing/2014/main" id="{C2E1B1F4-381F-C601-FFC0-9AE1229FBD7A}"/>
              </a:ext>
            </a:extLst>
          </p:cNvPr>
          <p:cNvPicPr>
            <a:picLocks noChangeAspect="1"/>
          </p:cNvPicPr>
          <p:nvPr/>
        </p:nvPicPr>
        <p:blipFill>
          <a:blip r:embed="rId2"/>
          <a:stretch>
            <a:fillRect/>
          </a:stretch>
        </p:blipFill>
        <p:spPr>
          <a:xfrm>
            <a:off x="1375828" y="2662590"/>
            <a:ext cx="4963576" cy="1294357"/>
          </a:xfrm>
          <a:prstGeom prst="rect">
            <a:avLst/>
          </a:prstGeom>
        </p:spPr>
      </p:pic>
      <p:sp>
        <p:nvSpPr>
          <p:cNvPr id="10" name="テキスト ボックス 9">
            <a:extLst>
              <a:ext uri="{FF2B5EF4-FFF2-40B4-BE49-F238E27FC236}">
                <a16:creationId xmlns:a16="http://schemas.microsoft.com/office/drawing/2014/main" id="{3C4992F2-A9E5-59D2-E01A-6641E766A3DF}"/>
              </a:ext>
            </a:extLst>
          </p:cNvPr>
          <p:cNvSpPr txBox="1"/>
          <p:nvPr/>
        </p:nvSpPr>
        <p:spPr>
          <a:xfrm>
            <a:off x="628650" y="4546775"/>
            <a:ext cx="7638164" cy="2308324"/>
          </a:xfrm>
          <a:prstGeom prst="rect">
            <a:avLst/>
          </a:prstGeom>
          <a:noFill/>
        </p:spPr>
        <p:txBody>
          <a:bodyPr wrap="square" rtlCol="0">
            <a:spAutoFit/>
          </a:bodyPr>
          <a:lstStyle/>
          <a:p>
            <a:r>
              <a:rPr kumimoji="1" lang="en-US" altLang="ja-JP" dirty="0">
                <a:latin typeface="Cambria Math" panose="02040503050406030204" pitchFamily="18" charset="0"/>
                <a:ea typeface="Cambria Math" panose="02040503050406030204" pitchFamily="18" charset="0"/>
              </a:rPr>
              <a:t>L</a:t>
            </a:r>
            <a:r>
              <a:rPr kumimoji="1" lang="en-US" altLang="ja-JP" dirty="0"/>
              <a:t>:</a:t>
            </a:r>
            <a:r>
              <a:rPr lang="ja-JP" altLang="en-US" dirty="0"/>
              <a:t>ピースワイズの幅</a:t>
            </a:r>
            <a:r>
              <a:rPr lang="en-US" altLang="ja-JP" dirty="0"/>
              <a:t>(0.1)</a:t>
            </a:r>
          </a:p>
          <a:p>
            <a:r>
              <a:rPr kumimoji="1" lang="en-US" altLang="ja-JP" dirty="0">
                <a:latin typeface="Cambria Math" panose="02040503050406030204" pitchFamily="18" charset="0"/>
                <a:ea typeface="Cambria Math" panose="02040503050406030204" pitchFamily="18" charset="0"/>
              </a:rPr>
              <a:t>A</a:t>
            </a:r>
            <a:r>
              <a:rPr kumimoji="1" lang="en-US" altLang="ja-JP" dirty="0"/>
              <a:t>:</a:t>
            </a:r>
            <a:r>
              <a:rPr lang="ja-JP" altLang="en-US" dirty="0"/>
              <a:t>区間選択 </a:t>
            </a:r>
            <a:r>
              <a:rPr lang="en-US" altLang="ja-JP" dirty="0"/>
              <a:t>× </a:t>
            </a:r>
            <a:r>
              <a:rPr lang="ja-JP" altLang="en-US" dirty="0"/>
              <a:t>ピースワイズ選択を階段式に構築するためのバイナリ</a:t>
            </a:r>
            <a:endParaRPr lang="en-US" altLang="ja-JP" dirty="0"/>
          </a:p>
          <a:p>
            <a:r>
              <a:rPr lang="en-US" altLang="ja-JP" dirty="0">
                <a:latin typeface="Cambria Math" panose="02040503050406030204" pitchFamily="18" charset="0"/>
                <a:ea typeface="Cambria Math" panose="02040503050406030204" pitchFamily="18" charset="0"/>
              </a:rPr>
              <a:t>x2</a:t>
            </a:r>
            <a:r>
              <a:rPr lang="en-US" altLang="ja-JP" dirty="0"/>
              <a:t>:</a:t>
            </a:r>
            <a:r>
              <a:rPr lang="ja-JP" altLang="en-US" dirty="0"/>
              <a:t>区間 </a:t>
            </a:r>
            <a:r>
              <a:rPr lang="en-US" altLang="ja-JP" dirty="0" err="1"/>
              <a:t>i</a:t>
            </a:r>
            <a:r>
              <a:rPr lang="en-US" altLang="ja-JP" dirty="0"/>
              <a:t> ×</a:t>
            </a:r>
            <a:r>
              <a:rPr lang="ja-JP" altLang="en-US" dirty="0"/>
              <a:t>ピースワイズ</a:t>
            </a:r>
            <a:r>
              <a:rPr lang="en-US" altLang="ja-JP" dirty="0"/>
              <a:t>j </a:t>
            </a:r>
            <a:r>
              <a:rPr lang="ja-JP" altLang="en-US" dirty="0"/>
              <a:t>における充電量を表す連続変数</a:t>
            </a:r>
            <a:endParaRPr lang="en-US" altLang="ja-JP" dirty="0"/>
          </a:p>
          <a:p>
            <a:r>
              <a:rPr lang="en-US" altLang="ja-JP" dirty="0">
                <a:latin typeface="Cambria Math" panose="02040503050406030204" pitchFamily="18" charset="0"/>
                <a:ea typeface="Cambria Math" panose="02040503050406030204" pitchFamily="18" charset="0"/>
              </a:rPr>
              <a:t>y2(</a:t>
            </a:r>
            <a:r>
              <a:rPr lang="en-US" altLang="ja-JP" dirty="0" err="1">
                <a:latin typeface="Cambria Math" panose="02040503050406030204" pitchFamily="18" charset="0"/>
                <a:ea typeface="Cambria Math" panose="02040503050406030204" pitchFamily="18" charset="0"/>
              </a:rPr>
              <a:t>i,j,t</a:t>
            </a:r>
            <a:r>
              <a:rPr lang="en-US" altLang="ja-JP" dirty="0">
                <a:latin typeface="Cambria Math" panose="02040503050406030204" pitchFamily="18" charset="0"/>
                <a:ea typeface="Cambria Math" panose="02040503050406030204" pitchFamily="18" charset="0"/>
              </a:rPr>
              <a:t>)</a:t>
            </a:r>
            <a:r>
              <a:rPr lang="en-US" altLang="ja-JP" dirty="0"/>
              <a:t>:</a:t>
            </a:r>
            <a:r>
              <a:rPr lang="ja-JP" altLang="en-US" dirty="0"/>
              <a:t>放電量を「ピースワイズ階段」で表すための重み</a:t>
            </a:r>
            <a:endParaRPr lang="en-US" altLang="ja-JP" dirty="0"/>
          </a:p>
          <a:p>
            <a:r>
              <a:rPr lang="en-US" altLang="ja-JP" dirty="0">
                <a:latin typeface="Cambria Math" panose="02040503050406030204" pitchFamily="18" charset="0"/>
                <a:ea typeface="Cambria Math" panose="02040503050406030204" pitchFamily="18" charset="0"/>
              </a:rPr>
              <a:t>Qs</a:t>
            </a:r>
            <a:r>
              <a:rPr lang="ja-JP" altLang="en-US" dirty="0"/>
              <a:t>：充電側の </a:t>
            </a:r>
            <a:r>
              <a:rPr lang="en-US" altLang="ja-JP" dirty="0"/>
              <a:t>SOC</a:t>
            </a:r>
          </a:p>
          <a:p>
            <a:r>
              <a:rPr lang="en-US" altLang="ja-JP" dirty="0" err="1">
                <a:latin typeface="Cambria Math" panose="02040503050406030204" pitchFamily="18" charset="0"/>
                <a:ea typeface="Cambria Math" panose="02040503050406030204" pitchFamily="18" charset="0"/>
              </a:rPr>
              <a:t>Qr</a:t>
            </a:r>
            <a:r>
              <a:rPr lang="ja-JP" altLang="en-US" dirty="0"/>
              <a:t>：放電側の </a:t>
            </a:r>
            <a:r>
              <a:rPr lang="en-US" altLang="ja-JP" dirty="0"/>
              <a:t>SOC</a:t>
            </a:r>
          </a:p>
          <a:p>
            <a:r>
              <a:rPr lang="en-US" altLang="ja-JP" dirty="0">
                <a:latin typeface="Cambria Math" panose="02040503050406030204" pitchFamily="18" charset="0"/>
                <a:ea typeface="Cambria Math" panose="02040503050406030204" pitchFamily="18" charset="0"/>
              </a:rPr>
              <a:t>Qr2</a:t>
            </a:r>
            <a:r>
              <a:rPr lang="ja-JP" altLang="en-US" dirty="0"/>
              <a:t>：二つ目の放電方式の </a:t>
            </a:r>
            <a:r>
              <a:rPr lang="en-US" altLang="ja-JP" dirty="0"/>
              <a:t>SOC</a:t>
            </a:r>
          </a:p>
          <a:p>
            <a:endParaRPr kumimoji="1" lang="en-US" altLang="ja-JP" dirty="0"/>
          </a:p>
        </p:txBody>
      </p:sp>
      <p:pic>
        <p:nvPicPr>
          <p:cNvPr id="20" name="図 19">
            <a:extLst>
              <a:ext uri="{FF2B5EF4-FFF2-40B4-BE49-F238E27FC236}">
                <a16:creationId xmlns:a16="http://schemas.microsoft.com/office/drawing/2014/main" id="{CBD1CFE4-545F-FD69-B02F-0A3908BCE525}"/>
              </a:ext>
            </a:extLst>
          </p:cNvPr>
          <p:cNvPicPr>
            <a:picLocks noChangeAspect="1"/>
          </p:cNvPicPr>
          <p:nvPr/>
        </p:nvPicPr>
        <p:blipFill>
          <a:blip r:embed="rId3"/>
          <a:stretch>
            <a:fillRect/>
          </a:stretch>
        </p:blipFill>
        <p:spPr>
          <a:xfrm>
            <a:off x="838573" y="1114514"/>
            <a:ext cx="5290908" cy="1786540"/>
          </a:xfrm>
          <a:prstGeom prst="rect">
            <a:avLst/>
          </a:prstGeom>
        </p:spPr>
      </p:pic>
    </p:spTree>
    <p:extLst>
      <p:ext uri="{BB962C8B-B14F-4D97-AF65-F5344CB8AC3E}">
        <p14:creationId xmlns:p14="http://schemas.microsoft.com/office/powerpoint/2010/main" val="303872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7481-7D12-82DC-BC50-873021F16C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E223C0-A8FC-9500-5208-DBE6FB40316C}"/>
              </a:ext>
            </a:extLst>
          </p:cNvPr>
          <p:cNvSpPr>
            <a:spLocks noGrp="1"/>
          </p:cNvSpPr>
          <p:nvPr>
            <p:ph type="title"/>
          </p:nvPr>
        </p:nvSpPr>
        <p:spPr/>
        <p:txBody>
          <a:bodyPr/>
          <a:lstStyle/>
          <a:p>
            <a:r>
              <a:rPr kumimoji="1" lang="ja-JP" altLang="en-US" dirty="0"/>
              <a:t>運用制約</a:t>
            </a:r>
          </a:p>
        </p:txBody>
      </p:sp>
      <p:sp>
        <p:nvSpPr>
          <p:cNvPr id="4" name="スライド番号プレースホルダー 3">
            <a:extLst>
              <a:ext uri="{FF2B5EF4-FFF2-40B4-BE49-F238E27FC236}">
                <a16:creationId xmlns:a16="http://schemas.microsoft.com/office/drawing/2014/main" id="{B78474AB-5C26-A02F-9C35-F0CB8945C094}"/>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6" name="Rectangle 2">
            <a:extLst>
              <a:ext uri="{FF2B5EF4-FFF2-40B4-BE49-F238E27FC236}">
                <a16:creationId xmlns:a16="http://schemas.microsoft.com/office/drawing/2014/main" id="{0EC5C55D-9182-4A6F-4A49-5539923AE17D}"/>
              </a:ext>
            </a:extLst>
          </p:cNvPr>
          <p:cNvSpPr>
            <a:spLocks noGrp="1" noChangeArrowheads="1"/>
          </p:cNvSpPr>
          <p:nvPr>
            <p:ph idx="1"/>
          </p:nvPr>
        </p:nvSpPr>
        <p:spPr bwMode="auto">
          <a:xfrm>
            <a:off x="628649" y="1586952"/>
            <a:ext cx="566613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FontTx/>
              <a:buChar char="•"/>
            </a:pPr>
            <a:r>
              <a:rPr lang="en-US" altLang="ja-JP" sz="1800" dirty="0"/>
              <a:t>SOC</a:t>
            </a:r>
            <a:r>
              <a:rPr lang="ja-JP" altLang="en-US" sz="1800" dirty="0"/>
              <a:t>更新式</a:t>
            </a:r>
            <a:endParaRPr lang="en-US" altLang="ja-JP" sz="1800" dirty="0"/>
          </a:p>
          <a:p>
            <a:pPr marL="0" lvl="0" indent="0" defTabSz="914400" eaLnBrk="0" fontAlgn="base" hangingPunct="0">
              <a:lnSpc>
                <a:spcPct val="100000"/>
              </a:lnSpc>
              <a:spcBef>
                <a:spcPct val="0"/>
              </a:spcBef>
              <a:spcAft>
                <a:spcPct val="0"/>
              </a:spcAft>
              <a:buFontTx/>
              <a:buChar char="•"/>
            </a:pPr>
            <a:r>
              <a:rPr lang="ja-JP" altLang="en-US" sz="1800" dirty="0"/>
              <a:t>容量配分</a:t>
            </a:r>
            <a:endParaRPr lang="en-US" altLang="ja-JP" sz="1800" dirty="0"/>
          </a:p>
          <a:p>
            <a:pPr marL="0" lvl="0" indent="0" defTabSz="914400" eaLnBrk="0" fontAlgn="base" hangingPunct="0">
              <a:lnSpc>
                <a:spcPct val="100000"/>
              </a:lnSpc>
              <a:spcBef>
                <a:spcPct val="0"/>
              </a:spcBef>
              <a:spcAft>
                <a:spcPct val="0"/>
              </a:spcAft>
              <a:buFontTx/>
              <a:buChar char="•"/>
            </a:pPr>
            <a:r>
              <a:rPr lang="ja-JP" altLang="en-US" sz="1800" dirty="0"/>
              <a:t>提供に必要なエネルギー余裕の上下限</a:t>
            </a:r>
            <a:endParaRPr lang="en-US" altLang="ja-JP" sz="1800" dirty="0"/>
          </a:p>
          <a:p>
            <a:pPr marL="0" lvl="0" indent="0" defTabSz="914400" eaLnBrk="0" fontAlgn="base" hangingPunct="0">
              <a:lnSpc>
                <a:spcPct val="100000"/>
              </a:lnSpc>
              <a:spcBef>
                <a:spcPct val="0"/>
              </a:spcBef>
              <a:spcAft>
                <a:spcPct val="0"/>
              </a:spcAft>
              <a:buFontTx/>
              <a:buChar char="•"/>
            </a:pPr>
            <a:endParaRPr kumimoji="0" lang="en-US" altLang="ja-JP" sz="1800" b="0" i="0" u="none" strike="noStrike" cap="none" normalizeH="0" baseline="0" dirty="0">
              <a:ln>
                <a:noFill/>
              </a:ln>
              <a:solidFill>
                <a:schemeClr val="tx1"/>
              </a:solidFill>
              <a:effectLst/>
              <a:latin typeface="Arial" panose="020B0604020202020204" pitchFamily="34" charset="0"/>
            </a:endParaRPr>
          </a:p>
          <a:p>
            <a:pPr marL="0" lvl="0" indent="0" defTabSz="914400" eaLnBrk="0" fontAlgn="base" hangingPunct="0">
              <a:lnSpc>
                <a:spcPct val="100000"/>
              </a:lnSpc>
              <a:spcBef>
                <a:spcPct val="0"/>
              </a:spcBef>
              <a:spcAft>
                <a:spcPct val="0"/>
              </a:spcAft>
              <a:buFontTx/>
              <a:buChar char="•"/>
            </a:pPr>
            <a:r>
              <a:rPr lang="ja-JP" altLang="en-US" sz="1800" b="1" dirty="0"/>
              <a:t>二次元ピースワイズの論理制約</a:t>
            </a:r>
            <a:endParaRPr lang="en-US" altLang="ja-JP" sz="1800" dirty="0"/>
          </a:p>
          <a:p>
            <a:pPr marL="0" lvl="0" indent="0" defTabSz="914400" eaLnBrk="0" fontAlgn="base" hangingPunct="0">
              <a:lnSpc>
                <a:spcPct val="100000"/>
              </a:lnSpc>
              <a:spcBef>
                <a:spcPct val="0"/>
              </a:spcBef>
              <a:spcAft>
                <a:spcPct val="0"/>
              </a:spcAft>
              <a:buFontTx/>
              <a:buChar char="•"/>
            </a:pPr>
            <a:r>
              <a:rPr lang="ja-JP" altLang="en-US" sz="1800" dirty="0"/>
              <a:t>セル選択を実現するために，</a:t>
            </a:r>
            <a:r>
              <a:rPr lang="en-US" altLang="ja-JP" sz="1800" dirty="0"/>
              <a:t>SOC</a:t>
            </a:r>
            <a:r>
              <a:rPr lang="ja-JP" altLang="en-US" sz="1800" dirty="0"/>
              <a:t>方向・</a:t>
            </a:r>
            <a:r>
              <a:rPr lang="en-US" altLang="ja-JP" sz="1800" dirty="0"/>
              <a:t>DoD</a:t>
            </a:r>
            <a:r>
              <a:rPr lang="ja-JP" altLang="en-US" sz="1800" dirty="0"/>
              <a:t>方向の選択，それらの</a:t>
            </a:r>
            <a:r>
              <a:rPr lang="en-US" altLang="ja-JP" sz="1800" dirty="0"/>
              <a:t>AND</a:t>
            </a:r>
            <a:r>
              <a:rPr lang="ja-JP" altLang="en-US" sz="1800" dirty="0"/>
              <a:t>（線形化用の補助バイナリ），そして重み変数が「選ばれたセルでのみ有効」になる上下限制約を組み，最後に重み総和で入力（正規化</a:t>
            </a:r>
            <a:r>
              <a:rPr lang="en-US" altLang="ja-JP" sz="1800" dirty="0"/>
              <a:t>SOC</a:t>
            </a:r>
            <a:r>
              <a:rPr lang="ja-JP" altLang="en-US" sz="1800" dirty="0"/>
              <a:t>，正規化</a:t>
            </a:r>
            <a:r>
              <a:rPr lang="en-US" altLang="ja-JP" sz="1800" dirty="0"/>
              <a:t>DoD</a:t>
            </a:r>
            <a:r>
              <a:rPr lang="ja-JP" altLang="en-US" sz="1800" dirty="0"/>
              <a:t>）と整合させる</a:t>
            </a: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46968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D061D9-E0D5-CA06-26F6-56870CB9D4A2}"/>
              </a:ext>
            </a:extLst>
          </p:cNvPr>
          <p:cNvSpPr>
            <a:spLocks noGrp="1"/>
          </p:cNvSpPr>
          <p:nvPr>
            <p:ph type="title"/>
          </p:nvPr>
        </p:nvSpPr>
        <p:spPr/>
        <p:txBody>
          <a:bodyPr/>
          <a:lstStyle/>
          <a:p>
            <a:r>
              <a:rPr lang="ja-JP" altLang="en-US" dirty="0"/>
              <a:t>シミュレーション条件</a:t>
            </a:r>
            <a:endParaRPr kumimoji="1" lang="ja-JP" altLang="en-US" dirty="0"/>
          </a:p>
        </p:txBody>
      </p:sp>
      <p:sp>
        <p:nvSpPr>
          <p:cNvPr id="3" name="コンテンツ プレースホルダー 2">
            <a:extLst>
              <a:ext uri="{FF2B5EF4-FFF2-40B4-BE49-F238E27FC236}">
                <a16:creationId xmlns:a16="http://schemas.microsoft.com/office/drawing/2014/main" id="{F7867067-EC54-D92A-FE55-ABD20DF9A727}"/>
              </a:ext>
            </a:extLst>
          </p:cNvPr>
          <p:cNvSpPr>
            <a:spLocks noGrp="1"/>
          </p:cNvSpPr>
          <p:nvPr>
            <p:ph idx="1"/>
          </p:nvPr>
        </p:nvSpPr>
        <p:spPr/>
        <p:txBody>
          <a:bodyPr/>
          <a:lstStyle/>
          <a:p>
            <a:r>
              <a:rPr lang="ja-JP" altLang="en-US" dirty="0"/>
              <a:t>容量</a:t>
            </a:r>
            <a:r>
              <a:rPr lang="en-US" altLang="ja-JP" dirty="0"/>
              <a:t>1000kWh</a:t>
            </a:r>
          </a:p>
          <a:p>
            <a:r>
              <a:rPr lang="en-US" altLang="ja-JP" dirty="0"/>
              <a:t>SOC</a:t>
            </a:r>
            <a:r>
              <a:rPr lang="ja-JP" altLang="en-US" dirty="0"/>
              <a:t>範囲</a:t>
            </a:r>
            <a:r>
              <a:rPr lang="en-US" altLang="ja-JP" dirty="0"/>
              <a:t>0.1</a:t>
            </a:r>
            <a:r>
              <a:rPr lang="ja-JP" altLang="en-US" dirty="0"/>
              <a:t>～</a:t>
            </a:r>
            <a:r>
              <a:rPr lang="en-US" altLang="ja-JP" dirty="0"/>
              <a:t>1.0</a:t>
            </a:r>
          </a:p>
          <a:p>
            <a:r>
              <a:rPr lang="ja-JP" altLang="en-US" dirty="0"/>
              <a:t>初期</a:t>
            </a:r>
            <a:r>
              <a:rPr lang="en-US" altLang="ja-JP" dirty="0"/>
              <a:t>SOC0.5</a:t>
            </a:r>
          </a:p>
          <a:p>
            <a:r>
              <a:rPr lang="ja-JP" altLang="ja-JP" dirty="0"/>
              <a:t>充放電効率（</a:t>
            </a:r>
            <a:r>
              <a:rPr lang="en-US" altLang="ja-JP" dirty="0"/>
              <a:t>PCS</a:t>
            </a:r>
            <a:r>
              <a:rPr lang="ja-JP" altLang="en-US" dirty="0"/>
              <a:t>）</a:t>
            </a:r>
            <a:r>
              <a:rPr lang="en-US" altLang="ja-JP" dirty="0"/>
              <a:t>0.95</a:t>
            </a:r>
          </a:p>
          <a:p>
            <a:r>
              <a:rPr lang="ja-JP" altLang="ja-JP" dirty="0"/>
              <a:t>充放電効率（電池）</a:t>
            </a:r>
            <a:r>
              <a:rPr lang="en-US" altLang="ja-JP" dirty="0"/>
              <a:t>0.95</a:t>
            </a:r>
            <a:endParaRPr kumimoji="1" lang="ja-JP" altLang="en-US" dirty="0"/>
          </a:p>
        </p:txBody>
      </p:sp>
      <p:sp>
        <p:nvSpPr>
          <p:cNvPr id="4" name="スライド番号プレースホルダー 3">
            <a:extLst>
              <a:ext uri="{FF2B5EF4-FFF2-40B4-BE49-F238E27FC236}">
                <a16:creationId xmlns:a16="http://schemas.microsoft.com/office/drawing/2014/main" id="{94DABDAF-929F-C93C-13A4-11C422EE4613}"/>
              </a:ext>
            </a:extLst>
          </p:cNvPr>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3874743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結果</a:t>
            </a:r>
            <a:endParaRPr dirty="0"/>
          </a:p>
        </p:txBody>
      </p:sp>
      <p:sp>
        <p:nvSpPr>
          <p:cNvPr id="3" name="Content Placeholder 2"/>
          <p:cNvSpPr>
            <a:spLocks noGrp="1"/>
          </p:cNvSpPr>
          <p:nvPr>
            <p:ph idx="1"/>
          </p:nvPr>
        </p:nvSpPr>
        <p:spPr/>
        <p:txBody>
          <a:bodyPr/>
          <a:lstStyle/>
          <a:p>
            <a:r>
              <a:rPr lang="en-US" altLang="ja-JP" dirty="0"/>
              <a:t>1</a:t>
            </a:r>
            <a:r>
              <a:rPr lang="ja-JP" altLang="en-US" dirty="0"/>
              <a:t>日で</a:t>
            </a:r>
            <a:r>
              <a:rPr lang="en-US" altLang="ja-JP" dirty="0"/>
              <a:t>15</a:t>
            </a:r>
            <a:r>
              <a:rPr lang="ja-JP" altLang="en-US" dirty="0"/>
              <a:t>万円から</a:t>
            </a:r>
            <a:r>
              <a:rPr lang="en-US" altLang="ja-JP" dirty="0"/>
              <a:t>25</a:t>
            </a:r>
            <a:r>
              <a:rPr lang="ja-JP" altLang="en-US" dirty="0"/>
              <a:t>万ほどの利益を見込める</a:t>
            </a:r>
            <a:endParaRPr lang="en-US" altLang="ja-JP" dirty="0"/>
          </a:p>
          <a:p>
            <a:r>
              <a:rPr lang="ja-JP" altLang="en-US" dirty="0"/>
              <a:t>高価格時に放電・低価格時に充電</a:t>
            </a:r>
            <a:endParaRPr lang="en-US" altLang="ja-JP" dirty="0"/>
          </a:p>
          <a:p>
            <a:endParaRPr lang="en-US" altLang="ja-JP" dirty="0"/>
          </a:p>
          <a:p>
            <a:endParaRPr lang="ja-JP" altLang="en-US" dirty="0"/>
          </a:p>
        </p:txBody>
      </p:sp>
      <p:sp>
        <p:nvSpPr>
          <p:cNvPr id="4" name="スライド番号プレースホルダー 3">
            <a:extLst>
              <a:ext uri="{FF2B5EF4-FFF2-40B4-BE49-F238E27FC236}">
                <a16:creationId xmlns:a16="http://schemas.microsoft.com/office/drawing/2014/main" id="{82312CFB-0930-E93A-B6C8-8BD4E45DA5D5}"/>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11" name="テキスト ボックス 10">
            <a:extLst>
              <a:ext uri="{FF2B5EF4-FFF2-40B4-BE49-F238E27FC236}">
                <a16:creationId xmlns:a16="http://schemas.microsoft.com/office/drawing/2014/main" id="{E31888BD-F8B7-57FB-8AC8-5DB5359BC555}"/>
              </a:ext>
            </a:extLst>
          </p:cNvPr>
          <p:cNvSpPr txBox="1"/>
          <p:nvPr/>
        </p:nvSpPr>
        <p:spPr>
          <a:xfrm>
            <a:off x="287630" y="5715298"/>
            <a:ext cx="4000591" cy="923330"/>
          </a:xfrm>
          <a:prstGeom prst="rect">
            <a:avLst/>
          </a:prstGeom>
          <a:noFill/>
        </p:spPr>
        <p:txBody>
          <a:bodyPr wrap="square">
            <a:spAutoFit/>
          </a:bodyPr>
          <a:lstStyle/>
          <a:p>
            <a:r>
              <a:rPr kumimoji="1" lang="ja-JP" altLang="en-US" dirty="0"/>
              <a:t>図　ある</a:t>
            </a:r>
            <a:r>
              <a:rPr kumimoji="1" lang="en-US" altLang="ja-JP" dirty="0"/>
              <a:t>5</a:t>
            </a:r>
            <a:r>
              <a:rPr kumimoji="1" lang="ja-JP" altLang="en-US" dirty="0"/>
              <a:t>月の一日におけるバッテリー残量と</a:t>
            </a:r>
            <a:r>
              <a:rPr lang="ja-JP" altLang="en-US" dirty="0"/>
              <a:t>時間単位当たりの電力単位当たりの価格</a:t>
            </a:r>
            <a:r>
              <a:rPr lang="en-US" altLang="ja-JP" dirty="0"/>
              <a:t>[</a:t>
            </a:r>
            <a:r>
              <a:rPr lang="ja-JP" altLang="en-US" dirty="0"/>
              <a:t>円</a:t>
            </a:r>
            <a:r>
              <a:rPr lang="en-US" altLang="ja-JP" dirty="0"/>
              <a:t>/t*kWh]</a:t>
            </a:r>
            <a:r>
              <a:rPr lang="ja-JP" altLang="en-US" dirty="0"/>
              <a:t>の比較</a:t>
            </a:r>
            <a:endParaRPr kumimoji="1" lang="ja-JP" altLang="en-US" dirty="0"/>
          </a:p>
        </p:txBody>
      </p:sp>
      <p:sp>
        <p:nvSpPr>
          <p:cNvPr id="13" name="テキスト ボックス 12">
            <a:extLst>
              <a:ext uri="{FF2B5EF4-FFF2-40B4-BE49-F238E27FC236}">
                <a16:creationId xmlns:a16="http://schemas.microsoft.com/office/drawing/2014/main" id="{9C29BBA0-85BF-C456-F0A8-9A6D9B7AA3E8}"/>
              </a:ext>
            </a:extLst>
          </p:cNvPr>
          <p:cNvSpPr txBox="1"/>
          <p:nvPr/>
        </p:nvSpPr>
        <p:spPr>
          <a:xfrm>
            <a:off x="4669746" y="5713986"/>
            <a:ext cx="4000591" cy="923330"/>
          </a:xfrm>
          <a:prstGeom prst="rect">
            <a:avLst/>
          </a:prstGeom>
          <a:noFill/>
        </p:spPr>
        <p:txBody>
          <a:bodyPr wrap="square">
            <a:spAutoFit/>
          </a:bodyPr>
          <a:lstStyle/>
          <a:p>
            <a:r>
              <a:rPr kumimoji="1" lang="ja-JP" altLang="en-US" dirty="0"/>
              <a:t>図　</a:t>
            </a:r>
            <a:r>
              <a:rPr lang="ja-JP" altLang="en-US" dirty="0"/>
              <a:t>ある</a:t>
            </a:r>
            <a:r>
              <a:rPr lang="en-US" altLang="ja-JP" dirty="0"/>
              <a:t>6</a:t>
            </a:r>
            <a:r>
              <a:rPr lang="ja-JP" altLang="en-US" dirty="0"/>
              <a:t>月の一日</a:t>
            </a:r>
            <a:r>
              <a:rPr kumimoji="1" lang="ja-JP" altLang="en-US" dirty="0"/>
              <a:t>におけるバッテリー残量と</a:t>
            </a:r>
            <a:r>
              <a:rPr lang="ja-JP" altLang="en-US" dirty="0"/>
              <a:t>時間単位当たりの電力単位当たりの価格</a:t>
            </a:r>
            <a:r>
              <a:rPr lang="en-US" altLang="ja-JP" dirty="0"/>
              <a:t>[</a:t>
            </a:r>
            <a:r>
              <a:rPr lang="ja-JP" altLang="en-US" dirty="0"/>
              <a:t>円</a:t>
            </a:r>
            <a:r>
              <a:rPr lang="en-US" altLang="ja-JP" dirty="0"/>
              <a:t>/t*kWh]</a:t>
            </a:r>
            <a:r>
              <a:rPr lang="ja-JP" altLang="en-US" dirty="0"/>
              <a:t>の比較</a:t>
            </a:r>
            <a:endParaRPr kumimoji="1" lang="ja-JP" altLang="en-US" dirty="0"/>
          </a:p>
        </p:txBody>
      </p:sp>
      <p:pic>
        <p:nvPicPr>
          <p:cNvPr id="1026" name="Picture 2">
            <a:extLst>
              <a:ext uri="{FF2B5EF4-FFF2-40B4-BE49-F238E27FC236}">
                <a16:creationId xmlns:a16="http://schemas.microsoft.com/office/drawing/2014/main" id="{21D5960E-736D-0A8C-9558-CED1442AC6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8" y="3313687"/>
            <a:ext cx="4572001" cy="22653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FC81A8C-65A6-155D-9826-5BC1D052F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13687"/>
            <a:ext cx="4572001" cy="22653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9FDB1A-4E85-5F93-500E-E9FF4BB31949}"/>
              </a:ext>
            </a:extLst>
          </p:cNvPr>
          <p:cNvSpPr>
            <a:spLocks noGrp="1"/>
          </p:cNvSpPr>
          <p:nvPr>
            <p:ph type="title"/>
          </p:nvPr>
        </p:nvSpPr>
        <p:spPr/>
        <p:txBody>
          <a:bodyPr/>
          <a:lstStyle/>
          <a:p>
            <a:r>
              <a:rPr kumimoji="1" lang="en-US" altLang="ja-JP" dirty="0"/>
              <a:t>1124</a:t>
            </a:r>
            <a:r>
              <a:rPr kumimoji="1" lang="ja-JP" altLang="en-US" dirty="0"/>
              <a:t>　</a:t>
            </a:r>
            <a:r>
              <a:rPr kumimoji="1" lang="en-US" altLang="ja-JP" dirty="0"/>
              <a:t>5</a:t>
            </a:r>
            <a:r>
              <a:rPr kumimoji="1" lang="ja-JP" altLang="en-US" dirty="0"/>
              <a:t>月のデータ</a:t>
            </a:r>
          </a:p>
        </p:txBody>
      </p:sp>
      <p:pic>
        <p:nvPicPr>
          <p:cNvPr id="6" name="コンテンツ プレースホルダー 5">
            <a:extLst>
              <a:ext uri="{FF2B5EF4-FFF2-40B4-BE49-F238E27FC236}">
                <a16:creationId xmlns:a16="http://schemas.microsoft.com/office/drawing/2014/main" id="{79F32555-59E5-56A0-8C73-63BB0E3D3867}"/>
              </a:ext>
            </a:extLst>
          </p:cNvPr>
          <p:cNvPicPr>
            <a:picLocks noGrp="1" noChangeAspect="1"/>
          </p:cNvPicPr>
          <p:nvPr>
            <p:ph idx="1"/>
          </p:nvPr>
        </p:nvPicPr>
        <p:blipFill>
          <a:blip r:embed="rId2"/>
          <a:stretch>
            <a:fillRect/>
          </a:stretch>
        </p:blipFill>
        <p:spPr>
          <a:xfrm>
            <a:off x="945885" y="1447252"/>
            <a:ext cx="7252229" cy="4351338"/>
          </a:xfrm>
        </p:spPr>
      </p:pic>
      <p:sp>
        <p:nvSpPr>
          <p:cNvPr id="4" name="スライド番号プレースホルダー 3">
            <a:extLst>
              <a:ext uri="{FF2B5EF4-FFF2-40B4-BE49-F238E27FC236}">
                <a16:creationId xmlns:a16="http://schemas.microsoft.com/office/drawing/2014/main" id="{5D352FFF-9864-C27D-C59A-2DE61A9456C9}"/>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7" name="テキスト ボックス 6">
            <a:extLst>
              <a:ext uri="{FF2B5EF4-FFF2-40B4-BE49-F238E27FC236}">
                <a16:creationId xmlns:a16="http://schemas.microsoft.com/office/drawing/2014/main" id="{6A18D658-6D87-C498-5F65-FDDCB3176F0C}"/>
              </a:ext>
            </a:extLst>
          </p:cNvPr>
          <p:cNvSpPr txBox="1"/>
          <p:nvPr/>
        </p:nvSpPr>
        <p:spPr>
          <a:xfrm>
            <a:off x="1141424" y="5798589"/>
            <a:ext cx="6552148" cy="646331"/>
          </a:xfrm>
          <a:prstGeom prst="rect">
            <a:avLst/>
          </a:prstGeom>
          <a:noFill/>
        </p:spPr>
        <p:txBody>
          <a:bodyPr wrap="square" rtlCol="0">
            <a:spAutoFit/>
          </a:bodyPr>
          <a:lstStyle/>
          <a:p>
            <a:r>
              <a:rPr kumimoji="1" lang="ja-JP" altLang="en-US" dirty="0"/>
              <a:t>図　</a:t>
            </a:r>
            <a:r>
              <a:rPr kumimoji="1" lang="en-US" altLang="ja-JP" dirty="0"/>
              <a:t>5</a:t>
            </a:r>
            <a:r>
              <a:rPr kumimoji="1" lang="ja-JP" altLang="en-US" dirty="0"/>
              <a:t>月におけるバッテリー残量と</a:t>
            </a:r>
            <a:r>
              <a:rPr lang="ja-JP" altLang="en-US" dirty="0"/>
              <a:t>時間単位当たりの電力単位当たりの価格</a:t>
            </a:r>
            <a:r>
              <a:rPr lang="en-US" altLang="ja-JP" dirty="0"/>
              <a:t>[</a:t>
            </a:r>
            <a:r>
              <a:rPr lang="ja-JP" altLang="en-US" dirty="0"/>
              <a:t>円</a:t>
            </a:r>
            <a:r>
              <a:rPr lang="en-US" altLang="ja-JP" dirty="0"/>
              <a:t>/t*kWh]</a:t>
            </a:r>
            <a:r>
              <a:rPr lang="ja-JP" altLang="en-US" dirty="0"/>
              <a:t>の比較</a:t>
            </a:r>
            <a:endParaRPr kumimoji="1" lang="ja-JP" altLang="en-US" dirty="0"/>
          </a:p>
        </p:txBody>
      </p:sp>
    </p:spTree>
    <p:extLst>
      <p:ext uri="{BB962C8B-B14F-4D97-AF65-F5344CB8AC3E}">
        <p14:creationId xmlns:p14="http://schemas.microsoft.com/office/powerpoint/2010/main" val="1859497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155CFD-63B4-5F0E-B39F-AF01BB233C81}"/>
              </a:ext>
            </a:extLst>
          </p:cNvPr>
          <p:cNvSpPr>
            <a:spLocks noGrp="1"/>
          </p:cNvSpPr>
          <p:nvPr>
            <p:ph type="title"/>
          </p:nvPr>
        </p:nvSpPr>
        <p:spPr/>
        <p:txBody>
          <a:bodyPr/>
          <a:lstStyle/>
          <a:p>
            <a:r>
              <a:rPr kumimoji="1" lang="en-US" altLang="ja-JP" dirty="0"/>
              <a:t>1124</a:t>
            </a:r>
            <a:r>
              <a:rPr kumimoji="1" lang="ja-JP" altLang="en-US" dirty="0"/>
              <a:t>　</a:t>
            </a:r>
            <a:r>
              <a:rPr kumimoji="1" lang="en-US" altLang="ja-JP" dirty="0"/>
              <a:t>6</a:t>
            </a:r>
            <a:r>
              <a:rPr kumimoji="1" lang="ja-JP" altLang="en-US" dirty="0"/>
              <a:t>月のデータ</a:t>
            </a:r>
          </a:p>
        </p:txBody>
      </p:sp>
      <p:pic>
        <p:nvPicPr>
          <p:cNvPr id="8" name="コンテンツ プレースホルダー 7">
            <a:extLst>
              <a:ext uri="{FF2B5EF4-FFF2-40B4-BE49-F238E27FC236}">
                <a16:creationId xmlns:a16="http://schemas.microsoft.com/office/drawing/2014/main" id="{94AD4EFA-B7F3-1E11-1AB4-5DCF263B4DDC}"/>
              </a:ext>
            </a:extLst>
          </p:cNvPr>
          <p:cNvPicPr>
            <a:picLocks noGrp="1" noChangeAspect="1"/>
          </p:cNvPicPr>
          <p:nvPr>
            <p:ph idx="1"/>
          </p:nvPr>
        </p:nvPicPr>
        <p:blipFill>
          <a:blip r:embed="rId2"/>
          <a:stretch>
            <a:fillRect/>
          </a:stretch>
        </p:blipFill>
        <p:spPr>
          <a:xfrm>
            <a:off x="945885" y="1825625"/>
            <a:ext cx="7252229" cy="4351338"/>
          </a:xfrm>
        </p:spPr>
      </p:pic>
      <p:sp>
        <p:nvSpPr>
          <p:cNvPr id="4" name="スライド番号プレースホルダー 3">
            <a:extLst>
              <a:ext uri="{FF2B5EF4-FFF2-40B4-BE49-F238E27FC236}">
                <a16:creationId xmlns:a16="http://schemas.microsoft.com/office/drawing/2014/main" id="{DFF33B97-50DA-FC89-4755-884B77241420}"/>
              </a:ext>
            </a:extLst>
          </p:cNvPr>
          <p:cNvSpPr>
            <a:spLocks noGrp="1"/>
          </p:cNvSpPr>
          <p:nvPr>
            <p:ph type="sldNum" sz="quarter" idx="12"/>
          </p:nvPr>
        </p:nvSpPr>
        <p:spPr/>
        <p:txBody>
          <a:bodyPr/>
          <a:lstStyle/>
          <a:p>
            <a:fld id="{C1FF6DA9-008F-8B48-92A6-B652298478BF}" type="slidenum">
              <a:rPr lang="en-US" smtClean="0"/>
              <a:t>17</a:t>
            </a:fld>
            <a:endParaRPr lang="en-US"/>
          </a:p>
        </p:txBody>
      </p:sp>
      <p:sp>
        <p:nvSpPr>
          <p:cNvPr id="6" name="テキスト ボックス 5">
            <a:extLst>
              <a:ext uri="{FF2B5EF4-FFF2-40B4-BE49-F238E27FC236}">
                <a16:creationId xmlns:a16="http://schemas.microsoft.com/office/drawing/2014/main" id="{96056C5F-ADCF-3511-7F3A-AE7F072CC336}"/>
              </a:ext>
            </a:extLst>
          </p:cNvPr>
          <p:cNvSpPr txBox="1"/>
          <p:nvPr/>
        </p:nvSpPr>
        <p:spPr>
          <a:xfrm>
            <a:off x="1039341" y="6075145"/>
            <a:ext cx="7476009" cy="646331"/>
          </a:xfrm>
          <a:prstGeom prst="rect">
            <a:avLst/>
          </a:prstGeom>
          <a:noFill/>
        </p:spPr>
        <p:txBody>
          <a:bodyPr wrap="square">
            <a:spAutoFit/>
          </a:bodyPr>
          <a:lstStyle/>
          <a:p>
            <a:r>
              <a:rPr kumimoji="1" lang="ja-JP" altLang="en-US" dirty="0"/>
              <a:t>図　</a:t>
            </a:r>
            <a:r>
              <a:rPr lang="en-US" altLang="ja-JP" dirty="0"/>
              <a:t>6</a:t>
            </a:r>
            <a:r>
              <a:rPr kumimoji="1" lang="ja-JP" altLang="en-US" dirty="0"/>
              <a:t>月におけるバッテリー残量と</a:t>
            </a:r>
            <a:r>
              <a:rPr lang="ja-JP" altLang="en-US" dirty="0"/>
              <a:t>時間単位当たりの電力単位当たりの価格</a:t>
            </a:r>
            <a:r>
              <a:rPr lang="en-US" altLang="ja-JP" dirty="0"/>
              <a:t>[</a:t>
            </a:r>
            <a:r>
              <a:rPr lang="ja-JP" altLang="en-US" dirty="0"/>
              <a:t>円</a:t>
            </a:r>
            <a:r>
              <a:rPr lang="en-US" altLang="ja-JP" dirty="0"/>
              <a:t>/t*kWh]</a:t>
            </a:r>
            <a:r>
              <a:rPr lang="ja-JP" altLang="en-US" dirty="0"/>
              <a:t>の比較</a:t>
            </a:r>
            <a:endParaRPr kumimoji="1" lang="ja-JP" altLang="en-US" dirty="0"/>
          </a:p>
        </p:txBody>
      </p:sp>
    </p:spTree>
    <p:extLst>
      <p:ext uri="{BB962C8B-B14F-4D97-AF65-F5344CB8AC3E}">
        <p14:creationId xmlns:p14="http://schemas.microsoft.com/office/powerpoint/2010/main" val="3395653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FE390D3-CD1A-0F1A-836B-39F8A116AD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2B8379-0CBE-5701-7111-6FDBFD9E42F4}"/>
              </a:ext>
            </a:extLst>
          </p:cNvPr>
          <p:cNvSpPr>
            <a:spLocks noGrp="1"/>
          </p:cNvSpPr>
          <p:nvPr>
            <p:ph type="title"/>
          </p:nvPr>
        </p:nvSpPr>
        <p:spPr/>
        <p:txBody>
          <a:bodyPr/>
          <a:lstStyle/>
          <a:p>
            <a:r>
              <a:rPr lang="ja-JP" altLang="en-US" dirty="0"/>
              <a:t>目的関数値のグラフ</a:t>
            </a:r>
            <a:endParaRPr kumimoji="1" lang="ja-JP" altLang="en-US" dirty="0"/>
          </a:p>
        </p:txBody>
      </p:sp>
      <p:sp>
        <p:nvSpPr>
          <p:cNvPr id="4" name="スライド番号プレースホルダー 3">
            <a:extLst>
              <a:ext uri="{FF2B5EF4-FFF2-40B4-BE49-F238E27FC236}">
                <a16:creationId xmlns:a16="http://schemas.microsoft.com/office/drawing/2014/main" id="{E4B8B787-402C-91BE-4C19-C76AE515965E}"/>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3" name="テキスト ボックス 2">
            <a:extLst>
              <a:ext uri="{FF2B5EF4-FFF2-40B4-BE49-F238E27FC236}">
                <a16:creationId xmlns:a16="http://schemas.microsoft.com/office/drawing/2014/main" id="{A51ED264-5E17-B243-3FDC-9F56B5ED145C}"/>
              </a:ext>
            </a:extLst>
          </p:cNvPr>
          <p:cNvSpPr txBox="1"/>
          <p:nvPr/>
        </p:nvSpPr>
        <p:spPr>
          <a:xfrm>
            <a:off x="964850" y="5464549"/>
            <a:ext cx="4395426" cy="646331"/>
          </a:xfrm>
          <a:prstGeom prst="rect">
            <a:avLst/>
          </a:prstGeom>
          <a:noFill/>
        </p:spPr>
        <p:txBody>
          <a:bodyPr wrap="square" rtlCol="0">
            <a:spAutoFit/>
          </a:bodyPr>
          <a:lstStyle/>
          <a:p>
            <a:r>
              <a:rPr kumimoji="1" lang="ja-JP" altLang="en-US" dirty="0"/>
              <a:t>図　</a:t>
            </a:r>
            <a:r>
              <a:rPr lang="en-US" altLang="ja-JP" dirty="0"/>
              <a:t>5</a:t>
            </a:r>
            <a:r>
              <a:rPr kumimoji="1" lang="ja-JP" altLang="en-US" dirty="0"/>
              <a:t>月における時間ごとの目的関数値の割合</a:t>
            </a:r>
          </a:p>
        </p:txBody>
      </p:sp>
      <p:pic>
        <p:nvPicPr>
          <p:cNvPr id="4098" name="Picture 2">
            <a:extLst>
              <a:ext uri="{FF2B5EF4-FFF2-40B4-BE49-F238E27FC236}">
                <a16:creationId xmlns:a16="http://schemas.microsoft.com/office/drawing/2014/main" id="{31061F15-501B-36E3-C0BF-E0F2CA02179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2538038"/>
            <a:ext cx="7886700" cy="2926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633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D80F10-F81D-39C7-50FD-552EAE43B5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4A21BD-B134-2257-123C-53D9960E7467}"/>
              </a:ext>
            </a:extLst>
          </p:cNvPr>
          <p:cNvSpPr>
            <a:spLocks noGrp="1"/>
          </p:cNvSpPr>
          <p:nvPr>
            <p:ph type="title"/>
          </p:nvPr>
        </p:nvSpPr>
        <p:spPr/>
        <p:txBody>
          <a:bodyPr/>
          <a:lstStyle/>
          <a:p>
            <a:r>
              <a:rPr lang="ja-JP" altLang="en-US" dirty="0"/>
              <a:t>目的関数値のグラフ</a:t>
            </a:r>
            <a:endParaRPr kumimoji="1" lang="ja-JP" altLang="en-US" dirty="0"/>
          </a:p>
        </p:txBody>
      </p:sp>
      <p:sp>
        <p:nvSpPr>
          <p:cNvPr id="4" name="スライド番号プレースホルダー 3">
            <a:extLst>
              <a:ext uri="{FF2B5EF4-FFF2-40B4-BE49-F238E27FC236}">
                <a16:creationId xmlns:a16="http://schemas.microsoft.com/office/drawing/2014/main" id="{3E928222-5A29-94BD-6BEE-C138E5157677}"/>
              </a:ext>
            </a:extLst>
          </p:cNvPr>
          <p:cNvSpPr>
            <a:spLocks noGrp="1"/>
          </p:cNvSpPr>
          <p:nvPr>
            <p:ph type="sldNum" sz="quarter" idx="12"/>
          </p:nvPr>
        </p:nvSpPr>
        <p:spPr/>
        <p:txBody>
          <a:bodyPr/>
          <a:lstStyle/>
          <a:p>
            <a:fld id="{C1FF6DA9-008F-8B48-92A6-B652298478BF}" type="slidenum">
              <a:rPr lang="en-US" smtClean="0"/>
              <a:t>19</a:t>
            </a:fld>
            <a:endParaRPr lang="en-US"/>
          </a:p>
        </p:txBody>
      </p:sp>
      <p:pic>
        <p:nvPicPr>
          <p:cNvPr id="2050" name="Picture 2">
            <a:extLst>
              <a:ext uri="{FF2B5EF4-FFF2-40B4-BE49-F238E27FC236}">
                <a16:creationId xmlns:a16="http://schemas.microsoft.com/office/drawing/2014/main" id="{37FF8D4B-278D-BCEA-0ABA-97494271E0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2538038"/>
            <a:ext cx="7886700" cy="2926511"/>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4A8702B1-95B5-8A0F-3364-ACC08CBD5778}"/>
              </a:ext>
            </a:extLst>
          </p:cNvPr>
          <p:cNvSpPr txBox="1"/>
          <p:nvPr/>
        </p:nvSpPr>
        <p:spPr>
          <a:xfrm>
            <a:off x="964850" y="5464549"/>
            <a:ext cx="4395426" cy="646331"/>
          </a:xfrm>
          <a:prstGeom prst="rect">
            <a:avLst/>
          </a:prstGeom>
          <a:noFill/>
        </p:spPr>
        <p:txBody>
          <a:bodyPr wrap="square" rtlCol="0">
            <a:spAutoFit/>
          </a:bodyPr>
          <a:lstStyle/>
          <a:p>
            <a:r>
              <a:rPr kumimoji="1" lang="ja-JP" altLang="en-US" dirty="0"/>
              <a:t>図　</a:t>
            </a:r>
            <a:r>
              <a:rPr kumimoji="1" lang="en-US" altLang="ja-JP" dirty="0"/>
              <a:t>6</a:t>
            </a:r>
            <a:r>
              <a:rPr kumimoji="1" lang="ja-JP" altLang="en-US" dirty="0"/>
              <a:t>月における時間ごとの目的関数値の割合</a:t>
            </a:r>
          </a:p>
        </p:txBody>
      </p:sp>
    </p:spTree>
    <p:extLst>
      <p:ext uri="{BB962C8B-B14F-4D97-AF65-F5344CB8AC3E}">
        <p14:creationId xmlns:p14="http://schemas.microsoft.com/office/powerpoint/2010/main" val="3347056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考察</a:t>
            </a:r>
            <a:br>
              <a:rPr lang="en-US" altLang="ja-JP" dirty="0"/>
            </a:br>
            <a:endParaRPr dirty="0"/>
          </a:p>
        </p:txBody>
      </p:sp>
      <p:sp>
        <p:nvSpPr>
          <p:cNvPr id="3" name="Content Placeholder 2"/>
          <p:cNvSpPr>
            <a:spLocks noGrp="1"/>
          </p:cNvSpPr>
          <p:nvPr>
            <p:ph idx="1"/>
          </p:nvPr>
        </p:nvSpPr>
        <p:spPr/>
        <p:txBody>
          <a:bodyPr/>
          <a:lstStyle/>
          <a:p>
            <a:endParaRPr lang="ja-JP" altLang="en-US" dirty="0"/>
          </a:p>
          <a:p>
            <a:r>
              <a:rPr lang="ja-JP" altLang="en-US" dirty="0"/>
              <a:t>充放電スケジュールが価格変動と一致</a:t>
            </a:r>
          </a:p>
          <a:p>
            <a:r>
              <a:rPr lang="ja-JP" altLang="en-US" dirty="0"/>
              <a:t>容量制約を満たしつつコスト最小化達成</a:t>
            </a:r>
            <a:endParaRPr lang="en-US" altLang="ja-JP" dirty="0"/>
          </a:p>
          <a:p>
            <a:pPr marL="0" indent="0">
              <a:buNone/>
            </a:pPr>
            <a:endParaRPr lang="ja-JP" altLang="en-US" dirty="0">
              <a:highlight>
                <a:srgbClr val="FFFF00"/>
              </a:highlight>
            </a:endParaRPr>
          </a:p>
          <a:p>
            <a:endParaRPr dirty="0"/>
          </a:p>
        </p:txBody>
      </p:sp>
      <p:sp>
        <p:nvSpPr>
          <p:cNvPr id="4" name="スライド番号プレースホルダー 3">
            <a:extLst>
              <a:ext uri="{FF2B5EF4-FFF2-40B4-BE49-F238E27FC236}">
                <a16:creationId xmlns:a16="http://schemas.microsoft.com/office/drawing/2014/main" id="{9ECA8AD5-4B55-99E3-F11A-A73BC15B65CC}"/>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研究の貢献</a:t>
            </a:r>
            <a:endParaRPr dirty="0"/>
          </a:p>
        </p:txBody>
      </p:sp>
      <p:sp>
        <p:nvSpPr>
          <p:cNvPr id="3" name="Content Placeholder 2"/>
          <p:cNvSpPr>
            <a:spLocks noGrp="1"/>
          </p:cNvSpPr>
          <p:nvPr>
            <p:ph idx="1"/>
          </p:nvPr>
        </p:nvSpPr>
        <p:spPr/>
        <p:txBody>
          <a:bodyPr>
            <a:normAutofit/>
          </a:bodyPr>
          <a:lstStyle/>
          <a:p>
            <a:endParaRPr lang="ja-JP" altLang="en-US" dirty="0"/>
          </a:p>
          <a:p>
            <a:r>
              <a:rPr lang="ja-JP" altLang="en-US" dirty="0"/>
              <a:t>既存の理論モデルを実用的な最適化構造に拡張</a:t>
            </a:r>
          </a:p>
          <a:p>
            <a:r>
              <a:rPr lang="ja-JP" altLang="en-US" dirty="0"/>
              <a:t>複数のバイナリ変数による動作モード制御を実装</a:t>
            </a:r>
          </a:p>
          <a:p>
            <a:r>
              <a:rPr lang="ja-JP" altLang="en-US" dirty="0"/>
              <a:t>整合性チェックによるモデル信頼性の確認</a:t>
            </a:r>
          </a:p>
          <a:p>
            <a:r>
              <a:rPr lang="ja-JP" altLang="en-US" dirty="0"/>
              <a:t>今後の応用可能性：電力市場、マイクログリッド運用、再生可能エネルギーへの統合</a:t>
            </a:r>
          </a:p>
          <a:p>
            <a:endParaRPr dirty="0"/>
          </a:p>
        </p:txBody>
      </p:sp>
      <p:sp>
        <p:nvSpPr>
          <p:cNvPr id="4" name="スライド番号プレースホルダー 3">
            <a:extLst>
              <a:ext uri="{FF2B5EF4-FFF2-40B4-BE49-F238E27FC236}">
                <a16:creationId xmlns:a16="http://schemas.microsoft.com/office/drawing/2014/main" id="{E07F0ED3-9F2D-F85B-3401-7C2565483FAE}"/>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まとめ</a:t>
            </a:r>
            <a:br>
              <a:rPr lang="en-US" altLang="ja-JP" dirty="0"/>
            </a:br>
            <a:endParaRPr dirty="0"/>
          </a:p>
        </p:txBody>
      </p:sp>
      <p:sp>
        <p:nvSpPr>
          <p:cNvPr id="3" name="Content Placeholder 2"/>
          <p:cNvSpPr>
            <a:spLocks noGrp="1"/>
          </p:cNvSpPr>
          <p:nvPr>
            <p:ph idx="1"/>
          </p:nvPr>
        </p:nvSpPr>
        <p:spPr/>
        <p:txBody>
          <a:bodyPr>
            <a:normAutofit/>
          </a:bodyPr>
          <a:lstStyle/>
          <a:p>
            <a:endParaRPr lang="ja-JP" altLang="en-US" dirty="0"/>
          </a:p>
          <a:p>
            <a:r>
              <a:rPr lang="ja-JP" altLang="en-US" dirty="0"/>
              <a:t>電力価格変動とバッテリー制約を考慮した合理的スケジュールを生成</a:t>
            </a:r>
          </a:p>
          <a:p>
            <a:r>
              <a:rPr lang="ja-JP" altLang="en-US" dirty="0"/>
              <a:t>ピーク時放電・安価時充電という最適戦略を確認</a:t>
            </a:r>
          </a:p>
          <a:p>
            <a:r>
              <a:rPr lang="ja-JP" altLang="en-US" dirty="0"/>
              <a:t>劣化コストを含む長期的運用コスト低減を実現</a:t>
            </a:r>
          </a:p>
          <a:p>
            <a:r>
              <a:rPr lang="ja-JP" altLang="en-US" dirty="0"/>
              <a:t>今後：劣化モデル精緻化、需要予測・天候データ統合、</a:t>
            </a:r>
            <a:r>
              <a:rPr lang="en-US" altLang="ja-JP" dirty="0"/>
              <a:t>GUI</a:t>
            </a:r>
            <a:r>
              <a:rPr lang="ja-JP" altLang="en-US" dirty="0"/>
              <a:t>化など</a:t>
            </a:r>
          </a:p>
          <a:p>
            <a:endParaRPr dirty="0"/>
          </a:p>
        </p:txBody>
      </p:sp>
      <p:sp>
        <p:nvSpPr>
          <p:cNvPr id="4" name="スライド番号プレースホルダー 3">
            <a:extLst>
              <a:ext uri="{FF2B5EF4-FFF2-40B4-BE49-F238E27FC236}">
                <a16:creationId xmlns:a16="http://schemas.microsoft.com/office/drawing/2014/main" id="{4FB9554D-AD53-36C2-A62A-4F4BFD6AD1C5}"/>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想定質問</a:t>
            </a:r>
          </a:p>
        </p:txBody>
      </p:sp>
      <p:sp>
        <p:nvSpPr>
          <p:cNvPr id="3" name="Content Placeholder 2"/>
          <p:cNvSpPr>
            <a:spLocks noGrp="1"/>
          </p:cNvSpPr>
          <p:nvPr>
            <p:ph idx="1"/>
          </p:nvPr>
        </p:nvSpPr>
        <p:spPr/>
        <p:txBody>
          <a:bodyPr/>
          <a:lstStyle/>
          <a:p>
            <a:endParaRPr/>
          </a:p>
          <a:p>
            <a:r>
              <a:t>なぜGurobi？ → MILPが得意で柔軟</a:t>
            </a:r>
          </a:p>
          <a:p>
            <a:r>
              <a:t>結果の妥当性？ → 価格・容量整合性で確認</a:t>
            </a:r>
          </a:p>
          <a:p>
            <a:r>
              <a:t>今後の展望？ → 実データと比較予定</a:t>
            </a:r>
          </a:p>
        </p:txBody>
      </p:sp>
      <p:sp>
        <p:nvSpPr>
          <p:cNvPr id="4" name="スライド番号プレースホルダー 3">
            <a:extLst>
              <a:ext uri="{FF2B5EF4-FFF2-40B4-BE49-F238E27FC236}">
                <a16:creationId xmlns:a16="http://schemas.microsoft.com/office/drawing/2014/main" id="{83A90295-1A75-8B13-B58D-9220D0D85CAE}"/>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27780</TotalTime>
  <Words>1290</Words>
  <Application>Microsoft Office PowerPoint</Application>
  <PresentationFormat>画面に合わせる (4:3)</PresentationFormat>
  <Paragraphs>167</Paragraphs>
  <Slides>23</Slides>
  <Notes>0</Notes>
  <HiddenSlides>6</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游ゴシック</vt:lpstr>
      <vt:lpstr>游ゴシック Light</vt:lpstr>
      <vt:lpstr>Arial</vt:lpstr>
      <vt:lpstr>Cambria Math</vt:lpstr>
      <vt:lpstr>Office テーマ</vt:lpstr>
      <vt:lpstr>PowerPoint プレゼンテーション</vt:lpstr>
      <vt:lpstr>目次 </vt:lpstr>
      <vt:lpstr>研究背景</vt:lpstr>
      <vt:lpstr>研究目的</vt:lpstr>
      <vt:lpstr>モデル概要</vt:lpstr>
      <vt:lpstr>ピースワイズ線形化とは</vt:lpstr>
      <vt:lpstr>PowerPoint プレゼンテーション</vt:lpstr>
      <vt:lpstr>目的関数</vt:lpstr>
      <vt:lpstr>目的関数</vt:lpstr>
      <vt:lpstr>制約 </vt:lpstr>
      <vt:lpstr>制約</vt:lpstr>
      <vt:lpstr>制約</vt:lpstr>
      <vt:lpstr>運用制約</vt:lpstr>
      <vt:lpstr>シミュレーション条件</vt:lpstr>
      <vt:lpstr>結果</vt:lpstr>
      <vt:lpstr>1124　5月のデータ</vt:lpstr>
      <vt:lpstr>1124　6月のデータ</vt:lpstr>
      <vt:lpstr>目的関数値のグラフ</vt:lpstr>
      <vt:lpstr>目的関数値のグラフ</vt:lpstr>
      <vt:lpstr>考察 </vt:lpstr>
      <vt:lpstr>研究の貢献</vt:lpstr>
      <vt:lpstr>まとめ </vt:lpstr>
      <vt:lpstr>想定質問</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kitn</dc:creator>
  <cp:keywords/>
  <dc:description>generated using python-pptx</dc:description>
  <cp:lastModifiedBy>kitn.lzh →</cp:lastModifiedBy>
  <cp:revision>36</cp:revision>
  <dcterms:created xsi:type="dcterms:W3CDTF">2013-01-27T09:14:16Z</dcterms:created>
  <dcterms:modified xsi:type="dcterms:W3CDTF">2026-01-29T16:39:32Z</dcterms:modified>
  <cp:category/>
</cp:coreProperties>
</file>