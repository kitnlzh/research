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8" r:id="rId12"/>
    <p:sldId id="272" r:id="rId13"/>
    <p:sldId id="270" r:id="rId14"/>
    <p:sldId id="271" r:id="rId15"/>
    <p:sldId id="267" r:id="rId16"/>
    <p:sldId id="269"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54" d="100"/>
          <a:sy n="54" d="100"/>
        </p:scale>
        <p:origin x="45" y="6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D2D1EC-FFAF-7D16-456D-78F25DD5ABC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D667B86-555A-02C0-0FB7-3705F8D7BD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463D5CE-46EB-8295-5488-10FF25746C6B}"/>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5" name="フッター プレースホルダー 4">
            <a:extLst>
              <a:ext uri="{FF2B5EF4-FFF2-40B4-BE49-F238E27FC236}">
                <a16:creationId xmlns:a16="http://schemas.microsoft.com/office/drawing/2014/main" id="{CA5778AA-58C0-1559-4AC5-FBAACD46B14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F6CDDB-F8E6-A609-709F-64181984EC6D}"/>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1672762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634488-3E19-EE5D-7BEB-15E5D5BD7AC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4B02FB-928A-CE49-9145-CAF9CFF73DA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6059D6A-1BD6-C727-45B1-FC0D9F0BA792}"/>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5" name="フッター プレースホルダー 4">
            <a:extLst>
              <a:ext uri="{FF2B5EF4-FFF2-40B4-BE49-F238E27FC236}">
                <a16:creationId xmlns:a16="http://schemas.microsoft.com/office/drawing/2014/main" id="{1B78CEC2-EFF8-3C01-9C33-CBEB27F88C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300A40-23E2-047D-28CD-9B681F7F32D7}"/>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1468658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6B32CA-F7DE-4C0C-8838-1651D9C67FC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46F28A0-5212-8D94-251F-961B74A28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860CB10-CB17-0245-2F07-C87FBA9D2674}"/>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5" name="フッター プレースホルダー 4">
            <a:extLst>
              <a:ext uri="{FF2B5EF4-FFF2-40B4-BE49-F238E27FC236}">
                <a16:creationId xmlns:a16="http://schemas.microsoft.com/office/drawing/2014/main" id="{0CE63000-4844-F486-03C7-6898A9AA8DC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633D3E7-3533-3D3E-0C83-9BB942FD5B88}"/>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13675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C968EE-FA77-9468-F03B-4982ED5725B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FBCAAD-448B-ABD3-696C-B0AACD46F75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12F625D-85E4-117B-9677-9A46A0E4DBB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844E9B6-4C9B-B463-4B8B-99D4252D1644}"/>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6" name="フッター プレースホルダー 5">
            <a:extLst>
              <a:ext uri="{FF2B5EF4-FFF2-40B4-BE49-F238E27FC236}">
                <a16:creationId xmlns:a16="http://schemas.microsoft.com/office/drawing/2014/main" id="{E13F59FD-D776-58E2-8349-298D99E58FE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3025BD3-9618-D11F-806A-16A4BF4E567F}"/>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2096669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2C1C1E-157A-F2E0-C9DA-B7CB382FD29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DBCEC00-0C9C-53FD-8E65-4307EDF977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31DFF2D-3540-BA52-4883-D9145EFF2E5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CDB3C64-AAFA-2167-E906-76A2C815F8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7B1B8CF-5219-02EF-B271-A3D15268143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3BB782-D4C0-BE03-FA0B-64100F194514}"/>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8" name="フッター プレースホルダー 7">
            <a:extLst>
              <a:ext uri="{FF2B5EF4-FFF2-40B4-BE49-F238E27FC236}">
                <a16:creationId xmlns:a16="http://schemas.microsoft.com/office/drawing/2014/main" id="{D40637CE-26B6-724E-B292-5ECCE168BBB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B390013-9179-AD09-60C5-927495E6EA8C}"/>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3252000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258910-2080-1069-5E28-88DF81DEC2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1ED9E6F-0F1A-88E8-E4D8-FD3A37F8D885}"/>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4" name="フッター プレースホルダー 3">
            <a:extLst>
              <a:ext uri="{FF2B5EF4-FFF2-40B4-BE49-F238E27FC236}">
                <a16:creationId xmlns:a16="http://schemas.microsoft.com/office/drawing/2014/main" id="{FAD4E7AC-C394-ECC6-1FEF-F72A67744DE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A667C9F-D1B1-84B6-ACB1-B2939EA603E6}"/>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1480280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D7B9474-8930-13CD-7701-3488E1F9251B}"/>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3" name="フッター プレースホルダー 2">
            <a:extLst>
              <a:ext uri="{FF2B5EF4-FFF2-40B4-BE49-F238E27FC236}">
                <a16:creationId xmlns:a16="http://schemas.microsoft.com/office/drawing/2014/main" id="{3DA8D746-DD83-33F5-CA04-49BE550E7E9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7392F16-3FA8-BB24-CD6D-8A28642BF918}"/>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539242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12AF8C-4BE8-4229-EDD9-99F14DBF74F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C2EA758-078C-E78A-06B7-624CB6DF8F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BAD61CF-74BB-5974-C644-7A0A11648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830558-6672-3174-EEF8-D19E78BF80ED}"/>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6" name="フッター プレースホルダー 5">
            <a:extLst>
              <a:ext uri="{FF2B5EF4-FFF2-40B4-BE49-F238E27FC236}">
                <a16:creationId xmlns:a16="http://schemas.microsoft.com/office/drawing/2014/main" id="{B7D18D68-A3A7-5E95-2E8E-7E6C10AA1B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01EEB1E-1B30-6921-162E-B7278E606292}"/>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2266697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C92C8D-94FB-54FD-9102-4428DB81F4F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18F3B10-E5EC-F67A-FAF7-8A1D5E95E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8E598CE-D8A2-DD2D-488E-3F60577AC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CB77665-8618-1CF1-1AA6-E3C3CF758EFE}"/>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6" name="フッター プレースホルダー 5">
            <a:extLst>
              <a:ext uri="{FF2B5EF4-FFF2-40B4-BE49-F238E27FC236}">
                <a16:creationId xmlns:a16="http://schemas.microsoft.com/office/drawing/2014/main" id="{065F5BCF-02EE-5D7A-DBF3-DF9A62718F1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EA3D274-1A41-328F-B36D-8DEC3471FE3B}"/>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64790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81C1E0-12B4-1052-6404-C6BDE8C51F1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D355911-1C12-52B0-6E18-72746AA847B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AC1CD9E-1093-37E8-975E-32B12354A6FF}"/>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5" name="フッター プレースホルダー 4">
            <a:extLst>
              <a:ext uri="{FF2B5EF4-FFF2-40B4-BE49-F238E27FC236}">
                <a16:creationId xmlns:a16="http://schemas.microsoft.com/office/drawing/2014/main" id="{3486B31C-2145-3B3F-307F-1BA9A51273B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E3F9498-F83C-7D1F-ED34-2D4F05270776}"/>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2271997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F3261B5-B16F-8DC6-981B-3E8C0C92A08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0955D6-9D3B-78B9-95A6-1C83836C627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B67F9A1-49A1-699A-BF1B-74AC1E2F048E}"/>
              </a:ext>
            </a:extLst>
          </p:cNvPr>
          <p:cNvSpPr>
            <a:spLocks noGrp="1"/>
          </p:cNvSpPr>
          <p:nvPr>
            <p:ph type="dt" sz="half" idx="10"/>
          </p:nvPr>
        </p:nvSpPr>
        <p:spPr/>
        <p:txBody>
          <a:bodyPr/>
          <a:lstStyle/>
          <a:p>
            <a:fld id="{46935E45-226C-4398-844B-BCCCEAE8A808}" type="datetimeFigureOut">
              <a:rPr kumimoji="1" lang="ja-JP" altLang="en-US" smtClean="0"/>
              <a:t>2025/12/12</a:t>
            </a:fld>
            <a:endParaRPr kumimoji="1" lang="ja-JP" altLang="en-US"/>
          </a:p>
        </p:txBody>
      </p:sp>
      <p:sp>
        <p:nvSpPr>
          <p:cNvPr id="5" name="フッター プレースホルダー 4">
            <a:extLst>
              <a:ext uri="{FF2B5EF4-FFF2-40B4-BE49-F238E27FC236}">
                <a16:creationId xmlns:a16="http://schemas.microsoft.com/office/drawing/2014/main" id="{9626FC51-6482-0166-3293-B397CEAF39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54B2439-CE24-15B1-9EBB-C17D592A5843}"/>
              </a:ext>
            </a:extLst>
          </p:cNvPr>
          <p:cNvSpPr>
            <a:spLocks noGrp="1"/>
          </p:cNvSpPr>
          <p:nvPr>
            <p:ph type="sldNum" sz="quarter" idx="12"/>
          </p:nvPr>
        </p:nvSpPr>
        <p:spPr/>
        <p:txBody>
          <a:body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4023120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BA25EC9-BD4B-D528-0D03-94DDEA2BC6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F7511DD-4496-9C32-5292-DCFBB6B2A8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017F86-0751-111F-48EF-987F143EB6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935E45-226C-4398-844B-BCCCEAE8A808}" type="datetimeFigureOut">
              <a:rPr kumimoji="1" lang="ja-JP" altLang="en-US" smtClean="0"/>
              <a:t>2025/12/12</a:t>
            </a:fld>
            <a:endParaRPr kumimoji="1" lang="ja-JP" altLang="en-US"/>
          </a:p>
        </p:txBody>
      </p:sp>
      <p:sp>
        <p:nvSpPr>
          <p:cNvPr id="5" name="フッター プレースホルダー 4">
            <a:extLst>
              <a:ext uri="{FF2B5EF4-FFF2-40B4-BE49-F238E27FC236}">
                <a16:creationId xmlns:a16="http://schemas.microsoft.com/office/drawing/2014/main" id="{D62CC9DA-0FCD-B84D-D613-45B2D2A71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1F2B602-19C8-92A7-511D-6A6577ADA7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2F22F6-D07A-4E3C-9FFB-AA347D288CE8}" type="slidenum">
              <a:rPr kumimoji="1" lang="ja-JP" altLang="en-US" smtClean="0"/>
              <a:t>‹#›</a:t>
            </a:fld>
            <a:endParaRPr kumimoji="1" lang="ja-JP" altLang="en-US"/>
          </a:p>
        </p:txBody>
      </p:sp>
    </p:spTree>
    <p:extLst>
      <p:ext uri="{BB962C8B-B14F-4D97-AF65-F5344CB8AC3E}">
        <p14:creationId xmlns:p14="http://schemas.microsoft.com/office/powerpoint/2010/main" val="4130964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217C13-1F9F-E580-8EDD-3700F321933D}"/>
              </a:ext>
            </a:extLst>
          </p:cNvPr>
          <p:cNvSpPr>
            <a:spLocks noGrp="1"/>
          </p:cNvSpPr>
          <p:nvPr>
            <p:ph type="ctrTitle"/>
          </p:nvPr>
        </p:nvSpPr>
        <p:spPr/>
        <p:txBody>
          <a:bodyPr/>
          <a:lstStyle/>
          <a:p>
            <a:r>
              <a:rPr kumimoji="1" lang="en-US" altLang="ja-JP" dirty="0"/>
              <a:t>1201</a:t>
            </a:r>
            <a:endParaRPr kumimoji="1" lang="ja-JP" altLang="en-US" dirty="0"/>
          </a:p>
        </p:txBody>
      </p:sp>
      <p:sp>
        <p:nvSpPr>
          <p:cNvPr id="3" name="字幕 2">
            <a:extLst>
              <a:ext uri="{FF2B5EF4-FFF2-40B4-BE49-F238E27FC236}">
                <a16:creationId xmlns:a16="http://schemas.microsoft.com/office/drawing/2014/main" id="{01CF4916-FBD5-E133-CF1B-AB816FE644A5}"/>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3109981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19C924-5CF7-4561-5FCA-78D2C1A6931D}"/>
              </a:ext>
            </a:extLst>
          </p:cNvPr>
          <p:cNvSpPr>
            <a:spLocks noGrp="1"/>
          </p:cNvSpPr>
          <p:nvPr>
            <p:ph type="title"/>
          </p:nvPr>
        </p:nvSpPr>
        <p:spPr/>
        <p:txBody>
          <a:bodyPr/>
          <a:lstStyle/>
          <a:p>
            <a:r>
              <a:rPr kumimoji="1" lang="en-US" altLang="ja-JP" dirty="0"/>
              <a:t>2</a:t>
            </a:r>
            <a:r>
              <a:rPr kumimoji="1" lang="ja-JP" altLang="en-US" dirty="0"/>
              <a:t>次元ピースワイズ</a:t>
            </a:r>
          </a:p>
        </p:txBody>
      </p:sp>
      <p:sp>
        <p:nvSpPr>
          <p:cNvPr id="3" name="コンテンツ プレースホルダー 2">
            <a:extLst>
              <a:ext uri="{FF2B5EF4-FFF2-40B4-BE49-F238E27FC236}">
                <a16:creationId xmlns:a16="http://schemas.microsoft.com/office/drawing/2014/main" id="{F9378D8A-D648-EFB7-99AD-B1D031C019CE}"/>
              </a:ext>
            </a:extLst>
          </p:cNvPr>
          <p:cNvSpPr>
            <a:spLocks noGrp="1"/>
          </p:cNvSpPr>
          <p:nvPr>
            <p:ph idx="1"/>
          </p:nvPr>
        </p:nvSpPr>
        <p:spPr/>
        <p:txBody>
          <a:bodyPr/>
          <a:lstStyle/>
          <a:p>
            <a:r>
              <a:rPr lang="ja-JP" altLang="en-US" dirty="0"/>
              <a:t>①　</a:t>
            </a:r>
            <a:r>
              <a:rPr lang="en-US" altLang="ja-JP" dirty="0"/>
              <a:t>5</a:t>
            </a:r>
            <a:r>
              <a:rPr lang="ja-JP" altLang="en-US" dirty="0"/>
              <a:t>月　</a:t>
            </a:r>
            <a:r>
              <a:rPr lang="en-US" altLang="ja-JP" dirty="0"/>
              <a:t>-155528</a:t>
            </a:r>
          </a:p>
          <a:p>
            <a:endParaRPr kumimoji="1" lang="en-US" altLang="ja-JP" dirty="0"/>
          </a:p>
          <a:p>
            <a:pPr marL="0" indent="0">
              <a:buNone/>
            </a:pPr>
            <a:endParaRPr kumimoji="1" lang="ja-JP" altLang="en-US" dirty="0"/>
          </a:p>
        </p:txBody>
      </p:sp>
      <p:pic>
        <p:nvPicPr>
          <p:cNvPr id="1028" name="Picture 4">
            <a:extLst>
              <a:ext uri="{FF2B5EF4-FFF2-40B4-BE49-F238E27FC236}">
                <a16:creationId xmlns:a16="http://schemas.microsoft.com/office/drawing/2014/main" id="{086B7BF0-B9AB-4128-6BE3-AE5D573A6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16698"/>
            <a:ext cx="6226206" cy="231050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C6F050B-8923-5C15-1F18-EBD585428C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4452" y="2798987"/>
            <a:ext cx="5542289" cy="2745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197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3154-7462-F2B9-EF83-09341DB2F5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8574B1-A438-CF4E-CA84-BE94B8311C93}"/>
              </a:ext>
            </a:extLst>
          </p:cNvPr>
          <p:cNvSpPr>
            <a:spLocks noGrp="1"/>
          </p:cNvSpPr>
          <p:nvPr>
            <p:ph type="title"/>
          </p:nvPr>
        </p:nvSpPr>
        <p:spPr/>
        <p:txBody>
          <a:bodyPr/>
          <a:lstStyle/>
          <a:p>
            <a:r>
              <a:rPr kumimoji="1" lang="en-US" altLang="ja-JP" dirty="0"/>
              <a:t>2</a:t>
            </a:r>
            <a:r>
              <a:rPr kumimoji="1" lang="ja-JP" altLang="en-US" dirty="0"/>
              <a:t>次元ピースワイズ</a:t>
            </a:r>
          </a:p>
        </p:txBody>
      </p:sp>
      <p:sp>
        <p:nvSpPr>
          <p:cNvPr id="3" name="コンテンツ プレースホルダー 2">
            <a:extLst>
              <a:ext uri="{FF2B5EF4-FFF2-40B4-BE49-F238E27FC236}">
                <a16:creationId xmlns:a16="http://schemas.microsoft.com/office/drawing/2014/main" id="{D50D9229-F0D8-AB7A-0D07-F0A10855282E}"/>
              </a:ext>
            </a:extLst>
          </p:cNvPr>
          <p:cNvSpPr>
            <a:spLocks noGrp="1"/>
          </p:cNvSpPr>
          <p:nvPr>
            <p:ph idx="1"/>
          </p:nvPr>
        </p:nvSpPr>
        <p:spPr>
          <a:xfrm>
            <a:off x="239697" y="1554994"/>
            <a:ext cx="4749887" cy="991002"/>
          </a:xfrm>
        </p:spPr>
        <p:txBody>
          <a:bodyPr/>
          <a:lstStyle/>
          <a:p>
            <a:r>
              <a:rPr lang="ja-JP" altLang="en-US" dirty="0"/>
              <a:t>②　</a:t>
            </a:r>
            <a:r>
              <a:rPr lang="en-US" altLang="ja-JP" dirty="0"/>
              <a:t>6</a:t>
            </a:r>
            <a:r>
              <a:rPr lang="ja-JP" altLang="en-US" dirty="0"/>
              <a:t>月　</a:t>
            </a:r>
            <a:r>
              <a:rPr lang="en-US" altLang="ja-JP" dirty="0"/>
              <a:t>-151469</a:t>
            </a:r>
          </a:p>
          <a:p>
            <a:pPr marL="0" indent="0">
              <a:buNone/>
            </a:pPr>
            <a:endParaRPr lang="en-US" altLang="ja-JP" dirty="0"/>
          </a:p>
          <a:p>
            <a:endParaRPr kumimoji="1" lang="en-US" altLang="ja-JP" dirty="0"/>
          </a:p>
          <a:p>
            <a:pPr marL="0" indent="0">
              <a:buNone/>
            </a:pPr>
            <a:endParaRPr kumimoji="1" lang="ja-JP" altLang="en-US" dirty="0"/>
          </a:p>
        </p:txBody>
      </p:sp>
      <p:pic>
        <p:nvPicPr>
          <p:cNvPr id="2052" name="Picture 4">
            <a:extLst>
              <a:ext uri="{FF2B5EF4-FFF2-40B4-BE49-F238E27FC236}">
                <a16:creationId xmlns:a16="http://schemas.microsoft.com/office/drawing/2014/main" id="{C8E177B8-C7F2-1E96-EF85-9774BEEF7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4369" y="2759172"/>
            <a:ext cx="5417367" cy="268403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9142C259-8DDA-465A-5D2C-8B01C7E79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368" y="2970095"/>
            <a:ext cx="6096001" cy="2262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620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447707-C3AD-E837-CC95-90091C01D34C}"/>
              </a:ext>
            </a:extLst>
          </p:cNvPr>
          <p:cNvSpPr>
            <a:spLocks noGrp="1"/>
          </p:cNvSpPr>
          <p:nvPr>
            <p:ph type="title"/>
          </p:nvPr>
        </p:nvSpPr>
        <p:spPr/>
        <p:txBody>
          <a:bodyPr/>
          <a:lstStyle/>
          <a:p>
            <a:r>
              <a:rPr kumimoji="1" lang="en-US" altLang="ja-JP" dirty="0"/>
              <a:t>1</a:t>
            </a:r>
            <a:r>
              <a:rPr kumimoji="1" lang="ja-JP" altLang="en-US" dirty="0"/>
              <a:t>次元ピースワイズ</a:t>
            </a:r>
          </a:p>
        </p:txBody>
      </p:sp>
      <p:sp>
        <p:nvSpPr>
          <p:cNvPr id="3" name="コンテンツ プレースホルダー 2">
            <a:extLst>
              <a:ext uri="{FF2B5EF4-FFF2-40B4-BE49-F238E27FC236}">
                <a16:creationId xmlns:a16="http://schemas.microsoft.com/office/drawing/2014/main" id="{00F875F2-7E4B-1FFF-1A3B-49288DEA8AD5}"/>
              </a:ext>
            </a:extLst>
          </p:cNvPr>
          <p:cNvSpPr>
            <a:spLocks noGrp="1"/>
          </p:cNvSpPr>
          <p:nvPr>
            <p:ph idx="1"/>
          </p:nvPr>
        </p:nvSpPr>
        <p:spPr/>
        <p:txBody>
          <a:bodyPr/>
          <a:lstStyle/>
          <a:p>
            <a:r>
              <a:rPr kumimoji="1" lang="ja-JP" altLang="en-US" dirty="0"/>
              <a:t>③　</a:t>
            </a:r>
            <a:r>
              <a:rPr kumimoji="1" lang="en-US" altLang="ja-JP" dirty="0"/>
              <a:t>5</a:t>
            </a:r>
            <a:r>
              <a:rPr kumimoji="1" lang="ja-JP" altLang="en-US" dirty="0"/>
              <a:t>月　</a:t>
            </a:r>
            <a:r>
              <a:rPr lang="en-US" altLang="ja-JP" dirty="0"/>
              <a:t>-155552</a:t>
            </a:r>
            <a:endParaRPr kumimoji="1" lang="ja-JP" altLang="en-US" dirty="0"/>
          </a:p>
        </p:txBody>
      </p:sp>
      <p:pic>
        <p:nvPicPr>
          <p:cNvPr id="4098" name="Picture 2">
            <a:extLst>
              <a:ext uri="{FF2B5EF4-FFF2-40B4-BE49-F238E27FC236}">
                <a16:creationId xmlns:a16="http://schemas.microsoft.com/office/drawing/2014/main" id="{6B3DCF13-E664-4686-AEEB-182F428C8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82771"/>
            <a:ext cx="6287388" cy="233321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E0A3717-1084-4C31-255D-BBAA3EFF6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0006" y="2909449"/>
            <a:ext cx="5408930" cy="2679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84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0BF359-9A72-98B6-8E49-B0581A726012}"/>
              </a:ext>
            </a:extLst>
          </p:cNvPr>
          <p:cNvSpPr>
            <a:spLocks noGrp="1"/>
          </p:cNvSpPr>
          <p:nvPr>
            <p:ph type="title"/>
          </p:nvPr>
        </p:nvSpPr>
        <p:spPr/>
        <p:txBody>
          <a:bodyPr/>
          <a:lstStyle/>
          <a:p>
            <a:r>
              <a:rPr kumimoji="1" lang="en-US" altLang="ja-JP" dirty="0"/>
              <a:t>1</a:t>
            </a:r>
            <a:r>
              <a:rPr kumimoji="1" lang="ja-JP" altLang="en-US" dirty="0"/>
              <a:t>次元ピースワイズ</a:t>
            </a:r>
          </a:p>
        </p:txBody>
      </p:sp>
      <p:sp>
        <p:nvSpPr>
          <p:cNvPr id="3" name="コンテンツ プレースホルダー 2">
            <a:extLst>
              <a:ext uri="{FF2B5EF4-FFF2-40B4-BE49-F238E27FC236}">
                <a16:creationId xmlns:a16="http://schemas.microsoft.com/office/drawing/2014/main" id="{786BC48D-A9B2-BD11-0349-7FB2641C31E7}"/>
              </a:ext>
            </a:extLst>
          </p:cNvPr>
          <p:cNvSpPr>
            <a:spLocks noGrp="1"/>
          </p:cNvSpPr>
          <p:nvPr>
            <p:ph idx="1"/>
          </p:nvPr>
        </p:nvSpPr>
        <p:spPr/>
        <p:txBody>
          <a:bodyPr/>
          <a:lstStyle/>
          <a:p>
            <a:r>
              <a:rPr kumimoji="1" lang="ja-JP" altLang="en-US" dirty="0"/>
              <a:t>④　</a:t>
            </a:r>
            <a:r>
              <a:rPr kumimoji="1" lang="en-US" altLang="ja-JP" dirty="0"/>
              <a:t>6</a:t>
            </a:r>
            <a:r>
              <a:rPr kumimoji="1" lang="ja-JP" altLang="en-US" dirty="0"/>
              <a:t>月　</a:t>
            </a:r>
            <a:r>
              <a:rPr lang="en-US" altLang="ja-JP" dirty="0"/>
              <a:t>-151549</a:t>
            </a:r>
            <a:endParaRPr kumimoji="1" lang="ja-JP" altLang="en-US" dirty="0"/>
          </a:p>
        </p:txBody>
      </p:sp>
      <p:pic>
        <p:nvPicPr>
          <p:cNvPr id="3074" name="Picture 2">
            <a:extLst>
              <a:ext uri="{FF2B5EF4-FFF2-40B4-BE49-F238E27FC236}">
                <a16:creationId xmlns:a16="http://schemas.microsoft.com/office/drawing/2014/main" id="{2F48DD5F-90AA-1E94-C6F9-64F6682FA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5" y="3160450"/>
            <a:ext cx="5743139" cy="21312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1FFCA1CD-0B73-AF86-DD12-093434C2F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3977" y="2707689"/>
            <a:ext cx="5718023" cy="2832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535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09C703-72AC-8B92-48F4-444F17079B34}"/>
              </a:ext>
            </a:extLst>
          </p:cNvPr>
          <p:cNvSpPr>
            <a:spLocks noGrp="1"/>
          </p:cNvSpPr>
          <p:nvPr>
            <p:ph type="title"/>
          </p:nvPr>
        </p:nvSpPr>
        <p:spPr/>
        <p:txBody>
          <a:bodyPr/>
          <a:lstStyle/>
          <a:p>
            <a:r>
              <a:rPr kumimoji="1" lang="en-US" altLang="ja-JP" dirty="0"/>
              <a:t>1</a:t>
            </a:r>
            <a:r>
              <a:rPr kumimoji="1" lang="ja-JP" altLang="en-US" dirty="0"/>
              <a:t>と</a:t>
            </a:r>
            <a:r>
              <a:rPr kumimoji="1" lang="en-US" altLang="ja-JP" dirty="0"/>
              <a:t>3</a:t>
            </a:r>
            <a:r>
              <a:rPr kumimoji="1" lang="ja-JP" altLang="en-US" dirty="0"/>
              <a:t>の違い</a:t>
            </a:r>
          </a:p>
        </p:txBody>
      </p:sp>
      <p:pic>
        <p:nvPicPr>
          <p:cNvPr id="5" name="コンテンツ プレースホルダー 4">
            <a:extLst>
              <a:ext uri="{FF2B5EF4-FFF2-40B4-BE49-F238E27FC236}">
                <a16:creationId xmlns:a16="http://schemas.microsoft.com/office/drawing/2014/main" id="{57F65BFF-7EC5-9F5A-7300-80A84D9BB7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284" y="1690688"/>
            <a:ext cx="5180862" cy="4351338"/>
          </a:xfrm>
        </p:spPr>
      </p:pic>
      <p:pic>
        <p:nvPicPr>
          <p:cNvPr id="7" name="図 6">
            <a:extLst>
              <a:ext uri="{FF2B5EF4-FFF2-40B4-BE49-F238E27FC236}">
                <a16:creationId xmlns:a16="http://schemas.microsoft.com/office/drawing/2014/main" id="{998C0F9E-724D-495D-D9A1-03915A7F80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2856" y="1690688"/>
            <a:ext cx="5180863" cy="4351338"/>
          </a:xfrm>
          <a:prstGeom prst="rect">
            <a:avLst/>
          </a:prstGeom>
        </p:spPr>
      </p:pic>
    </p:spTree>
    <p:extLst>
      <p:ext uri="{BB962C8B-B14F-4D97-AF65-F5344CB8AC3E}">
        <p14:creationId xmlns:p14="http://schemas.microsoft.com/office/powerpoint/2010/main" val="4263660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7B21D9-BF3F-651F-3B36-6AD8EF7AE6DD}"/>
              </a:ext>
            </a:extLst>
          </p:cNvPr>
          <p:cNvSpPr>
            <a:spLocks noGrp="1"/>
          </p:cNvSpPr>
          <p:nvPr>
            <p:ph type="title"/>
          </p:nvPr>
        </p:nvSpPr>
        <p:spPr/>
        <p:txBody>
          <a:bodyPr/>
          <a:lstStyle/>
          <a:p>
            <a:r>
              <a:rPr kumimoji="1" lang="en-US" altLang="ja-JP" dirty="0"/>
              <a:t>2</a:t>
            </a:r>
            <a:r>
              <a:rPr kumimoji="1" lang="ja-JP" altLang="en-US" dirty="0"/>
              <a:t>と</a:t>
            </a:r>
            <a:r>
              <a:rPr kumimoji="1" lang="en-US" altLang="ja-JP" dirty="0"/>
              <a:t>4</a:t>
            </a:r>
            <a:r>
              <a:rPr kumimoji="1" lang="ja-JP" altLang="en-US" dirty="0"/>
              <a:t>の違い</a:t>
            </a:r>
          </a:p>
        </p:txBody>
      </p:sp>
      <p:pic>
        <p:nvPicPr>
          <p:cNvPr id="5" name="コンテンツ プレースホルダー 4">
            <a:extLst>
              <a:ext uri="{FF2B5EF4-FFF2-40B4-BE49-F238E27FC236}">
                <a16:creationId xmlns:a16="http://schemas.microsoft.com/office/drawing/2014/main" id="{1588E6BF-A1AD-70E4-F674-C32CF20406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0326" y="1690688"/>
            <a:ext cx="5180862" cy="4351338"/>
          </a:xfrm>
        </p:spPr>
      </p:pic>
      <p:pic>
        <p:nvPicPr>
          <p:cNvPr id="7" name="図 6">
            <a:extLst>
              <a:ext uri="{FF2B5EF4-FFF2-40B4-BE49-F238E27FC236}">
                <a16:creationId xmlns:a16="http://schemas.microsoft.com/office/drawing/2014/main" id="{2B55A325-F3FF-3FDB-47FE-BA3E4D531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1321" y="1690688"/>
            <a:ext cx="5180863" cy="4351338"/>
          </a:xfrm>
          <a:prstGeom prst="rect">
            <a:avLst/>
          </a:prstGeom>
        </p:spPr>
      </p:pic>
    </p:spTree>
    <p:extLst>
      <p:ext uri="{BB962C8B-B14F-4D97-AF65-F5344CB8AC3E}">
        <p14:creationId xmlns:p14="http://schemas.microsoft.com/office/powerpoint/2010/main" val="3729350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1FB31C-2625-5836-1E56-97E5DD8AE411}"/>
              </a:ext>
            </a:extLst>
          </p:cNvPr>
          <p:cNvSpPr>
            <a:spLocks noGrp="1"/>
          </p:cNvSpPr>
          <p:nvPr>
            <p:ph type="title"/>
          </p:nvPr>
        </p:nvSpPr>
        <p:spPr/>
        <p:txBody>
          <a:bodyPr/>
          <a:lstStyle/>
          <a:p>
            <a:r>
              <a:rPr kumimoji="1" lang="en-US" altLang="ja-JP" dirty="0"/>
              <a:t>3</a:t>
            </a:r>
            <a:r>
              <a:rPr kumimoji="1" lang="ja-JP" altLang="en-US" dirty="0"/>
              <a:t>ケースの比較</a:t>
            </a:r>
          </a:p>
        </p:txBody>
      </p:sp>
      <p:sp>
        <p:nvSpPr>
          <p:cNvPr id="3" name="コンテンツ プレースホルダー 2">
            <a:extLst>
              <a:ext uri="{FF2B5EF4-FFF2-40B4-BE49-F238E27FC236}">
                <a16:creationId xmlns:a16="http://schemas.microsoft.com/office/drawing/2014/main" id="{103BD306-F318-22DF-B1A5-941AFC69F19A}"/>
              </a:ext>
            </a:extLst>
          </p:cNvPr>
          <p:cNvSpPr>
            <a:spLocks noGrp="1"/>
          </p:cNvSpPr>
          <p:nvPr>
            <p:ph idx="1"/>
          </p:nvPr>
        </p:nvSpPr>
        <p:spPr/>
        <p:txBody>
          <a:bodyPr/>
          <a:lstStyle/>
          <a:p>
            <a:r>
              <a:rPr kumimoji="1" lang="ja-JP" altLang="en-US" dirty="0"/>
              <a:t>劣化なし</a:t>
            </a:r>
            <a:endParaRPr kumimoji="1" lang="en-US" altLang="ja-JP" dirty="0"/>
          </a:p>
          <a:p>
            <a:r>
              <a:rPr kumimoji="1" lang="en-US" altLang="ja-JP" dirty="0"/>
              <a:t>1</a:t>
            </a:r>
            <a:r>
              <a:rPr kumimoji="1" lang="ja-JP" altLang="en-US" dirty="0"/>
              <a:t>次元のピースワイズ</a:t>
            </a:r>
            <a:endParaRPr kumimoji="1" lang="en-US" altLang="ja-JP" dirty="0"/>
          </a:p>
          <a:p>
            <a:r>
              <a:rPr lang="en-US" altLang="ja-JP" dirty="0"/>
              <a:t>2</a:t>
            </a:r>
            <a:r>
              <a:rPr lang="ja-JP" altLang="en-US" dirty="0"/>
              <a:t>次元のピースワイズ</a:t>
            </a:r>
            <a:endParaRPr kumimoji="1" lang="ja-JP" altLang="en-US" dirty="0"/>
          </a:p>
        </p:txBody>
      </p:sp>
    </p:spTree>
    <p:extLst>
      <p:ext uri="{BB962C8B-B14F-4D97-AF65-F5344CB8AC3E}">
        <p14:creationId xmlns:p14="http://schemas.microsoft.com/office/powerpoint/2010/main" val="3276777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E58265-22BE-621C-B3B7-6E4F8CB2CFD6}"/>
              </a:ext>
            </a:extLst>
          </p:cNvPr>
          <p:cNvSpPr>
            <a:spLocks noGrp="1"/>
          </p:cNvSpPr>
          <p:nvPr>
            <p:ph type="title"/>
          </p:nvPr>
        </p:nvSpPr>
        <p:spPr/>
        <p:txBody>
          <a:bodyPr/>
          <a:lstStyle/>
          <a:p>
            <a:r>
              <a:rPr kumimoji="1" lang="ja-JP" altLang="en-US" dirty="0"/>
              <a:t>劣化なし　</a:t>
            </a:r>
            <a:r>
              <a:rPr kumimoji="1" lang="en-US" altLang="ja-JP" dirty="0"/>
              <a:t>6</a:t>
            </a:r>
            <a:r>
              <a:rPr kumimoji="1" lang="ja-JP" altLang="en-US" dirty="0"/>
              <a:t>月　</a:t>
            </a:r>
            <a:r>
              <a:rPr lang="en-US" altLang="ja-JP" dirty="0"/>
              <a:t>-151728</a:t>
            </a:r>
            <a:endParaRPr kumimoji="1" lang="ja-JP" altLang="en-US" dirty="0"/>
          </a:p>
        </p:txBody>
      </p:sp>
      <p:pic>
        <p:nvPicPr>
          <p:cNvPr id="2050" name="Picture 2">
            <a:extLst>
              <a:ext uri="{FF2B5EF4-FFF2-40B4-BE49-F238E27FC236}">
                <a16:creationId xmlns:a16="http://schemas.microsoft.com/office/drawing/2014/main" id="{8D90859C-8820-28F3-91BE-FA8218EC55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050286"/>
            <a:ext cx="10515600" cy="390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238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42D456-742A-9BBE-8AA2-A6AF371C5DF6}"/>
              </a:ext>
            </a:extLst>
          </p:cNvPr>
          <p:cNvSpPr>
            <a:spLocks noGrp="1"/>
          </p:cNvSpPr>
          <p:nvPr>
            <p:ph type="title"/>
          </p:nvPr>
        </p:nvSpPr>
        <p:spPr/>
        <p:txBody>
          <a:bodyPr/>
          <a:lstStyle/>
          <a:p>
            <a:r>
              <a:rPr kumimoji="1" lang="en-US" altLang="ja-JP" dirty="0"/>
              <a:t>6</a:t>
            </a:r>
            <a:r>
              <a:rPr kumimoji="1" lang="ja-JP" altLang="en-US" dirty="0"/>
              <a:t>月　</a:t>
            </a:r>
            <a:r>
              <a:rPr kumimoji="1" lang="en-US" altLang="ja-JP" dirty="0"/>
              <a:t>3</a:t>
            </a:r>
            <a:r>
              <a:rPr kumimoji="1" lang="ja-JP" altLang="en-US" dirty="0"/>
              <a:t>ケースの比較　</a:t>
            </a:r>
            <a:r>
              <a:rPr lang="en-US" altLang="ja-JP" dirty="0"/>
              <a:t>-155708</a:t>
            </a:r>
            <a:endParaRPr kumimoji="1" lang="ja-JP" altLang="en-US" dirty="0"/>
          </a:p>
        </p:txBody>
      </p:sp>
      <p:pic>
        <p:nvPicPr>
          <p:cNvPr id="3074" name="Picture 2">
            <a:extLst>
              <a:ext uri="{FF2B5EF4-FFF2-40B4-BE49-F238E27FC236}">
                <a16:creationId xmlns:a16="http://schemas.microsoft.com/office/drawing/2014/main" id="{DC0C5067-DAAB-7B3B-373F-50453ECC91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050286"/>
            <a:ext cx="10515600" cy="390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452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B58CE5-AA02-D685-EF7E-ED657892D4B2}"/>
              </a:ext>
            </a:extLst>
          </p:cNvPr>
          <p:cNvSpPr>
            <a:spLocks noGrp="1"/>
          </p:cNvSpPr>
          <p:nvPr>
            <p:ph type="title"/>
          </p:nvPr>
        </p:nvSpPr>
        <p:spPr/>
        <p:txBody>
          <a:bodyPr/>
          <a:lstStyle/>
          <a:p>
            <a:r>
              <a:rPr kumimoji="1" lang="ja-JP" altLang="en-US" dirty="0"/>
              <a:t>結果</a:t>
            </a:r>
          </a:p>
        </p:txBody>
      </p:sp>
      <p:sp>
        <p:nvSpPr>
          <p:cNvPr id="3" name="コンテンツ プレースホルダー 2">
            <a:extLst>
              <a:ext uri="{FF2B5EF4-FFF2-40B4-BE49-F238E27FC236}">
                <a16:creationId xmlns:a16="http://schemas.microsoft.com/office/drawing/2014/main" id="{A05B036C-CF8A-8C9A-CE88-626E7CA93C4D}"/>
              </a:ext>
            </a:extLst>
          </p:cNvPr>
          <p:cNvSpPr>
            <a:spLocks noGrp="1"/>
          </p:cNvSpPr>
          <p:nvPr>
            <p:ph idx="1"/>
          </p:nvPr>
        </p:nvSpPr>
        <p:spPr>
          <a:xfrm>
            <a:off x="838200" y="1438184"/>
            <a:ext cx="10515600" cy="5344356"/>
          </a:xfrm>
        </p:spPr>
        <p:txBody>
          <a:bodyPr>
            <a:normAutofit/>
          </a:bodyPr>
          <a:lstStyle/>
          <a:p>
            <a:r>
              <a:rPr lang="en-US" altLang="ja-JP" b="1" dirty="0"/>
              <a:t>1. 5</a:t>
            </a:r>
            <a:r>
              <a:rPr lang="ja-JP" altLang="en-US" b="1" dirty="0"/>
              <a:t>月と</a:t>
            </a:r>
            <a:r>
              <a:rPr lang="en-US" altLang="ja-JP" b="1" dirty="0"/>
              <a:t>6</a:t>
            </a:r>
            <a:r>
              <a:rPr lang="ja-JP" altLang="en-US" b="1" dirty="0"/>
              <a:t>月で「総劣化量」が増えている</a:t>
            </a:r>
          </a:p>
          <a:p>
            <a:r>
              <a:rPr lang="en-US" altLang="ja-JP" dirty="0"/>
              <a:t>D</a:t>
            </a:r>
            <a:r>
              <a:rPr lang="ja-JP" altLang="en-US" dirty="0"/>
              <a:t>（劣化項）を全部足したときの大きさ：</a:t>
            </a:r>
          </a:p>
          <a:p>
            <a:r>
              <a:rPr lang="en-US" altLang="ja-JP" b="1" dirty="0"/>
              <a:t>1</a:t>
            </a:r>
            <a:r>
              <a:rPr lang="ja-JP" altLang="en-US" b="1" dirty="0"/>
              <a:t>次元ピースワイズ（</a:t>
            </a:r>
            <a:r>
              <a:rPr lang="en-US" altLang="ja-JP" b="1" dirty="0"/>
              <a:t>D_pw1d </a:t>
            </a:r>
            <a:r>
              <a:rPr lang="ja-JP" altLang="en-US" b="1" dirty="0"/>
              <a:t>の合計）</a:t>
            </a:r>
            <a:endParaRPr lang="ja-JP" altLang="en-US" dirty="0"/>
          </a:p>
          <a:p>
            <a:pPr lvl="1"/>
            <a:r>
              <a:rPr lang="en-US" altLang="ja-JP" dirty="0"/>
              <a:t>5</a:t>
            </a:r>
            <a:r>
              <a:rPr lang="ja-JP" altLang="en-US" dirty="0"/>
              <a:t>月：≈ </a:t>
            </a:r>
            <a:r>
              <a:rPr lang="en-US" altLang="ja-JP" b="1" dirty="0"/>
              <a:t>155.7</a:t>
            </a:r>
            <a:endParaRPr lang="ja-JP" altLang="en-US" dirty="0"/>
          </a:p>
          <a:p>
            <a:pPr lvl="1"/>
            <a:r>
              <a:rPr lang="en-US" altLang="ja-JP" dirty="0"/>
              <a:t>6</a:t>
            </a:r>
            <a:r>
              <a:rPr lang="ja-JP" altLang="en-US" dirty="0"/>
              <a:t>月：≈ </a:t>
            </a:r>
            <a:r>
              <a:rPr lang="en-US" altLang="ja-JP" b="1" dirty="0"/>
              <a:t>179.1</a:t>
            </a:r>
            <a:r>
              <a:rPr lang="ja-JP" altLang="en-US" dirty="0"/>
              <a:t>（</a:t>
            </a:r>
            <a:r>
              <a:rPr lang="en-US" altLang="ja-JP" dirty="0"/>
              <a:t>5</a:t>
            </a:r>
            <a:r>
              <a:rPr lang="ja-JP" altLang="en-US" dirty="0"/>
              <a:t>月の約 </a:t>
            </a:r>
            <a:r>
              <a:rPr lang="en-US" altLang="ja-JP" b="1" dirty="0"/>
              <a:t>1.15</a:t>
            </a:r>
            <a:r>
              <a:rPr lang="ja-JP" altLang="en-US" b="1" dirty="0"/>
              <a:t>倍</a:t>
            </a:r>
            <a:r>
              <a:rPr lang="ja-JP" altLang="en-US" dirty="0"/>
              <a:t>）</a:t>
            </a:r>
          </a:p>
          <a:p>
            <a:r>
              <a:rPr lang="en-US" altLang="ja-JP" b="1" dirty="0"/>
              <a:t>2</a:t>
            </a:r>
            <a:r>
              <a:rPr lang="ja-JP" altLang="en-US" b="1" dirty="0"/>
              <a:t>次元ピースワイズ（</a:t>
            </a:r>
            <a:r>
              <a:rPr lang="en-US" altLang="ja-JP" b="1" dirty="0"/>
              <a:t>D_pw2d </a:t>
            </a:r>
            <a:r>
              <a:rPr lang="ja-JP" altLang="en-US" b="1" dirty="0"/>
              <a:t>の合計）</a:t>
            </a:r>
            <a:endParaRPr lang="ja-JP" altLang="en-US" dirty="0"/>
          </a:p>
          <a:p>
            <a:pPr lvl="1"/>
            <a:r>
              <a:rPr lang="en-US" altLang="ja-JP" dirty="0"/>
              <a:t>5</a:t>
            </a:r>
            <a:r>
              <a:rPr lang="ja-JP" altLang="en-US" dirty="0"/>
              <a:t>月：≈ </a:t>
            </a:r>
            <a:r>
              <a:rPr lang="en-US" altLang="ja-JP" b="1" dirty="0"/>
              <a:t>176.2</a:t>
            </a:r>
            <a:endParaRPr lang="ja-JP" altLang="en-US" dirty="0"/>
          </a:p>
          <a:p>
            <a:pPr lvl="1"/>
            <a:r>
              <a:rPr lang="en-US" altLang="ja-JP" dirty="0"/>
              <a:t>6</a:t>
            </a:r>
            <a:r>
              <a:rPr lang="ja-JP" altLang="en-US" dirty="0"/>
              <a:t>月：≈ </a:t>
            </a:r>
            <a:r>
              <a:rPr lang="en-US" altLang="ja-JP" b="1" dirty="0"/>
              <a:t>255.8</a:t>
            </a:r>
            <a:r>
              <a:rPr lang="ja-JP" altLang="en-US" dirty="0"/>
              <a:t>（</a:t>
            </a:r>
            <a:r>
              <a:rPr lang="en-US" altLang="ja-JP" dirty="0"/>
              <a:t>5</a:t>
            </a:r>
            <a:r>
              <a:rPr lang="ja-JP" altLang="en-US" dirty="0"/>
              <a:t>月の約 </a:t>
            </a:r>
            <a:r>
              <a:rPr lang="en-US" altLang="ja-JP" b="1" dirty="0"/>
              <a:t>1.45</a:t>
            </a:r>
            <a:r>
              <a:rPr lang="ja-JP" altLang="en-US" b="1" dirty="0"/>
              <a:t>倍</a:t>
            </a:r>
            <a:r>
              <a:rPr lang="ja-JP" altLang="en-US" dirty="0"/>
              <a:t>）</a:t>
            </a:r>
          </a:p>
          <a:p>
            <a:r>
              <a:rPr lang="ja-JP" altLang="en-US" dirty="0"/>
              <a:t> </a:t>
            </a:r>
            <a:r>
              <a:rPr lang="en-US" altLang="ja-JP" dirty="0"/>
              <a:t>6</a:t>
            </a:r>
            <a:r>
              <a:rPr lang="ja-JP" altLang="en-US" dirty="0"/>
              <a:t>月の運用では、</a:t>
            </a:r>
            <a:br>
              <a:rPr lang="ja-JP" altLang="en-US" dirty="0"/>
            </a:br>
            <a:r>
              <a:rPr lang="en-US" altLang="ja-JP" b="1" dirty="0"/>
              <a:t>1</a:t>
            </a:r>
            <a:r>
              <a:rPr lang="ja-JP" altLang="en-US" b="1" dirty="0"/>
              <a:t>次元モデルでも約</a:t>
            </a:r>
            <a:r>
              <a:rPr lang="en-US" altLang="ja-JP" b="1" dirty="0"/>
              <a:t>15</a:t>
            </a:r>
            <a:r>
              <a:rPr lang="ja-JP" altLang="en-US" b="1" dirty="0"/>
              <a:t>％、</a:t>
            </a:r>
            <a:r>
              <a:rPr lang="en-US" altLang="ja-JP" b="1" dirty="0"/>
              <a:t>2</a:t>
            </a:r>
            <a:r>
              <a:rPr lang="ja-JP" altLang="en-US" b="1" dirty="0"/>
              <a:t>次元モデルでは約</a:t>
            </a:r>
            <a:r>
              <a:rPr lang="en-US" altLang="ja-JP" b="1" dirty="0"/>
              <a:t>45</a:t>
            </a:r>
            <a:r>
              <a:rPr lang="ja-JP" altLang="en-US" b="1" dirty="0"/>
              <a:t>％くらい劣化コストが増えている</a:t>
            </a:r>
            <a:r>
              <a:rPr lang="ja-JP" altLang="en-US" dirty="0"/>
              <a:t>。</a:t>
            </a:r>
            <a:br>
              <a:rPr lang="ja-JP" altLang="en-US" dirty="0"/>
            </a:br>
            <a:endParaRPr kumimoji="1" lang="ja-JP" altLang="en-US" dirty="0"/>
          </a:p>
        </p:txBody>
      </p:sp>
    </p:spTree>
    <p:extLst>
      <p:ext uri="{BB962C8B-B14F-4D97-AF65-F5344CB8AC3E}">
        <p14:creationId xmlns:p14="http://schemas.microsoft.com/office/powerpoint/2010/main" val="1841081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600EB-67B7-BEAC-57B8-37DE882C609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DE8A9299-8E25-4B32-7E38-F489203FC988}"/>
              </a:ext>
            </a:extLst>
          </p:cNvPr>
          <p:cNvSpPr>
            <a:spLocks noGrp="1"/>
          </p:cNvSpPr>
          <p:nvPr>
            <p:ph idx="1"/>
          </p:nvPr>
        </p:nvSpPr>
        <p:spPr/>
        <p:txBody>
          <a:bodyPr/>
          <a:lstStyle/>
          <a:p>
            <a:r>
              <a:rPr lang="ja-JP" altLang="en-US" dirty="0"/>
              <a:t>劣化なしと劣化あり</a:t>
            </a:r>
            <a:r>
              <a:rPr lang="en-US" altLang="ja-JP" dirty="0"/>
              <a:t>(1</a:t>
            </a:r>
            <a:r>
              <a:rPr lang="ja-JP" altLang="en-US" dirty="0"/>
              <a:t>次元のピースワイズ）と比較</a:t>
            </a:r>
            <a:endParaRPr lang="en-US" altLang="ja-JP" dirty="0"/>
          </a:p>
          <a:p>
            <a:r>
              <a:rPr kumimoji="1" lang="ja-JP" altLang="en-US" dirty="0"/>
              <a:t>このあとに</a:t>
            </a:r>
            <a:r>
              <a:rPr kumimoji="1" lang="en-US" altLang="ja-JP" dirty="0"/>
              <a:t>1</a:t>
            </a:r>
            <a:r>
              <a:rPr kumimoji="1" lang="ja-JP" altLang="en-US" dirty="0"/>
              <a:t>次元のピースワイズと</a:t>
            </a:r>
            <a:r>
              <a:rPr kumimoji="1" lang="en-US" altLang="ja-JP" dirty="0"/>
              <a:t>2</a:t>
            </a:r>
            <a:r>
              <a:rPr kumimoji="1" lang="ja-JP" altLang="en-US" dirty="0"/>
              <a:t>次元のピースワイズの比較</a:t>
            </a:r>
          </a:p>
        </p:txBody>
      </p:sp>
    </p:spTree>
    <p:extLst>
      <p:ext uri="{BB962C8B-B14F-4D97-AF65-F5344CB8AC3E}">
        <p14:creationId xmlns:p14="http://schemas.microsoft.com/office/powerpoint/2010/main" val="2696368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86686D-0AC4-213A-84F4-2280432D3666}"/>
              </a:ext>
            </a:extLst>
          </p:cNvPr>
          <p:cNvSpPr>
            <a:spLocks noGrp="1"/>
          </p:cNvSpPr>
          <p:nvPr>
            <p:ph type="title"/>
          </p:nvPr>
        </p:nvSpPr>
        <p:spPr/>
        <p:txBody>
          <a:bodyPr/>
          <a:lstStyle/>
          <a:p>
            <a:r>
              <a:rPr kumimoji="1" lang="en-US" altLang="ja-JP" dirty="0"/>
              <a:t>2</a:t>
            </a:r>
            <a:r>
              <a:rPr kumimoji="1" lang="ja-JP" altLang="en-US" dirty="0"/>
              <a:t>次元ピースワイズの比較</a:t>
            </a:r>
          </a:p>
        </p:txBody>
      </p:sp>
      <p:sp>
        <p:nvSpPr>
          <p:cNvPr id="3" name="コンテンツ プレースホルダー 2">
            <a:extLst>
              <a:ext uri="{FF2B5EF4-FFF2-40B4-BE49-F238E27FC236}">
                <a16:creationId xmlns:a16="http://schemas.microsoft.com/office/drawing/2014/main" id="{49C3DA3D-3A49-A206-144D-F8D4C941EFD9}"/>
              </a:ext>
            </a:extLst>
          </p:cNvPr>
          <p:cNvSpPr>
            <a:spLocks noGrp="1"/>
          </p:cNvSpPr>
          <p:nvPr>
            <p:ph idx="1"/>
          </p:nvPr>
        </p:nvSpPr>
        <p:spPr/>
        <p:txBody>
          <a:bodyPr/>
          <a:lstStyle/>
          <a:p>
            <a:r>
              <a:rPr lang="en-US" altLang="ja-JP" dirty="0"/>
              <a:t>5</a:t>
            </a:r>
            <a:r>
              <a:rPr lang="ja-JP" altLang="en-US" dirty="0"/>
              <a:t>月に比べて</a:t>
            </a:r>
            <a:r>
              <a:rPr lang="en-US" altLang="ja-JP" dirty="0"/>
              <a:t>6</a:t>
            </a:r>
            <a:r>
              <a:rPr lang="ja-JP" altLang="en-US" dirty="0"/>
              <a:t>月の方が市場価格のグラフ山の数が多い。</a:t>
            </a:r>
            <a:r>
              <a:rPr lang="en-US" altLang="ja-JP" dirty="0"/>
              <a:t>5</a:t>
            </a:r>
            <a:r>
              <a:rPr lang="ja-JP" altLang="en-US" dirty="0"/>
              <a:t>月は大きな谷が一つあるだけだが、</a:t>
            </a:r>
            <a:r>
              <a:rPr lang="en-US" altLang="ja-JP" dirty="0"/>
              <a:t>6</a:t>
            </a:r>
            <a:r>
              <a:rPr lang="ja-JP" altLang="en-US" dirty="0"/>
              <a:t>月は山が２つ存在。それに合わせて</a:t>
            </a:r>
            <a:r>
              <a:rPr lang="en-US" altLang="ja-JP" dirty="0"/>
              <a:t>6</a:t>
            </a:r>
            <a:r>
              <a:rPr lang="ja-JP" altLang="en-US" dirty="0"/>
              <a:t>月の</a:t>
            </a:r>
            <a:r>
              <a:rPr lang="en-US" altLang="ja-JP" dirty="0"/>
              <a:t>SOC</a:t>
            </a:r>
            <a:r>
              <a:rPr lang="ja-JP" altLang="en-US" dirty="0"/>
              <a:t>の山が</a:t>
            </a:r>
            <a:r>
              <a:rPr lang="en-US" altLang="ja-JP" dirty="0"/>
              <a:t>t=4~21</a:t>
            </a:r>
            <a:r>
              <a:rPr lang="ja-JP" altLang="en-US" dirty="0"/>
              <a:t>の間で一つ増えている。</a:t>
            </a:r>
          </a:p>
          <a:p>
            <a:endParaRPr kumimoji="1" lang="ja-JP" altLang="en-US" dirty="0"/>
          </a:p>
        </p:txBody>
      </p:sp>
      <p:pic>
        <p:nvPicPr>
          <p:cNvPr id="3074" name="Picture 2">
            <a:extLst>
              <a:ext uri="{FF2B5EF4-FFF2-40B4-BE49-F238E27FC236}">
                <a16:creationId xmlns:a16="http://schemas.microsoft.com/office/drawing/2014/main" id="{CCCED247-8893-1836-0A22-F719B5657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9847" y="3289454"/>
            <a:ext cx="4703953" cy="23329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31AD82B1-E2DF-805A-91BD-209B39704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289454"/>
            <a:ext cx="5090877" cy="2522275"/>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E855776C-1A2E-C938-935E-2CC97A3B6F6F}"/>
              </a:ext>
            </a:extLst>
          </p:cNvPr>
          <p:cNvSpPr txBox="1"/>
          <p:nvPr/>
        </p:nvSpPr>
        <p:spPr>
          <a:xfrm>
            <a:off x="1260629" y="5885895"/>
            <a:ext cx="4589755" cy="369332"/>
          </a:xfrm>
          <a:prstGeom prst="rect">
            <a:avLst/>
          </a:prstGeom>
          <a:noFill/>
        </p:spPr>
        <p:txBody>
          <a:bodyPr wrap="square" rtlCol="0">
            <a:spAutoFit/>
          </a:bodyPr>
          <a:lstStyle/>
          <a:p>
            <a:r>
              <a:rPr kumimoji="1" lang="ja-JP" altLang="en-US" dirty="0"/>
              <a:t>図　</a:t>
            </a:r>
            <a:r>
              <a:rPr kumimoji="1" lang="en-US" altLang="ja-JP" dirty="0"/>
              <a:t>5</a:t>
            </a:r>
            <a:r>
              <a:rPr kumimoji="1" lang="ja-JP" altLang="en-US" dirty="0"/>
              <a:t>月と</a:t>
            </a:r>
            <a:r>
              <a:rPr kumimoji="1" lang="en-US" altLang="ja-JP" dirty="0"/>
              <a:t>6</a:t>
            </a:r>
            <a:r>
              <a:rPr kumimoji="1" lang="ja-JP" altLang="en-US" dirty="0"/>
              <a:t>月の市場価格</a:t>
            </a:r>
          </a:p>
        </p:txBody>
      </p:sp>
      <p:sp>
        <p:nvSpPr>
          <p:cNvPr id="7" name="テキスト ボックス 6">
            <a:extLst>
              <a:ext uri="{FF2B5EF4-FFF2-40B4-BE49-F238E27FC236}">
                <a16:creationId xmlns:a16="http://schemas.microsoft.com/office/drawing/2014/main" id="{FAD494AB-08D2-5F54-7743-2F0B4F5D1F5C}"/>
              </a:ext>
            </a:extLst>
          </p:cNvPr>
          <p:cNvSpPr txBox="1"/>
          <p:nvPr/>
        </p:nvSpPr>
        <p:spPr>
          <a:xfrm>
            <a:off x="6873535" y="5811729"/>
            <a:ext cx="6094520" cy="369332"/>
          </a:xfrm>
          <a:prstGeom prst="rect">
            <a:avLst/>
          </a:prstGeom>
          <a:noFill/>
        </p:spPr>
        <p:txBody>
          <a:bodyPr wrap="square">
            <a:spAutoFit/>
          </a:bodyPr>
          <a:lstStyle/>
          <a:p>
            <a:r>
              <a:rPr kumimoji="1" lang="ja-JP" altLang="en-US" dirty="0"/>
              <a:t>図　</a:t>
            </a:r>
            <a:r>
              <a:rPr kumimoji="1" lang="en-US" altLang="ja-JP" dirty="0"/>
              <a:t>5</a:t>
            </a:r>
            <a:r>
              <a:rPr kumimoji="1" lang="ja-JP" altLang="en-US" dirty="0"/>
              <a:t>月と</a:t>
            </a:r>
            <a:r>
              <a:rPr kumimoji="1" lang="en-US" altLang="ja-JP" dirty="0"/>
              <a:t>6</a:t>
            </a:r>
            <a:r>
              <a:rPr kumimoji="1" lang="ja-JP" altLang="en-US" dirty="0"/>
              <a:t>月の</a:t>
            </a:r>
            <a:r>
              <a:rPr lang="en-US" altLang="ja-JP" dirty="0"/>
              <a:t>SOC</a:t>
            </a:r>
            <a:r>
              <a:rPr lang="ja-JP" altLang="en-US" dirty="0"/>
              <a:t>推移</a:t>
            </a:r>
          </a:p>
        </p:txBody>
      </p:sp>
    </p:spTree>
    <p:extLst>
      <p:ext uri="{BB962C8B-B14F-4D97-AF65-F5344CB8AC3E}">
        <p14:creationId xmlns:p14="http://schemas.microsoft.com/office/powerpoint/2010/main" val="383549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E45C03-E40E-3653-3FCE-3E5E5962967F}"/>
              </a:ext>
            </a:extLst>
          </p:cNvPr>
          <p:cNvSpPr>
            <a:spLocks noGrp="1"/>
          </p:cNvSpPr>
          <p:nvPr>
            <p:ph type="title"/>
          </p:nvPr>
        </p:nvSpPr>
        <p:spPr/>
        <p:txBody>
          <a:bodyPr/>
          <a:lstStyle/>
          <a:p>
            <a:r>
              <a:rPr kumimoji="1" lang="en-US" altLang="ja-JP" dirty="0"/>
              <a:t>5</a:t>
            </a:r>
            <a:r>
              <a:rPr kumimoji="1" lang="ja-JP" altLang="en-US" dirty="0"/>
              <a:t>月の一次元と二次元の比較</a:t>
            </a:r>
          </a:p>
        </p:txBody>
      </p:sp>
      <p:pic>
        <p:nvPicPr>
          <p:cNvPr id="4" name="Picture 2">
            <a:extLst>
              <a:ext uri="{FF2B5EF4-FFF2-40B4-BE49-F238E27FC236}">
                <a16:creationId xmlns:a16="http://schemas.microsoft.com/office/drawing/2014/main" id="{46CCE81E-7545-D3A3-AEC6-A6267085AD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15200" y="3811951"/>
            <a:ext cx="4273032" cy="2112753"/>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47FF486E-F51B-1EBE-587D-90915F0C5AA3}"/>
              </a:ext>
            </a:extLst>
          </p:cNvPr>
          <p:cNvSpPr txBox="1"/>
          <p:nvPr/>
        </p:nvSpPr>
        <p:spPr>
          <a:xfrm>
            <a:off x="6096000" y="6090951"/>
            <a:ext cx="6094520" cy="646331"/>
          </a:xfrm>
          <a:prstGeom prst="rect">
            <a:avLst/>
          </a:prstGeom>
          <a:noFill/>
        </p:spPr>
        <p:txBody>
          <a:bodyPr wrap="square">
            <a:spAutoFit/>
          </a:bodyPr>
          <a:lstStyle/>
          <a:p>
            <a:r>
              <a:rPr lang="ja-JP" altLang="en-US" dirty="0"/>
              <a:t>図　</a:t>
            </a:r>
            <a:r>
              <a:rPr lang="en-US" altLang="ja-JP" dirty="0"/>
              <a:t>5</a:t>
            </a:r>
            <a:r>
              <a:rPr lang="ja-JP" altLang="en-US" dirty="0"/>
              <a:t>月における</a:t>
            </a:r>
            <a:r>
              <a:rPr lang="en-US" altLang="ja-JP" dirty="0"/>
              <a:t>1</a:t>
            </a:r>
            <a:r>
              <a:rPr lang="ja-JP" altLang="en-US" dirty="0"/>
              <a:t>次元、</a:t>
            </a:r>
            <a:r>
              <a:rPr lang="en-US" altLang="ja-JP" dirty="0"/>
              <a:t>2</a:t>
            </a:r>
            <a:r>
              <a:rPr lang="ja-JP" altLang="en-US" dirty="0"/>
              <a:t>次元のピースワイズ劣化を考慮した</a:t>
            </a:r>
            <a:r>
              <a:rPr lang="en-US" altLang="ja-JP" dirty="0"/>
              <a:t>SOC</a:t>
            </a:r>
            <a:r>
              <a:rPr lang="ja-JP" altLang="en-US" dirty="0"/>
              <a:t>と市場価格</a:t>
            </a:r>
            <a:endParaRPr kumimoji="1" lang="ja-JP" altLang="en-US" dirty="0"/>
          </a:p>
        </p:txBody>
      </p:sp>
      <p:sp>
        <p:nvSpPr>
          <p:cNvPr id="8" name="テキスト ボックス 7">
            <a:extLst>
              <a:ext uri="{FF2B5EF4-FFF2-40B4-BE49-F238E27FC236}">
                <a16:creationId xmlns:a16="http://schemas.microsoft.com/office/drawing/2014/main" id="{C2B776E2-E575-B24F-36D8-AE527FCF140E}"/>
              </a:ext>
            </a:extLst>
          </p:cNvPr>
          <p:cNvSpPr txBox="1"/>
          <p:nvPr/>
        </p:nvSpPr>
        <p:spPr>
          <a:xfrm>
            <a:off x="901084" y="2197321"/>
            <a:ext cx="6098958" cy="1477328"/>
          </a:xfrm>
          <a:prstGeom prst="rect">
            <a:avLst/>
          </a:prstGeom>
          <a:noFill/>
        </p:spPr>
        <p:txBody>
          <a:bodyPr wrap="square">
            <a:spAutoFit/>
          </a:bodyPr>
          <a:lstStyle/>
          <a:p>
            <a:r>
              <a:rPr lang="en-US" altLang="ja-JP" dirty="0"/>
              <a:t>1</a:t>
            </a:r>
            <a:r>
              <a:rPr lang="ja-JP" altLang="en-US" dirty="0"/>
              <a:t>次元ピースワイズに比べて、</a:t>
            </a:r>
            <a:r>
              <a:rPr lang="en-US" altLang="ja-JP" dirty="0"/>
              <a:t>2</a:t>
            </a:r>
            <a:r>
              <a:rPr lang="ja-JP" altLang="en-US" dirty="0"/>
              <a:t>次元のピースワイズの方が</a:t>
            </a:r>
            <a:r>
              <a:rPr lang="en-US" altLang="ja-JP" dirty="0"/>
              <a:t>t=18~28</a:t>
            </a:r>
            <a:r>
              <a:rPr lang="ja-JP" altLang="en-US" dirty="0"/>
              <a:t>のあたりで充放電の深さ（</a:t>
            </a:r>
            <a:r>
              <a:rPr lang="en-US" altLang="ja-JP" dirty="0"/>
              <a:t>DoD</a:t>
            </a:r>
            <a:r>
              <a:rPr lang="ja-JP" altLang="en-US" dirty="0"/>
              <a:t>）が深い。</a:t>
            </a:r>
            <a:endParaRPr lang="en-US" altLang="ja-JP" dirty="0"/>
          </a:p>
          <a:p>
            <a:r>
              <a:rPr lang="ja-JP" altLang="en-US" dirty="0"/>
              <a:t>また、</a:t>
            </a:r>
            <a:r>
              <a:rPr lang="en-US" altLang="ja-JP" dirty="0"/>
              <a:t>t=24~29</a:t>
            </a:r>
            <a:r>
              <a:rPr lang="ja-JP" altLang="en-US" dirty="0"/>
              <a:t>の間で</a:t>
            </a:r>
            <a:r>
              <a:rPr lang="en-US" altLang="ja-JP" dirty="0"/>
              <a:t>1</a:t>
            </a:r>
            <a:r>
              <a:rPr lang="ja-JP" altLang="en-US" dirty="0"/>
              <a:t>次元ピースワイズのみ</a:t>
            </a:r>
            <a:r>
              <a:rPr lang="en-US" altLang="ja-JP" dirty="0"/>
              <a:t>SOC</a:t>
            </a:r>
            <a:r>
              <a:rPr lang="ja-JP" altLang="en-US" dirty="0"/>
              <a:t>がほぼ満タンになっている。</a:t>
            </a:r>
            <a:endParaRPr lang="en-US" altLang="ja-JP" dirty="0"/>
          </a:p>
          <a:p>
            <a:endParaRPr lang="ja-JP" altLang="en-US" dirty="0"/>
          </a:p>
        </p:txBody>
      </p:sp>
    </p:spTree>
    <p:extLst>
      <p:ext uri="{BB962C8B-B14F-4D97-AF65-F5344CB8AC3E}">
        <p14:creationId xmlns:p14="http://schemas.microsoft.com/office/powerpoint/2010/main" val="2312101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23F3FF-285F-6D31-92D0-F453300FDBE0}"/>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391DD18C-9981-DF43-DA22-047993BD0691}"/>
              </a:ext>
            </a:extLst>
          </p:cNvPr>
          <p:cNvSpPr>
            <a:spLocks noGrp="1"/>
          </p:cNvSpPr>
          <p:nvPr>
            <p:ph idx="1"/>
          </p:nvPr>
        </p:nvSpPr>
        <p:spPr/>
        <p:txBody>
          <a:bodyPr/>
          <a:lstStyle/>
          <a:p>
            <a:r>
              <a:rPr kumimoji="1" lang="ja-JP" altLang="en-US" dirty="0"/>
              <a:t>電池にとって過負荷な運用によって劣化コストが増える要因になっており</a:t>
            </a:r>
            <a:r>
              <a:rPr kumimoji="1" lang="en-US" altLang="ja-JP" dirty="0"/>
              <a:t>DoD</a:t>
            </a:r>
            <a:r>
              <a:rPr kumimoji="1" lang="ja-JP" altLang="en-US" dirty="0"/>
              <a:t>の大きさ、深い充放電の繰り返しが劣化に影響することをシミュレーションで確認した。</a:t>
            </a:r>
            <a:endParaRPr kumimoji="1" lang="en-US" altLang="ja-JP" dirty="0"/>
          </a:p>
          <a:p>
            <a:r>
              <a:rPr kumimoji="1" lang="en-US" altLang="ja-JP" dirty="0"/>
              <a:t>2</a:t>
            </a:r>
            <a:r>
              <a:rPr kumimoji="1" lang="ja-JP" altLang="en-US" dirty="0"/>
              <a:t>次元のピースワイズを採用すると</a:t>
            </a:r>
            <a:r>
              <a:rPr kumimoji="1" lang="en-US" altLang="ja-JP" dirty="0"/>
              <a:t>SOC</a:t>
            </a:r>
            <a:r>
              <a:rPr kumimoji="1" lang="ja-JP" altLang="en-US" dirty="0"/>
              <a:t>高めで待機する運用が劣化のせいでコスト的に不利なので、価格上昇する寸前まで</a:t>
            </a:r>
            <a:r>
              <a:rPr kumimoji="1" lang="en-US" altLang="ja-JP" dirty="0"/>
              <a:t>SOC</a:t>
            </a:r>
            <a:r>
              <a:rPr kumimoji="1" lang="ja-JP" altLang="en-US" dirty="0"/>
              <a:t>が低い状態が最適解となってしまう。</a:t>
            </a:r>
          </a:p>
        </p:txBody>
      </p:sp>
    </p:spTree>
    <p:extLst>
      <p:ext uri="{BB962C8B-B14F-4D97-AF65-F5344CB8AC3E}">
        <p14:creationId xmlns:p14="http://schemas.microsoft.com/office/powerpoint/2010/main" val="59506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7034E9-47F5-4837-4BB7-43A9DD3FC8E1}"/>
              </a:ext>
            </a:extLst>
          </p:cNvPr>
          <p:cNvSpPr>
            <a:spLocks noGrp="1"/>
          </p:cNvSpPr>
          <p:nvPr>
            <p:ph type="title"/>
          </p:nvPr>
        </p:nvSpPr>
        <p:spPr/>
        <p:txBody>
          <a:bodyPr/>
          <a:lstStyle/>
          <a:p>
            <a:r>
              <a:rPr kumimoji="1" lang="ja-JP" altLang="en-US" dirty="0"/>
              <a:t>今後の研究課題</a:t>
            </a:r>
          </a:p>
        </p:txBody>
      </p:sp>
      <p:sp>
        <p:nvSpPr>
          <p:cNvPr id="3" name="コンテンツ プレースホルダー 2">
            <a:extLst>
              <a:ext uri="{FF2B5EF4-FFF2-40B4-BE49-F238E27FC236}">
                <a16:creationId xmlns:a16="http://schemas.microsoft.com/office/drawing/2014/main" id="{384B006E-79B6-DB47-B94B-59575612E0CC}"/>
              </a:ext>
            </a:extLst>
          </p:cNvPr>
          <p:cNvSpPr>
            <a:spLocks noGrp="1"/>
          </p:cNvSpPr>
          <p:nvPr>
            <p:ph idx="1"/>
          </p:nvPr>
        </p:nvSpPr>
        <p:spPr/>
        <p:txBody>
          <a:bodyPr/>
          <a:lstStyle/>
          <a:p>
            <a:r>
              <a:rPr lang="ja-JP" altLang="en-US" dirty="0"/>
              <a:t>（実際の現場では価格がいつ上昇するか正確な時間まではわからないため余裕をもって充電する必要がある。）</a:t>
            </a:r>
            <a:endParaRPr kumimoji="1" lang="ja-JP" altLang="en-US" dirty="0"/>
          </a:p>
        </p:txBody>
      </p:sp>
    </p:spTree>
    <p:extLst>
      <p:ext uri="{BB962C8B-B14F-4D97-AF65-F5344CB8AC3E}">
        <p14:creationId xmlns:p14="http://schemas.microsoft.com/office/powerpoint/2010/main" val="289127212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1541</TotalTime>
  <Words>482</Words>
  <Application>Microsoft Office PowerPoint</Application>
  <PresentationFormat>ワイド画面</PresentationFormat>
  <Paragraphs>43</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游ゴシック</vt:lpstr>
      <vt:lpstr>游ゴシック Light</vt:lpstr>
      <vt:lpstr>Arial</vt:lpstr>
      <vt:lpstr>Office テーマ</vt:lpstr>
      <vt:lpstr>1201</vt:lpstr>
      <vt:lpstr>2次元ピースワイズ</vt:lpstr>
      <vt:lpstr>2次元ピースワイズ</vt:lpstr>
      <vt:lpstr>1次元ピースワイズ</vt:lpstr>
      <vt:lpstr>1次元ピースワイズ</vt:lpstr>
      <vt:lpstr>1と3の違い</vt:lpstr>
      <vt:lpstr>2と4の違い</vt:lpstr>
      <vt:lpstr>3ケースの比較</vt:lpstr>
      <vt:lpstr>劣化なし　6月　-151728</vt:lpstr>
      <vt:lpstr>6月　3ケースの比較　-155708</vt:lpstr>
      <vt:lpstr>結果</vt:lpstr>
      <vt:lpstr>PowerPoint プレゼンテーション</vt:lpstr>
      <vt:lpstr>2次元ピースワイズの比較</vt:lpstr>
      <vt:lpstr>5月の一次元と二次元の比較</vt:lpstr>
      <vt:lpstr>考察</vt:lpstr>
      <vt:lpstr>今後の研究課題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kitn.lzh →</dc:creator>
  <cp:lastModifiedBy>kitn.lzh →</cp:lastModifiedBy>
  <cp:revision>14</cp:revision>
  <dcterms:created xsi:type="dcterms:W3CDTF">2025-12-01T05:53:21Z</dcterms:created>
  <dcterms:modified xsi:type="dcterms:W3CDTF">2025-12-12T08:22:11Z</dcterms:modified>
</cp:coreProperties>
</file>