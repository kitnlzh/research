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27"/>
  </p:notesMasterIdLst>
  <p:sldIdLst>
    <p:sldId id="256" r:id="rId2"/>
    <p:sldId id="257" r:id="rId3"/>
    <p:sldId id="258" r:id="rId4"/>
    <p:sldId id="259" r:id="rId5"/>
    <p:sldId id="260" r:id="rId6"/>
    <p:sldId id="269" r:id="rId7"/>
    <p:sldId id="262" r:id="rId8"/>
    <p:sldId id="280" r:id="rId9"/>
    <p:sldId id="278" r:id="rId10"/>
    <p:sldId id="282" r:id="rId11"/>
    <p:sldId id="263" r:id="rId12"/>
    <p:sldId id="270" r:id="rId13"/>
    <p:sldId id="272" r:id="rId14"/>
    <p:sldId id="271" r:id="rId15"/>
    <p:sldId id="281" r:id="rId16"/>
    <p:sldId id="264" r:id="rId17"/>
    <p:sldId id="273" r:id="rId18"/>
    <p:sldId id="274" r:id="rId19"/>
    <p:sldId id="277" r:id="rId20"/>
    <p:sldId id="276" r:id="rId21"/>
    <p:sldId id="265" r:id="rId22"/>
    <p:sldId id="279" r:id="rId23"/>
    <p:sldId id="266" r:id="rId24"/>
    <p:sldId id="267" r:id="rId25"/>
    <p:sldId id="268" r:id="rId2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2" autoAdjust="0"/>
    <p:restoredTop sz="94660"/>
  </p:normalViewPr>
  <p:slideViewPr>
    <p:cSldViewPr snapToGrid="0" snapToObjects="1">
      <p:cViewPr varScale="1">
        <p:scale>
          <a:sx n="76" d="100"/>
          <a:sy n="76" d="100"/>
        </p:scale>
        <p:origin x="63" y="2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n.lzh →" userId="aae51206e0f3c209" providerId="LiveId" clId="{C53E141C-B797-4BD5-B97C-FF93ADA80928}"/>
    <pc:docChg chg="modSld">
      <pc:chgData name="kitn.lzh →" userId="aae51206e0f3c209" providerId="LiveId" clId="{C53E141C-B797-4BD5-B97C-FF93ADA80928}" dt="2025-12-21T03:52:17.469" v="4" actId="1076"/>
      <pc:docMkLst>
        <pc:docMk/>
      </pc:docMkLst>
      <pc:sldChg chg="modSp mod">
        <pc:chgData name="kitn.lzh →" userId="aae51206e0f3c209" providerId="LiveId" clId="{C53E141C-B797-4BD5-B97C-FF93ADA80928}" dt="2025-12-21T03:41:53.662" v="2" actId="1076"/>
        <pc:sldMkLst>
          <pc:docMk/>
          <pc:sldMk cId="1974470240" sldId="270"/>
        </pc:sldMkLst>
        <pc:picChg chg="mod">
          <ac:chgData name="kitn.lzh →" userId="aae51206e0f3c209" providerId="LiveId" clId="{C53E141C-B797-4BD5-B97C-FF93ADA80928}" dt="2025-12-21T03:38:36.592" v="1" actId="1076"/>
          <ac:picMkLst>
            <pc:docMk/>
            <pc:sldMk cId="1974470240" sldId="270"/>
            <ac:picMk id="7" creationId="{19904263-2974-E295-62C9-4EC575E11519}"/>
          </ac:picMkLst>
        </pc:picChg>
        <pc:picChg chg="mod">
          <ac:chgData name="kitn.lzh →" userId="aae51206e0f3c209" providerId="LiveId" clId="{C53E141C-B797-4BD5-B97C-FF93ADA80928}" dt="2025-12-21T03:41:53.662" v="2" actId="1076"/>
          <ac:picMkLst>
            <pc:docMk/>
            <pc:sldMk cId="1974470240" sldId="270"/>
            <ac:picMk id="8" creationId="{E4F9AC14-4F38-DC2C-70FD-DDE6CF8097FC}"/>
          </ac:picMkLst>
        </pc:picChg>
      </pc:sldChg>
      <pc:sldChg chg="modSp mod">
        <pc:chgData name="kitn.lzh →" userId="aae51206e0f3c209" providerId="LiveId" clId="{C53E141C-B797-4BD5-B97C-FF93ADA80928}" dt="2025-12-21T03:52:17.469" v="4" actId="1076"/>
        <pc:sldMkLst>
          <pc:docMk/>
          <pc:sldMk cId="303872316" sldId="271"/>
        </pc:sldMkLst>
        <pc:picChg chg="mod">
          <ac:chgData name="kitn.lzh →" userId="aae51206e0f3c209" providerId="LiveId" clId="{C53E141C-B797-4BD5-B97C-FF93ADA80928}" dt="2025-12-21T03:52:17.469" v="4" actId="1076"/>
          <ac:picMkLst>
            <pc:docMk/>
            <pc:sldMk cId="303872316" sldId="271"/>
            <ac:picMk id="9" creationId="{C2E1B1F4-381F-C601-FFC0-9AE1229FBD7A}"/>
          </ac:picMkLst>
        </pc:picChg>
      </pc:sldChg>
      <pc:sldChg chg="mod modShow">
        <pc:chgData name="kitn.lzh →" userId="aae51206e0f3c209" providerId="LiveId" clId="{C53E141C-B797-4BD5-B97C-FF93ADA80928}" dt="2025-12-20T18:50:03.842" v="0" actId="729"/>
        <pc:sldMkLst>
          <pc:docMk/>
          <pc:sldMk cId="2496318761"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892EFF-7BF5-4949-A8BD-C36865765487}" type="datetimeFigureOut">
              <a:rPr kumimoji="1" lang="ja-JP" altLang="en-US" smtClean="0"/>
              <a:t>2025/12/21</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0CDDE9-6468-42B0-A004-4CFA88B6499D}" type="slidenum">
              <a:rPr kumimoji="1" lang="ja-JP" altLang="en-US" smtClean="0"/>
              <a:t>‹#›</a:t>
            </a:fld>
            <a:endParaRPr kumimoji="1" lang="ja-JP" altLang="en-US"/>
          </a:p>
        </p:txBody>
      </p:sp>
    </p:spTree>
    <p:extLst>
      <p:ext uri="{BB962C8B-B14F-4D97-AF65-F5344CB8AC3E}">
        <p14:creationId xmlns:p14="http://schemas.microsoft.com/office/powerpoint/2010/main" val="421285960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931056-AFCE-7BB1-3670-C3A6CD17DE92}"/>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A6AB77C-E8A5-1570-C194-4069577E04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4108542-E8E6-827A-1C6F-7443AA2A1CA5}"/>
              </a:ext>
            </a:extLst>
          </p:cNvPr>
          <p:cNvSpPr>
            <a:spLocks noGrp="1"/>
          </p:cNvSpPr>
          <p:nvPr>
            <p:ph type="dt" sz="half" idx="10"/>
          </p:nvPr>
        </p:nvSpPr>
        <p:spPr/>
        <p:txBody>
          <a:bodyPr/>
          <a:lstStyle/>
          <a:p>
            <a:fld id="{C0149694-E46D-4B25-AA64-025818939D10}" type="datetime1">
              <a:rPr lang="en-US" altLang="ja-JP" smtClean="0"/>
              <a:t>12/21/2025</a:t>
            </a:fld>
            <a:endParaRPr lang="en-US"/>
          </a:p>
        </p:txBody>
      </p:sp>
      <p:sp>
        <p:nvSpPr>
          <p:cNvPr id="5" name="フッター プレースホルダー 4">
            <a:extLst>
              <a:ext uri="{FF2B5EF4-FFF2-40B4-BE49-F238E27FC236}">
                <a16:creationId xmlns:a16="http://schemas.microsoft.com/office/drawing/2014/main" id="{FAC8BAD8-1880-142A-6415-3C47119AB7E3}"/>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1A88B217-B423-4797-492D-18425796B74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3830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571F9A-462B-4358-F1CE-11EF802924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7B2FAB-A223-33F2-6433-7849CC88A8E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0561A9-0445-FB3E-5F47-73A1571E783B}"/>
              </a:ext>
            </a:extLst>
          </p:cNvPr>
          <p:cNvSpPr>
            <a:spLocks noGrp="1"/>
          </p:cNvSpPr>
          <p:nvPr>
            <p:ph type="dt" sz="half" idx="10"/>
          </p:nvPr>
        </p:nvSpPr>
        <p:spPr/>
        <p:txBody>
          <a:bodyPr/>
          <a:lstStyle/>
          <a:p>
            <a:fld id="{9D702321-DE90-40AE-879E-6B10B63F340C}" type="datetime1">
              <a:rPr lang="en-US" altLang="ja-JP" smtClean="0"/>
              <a:t>12/21/2025</a:t>
            </a:fld>
            <a:endParaRPr lang="en-US"/>
          </a:p>
        </p:txBody>
      </p:sp>
      <p:sp>
        <p:nvSpPr>
          <p:cNvPr id="5" name="フッター プレースホルダー 4">
            <a:extLst>
              <a:ext uri="{FF2B5EF4-FFF2-40B4-BE49-F238E27FC236}">
                <a16:creationId xmlns:a16="http://schemas.microsoft.com/office/drawing/2014/main" id="{E62FAC13-95EE-AB68-FE8D-7B89BA990DAE}"/>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4814D525-70AA-CC16-5618-E1CF714B1EA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2820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586ACD-A37E-FCEC-E852-DDF1DF6A83B1}"/>
              </a:ext>
            </a:extLst>
          </p:cNvPr>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8FDCEA-33EE-7237-9F47-29BBBB0CF3B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BB62F67-8E09-741D-73CB-609D3A1F1363}"/>
              </a:ext>
            </a:extLst>
          </p:cNvPr>
          <p:cNvSpPr>
            <a:spLocks noGrp="1"/>
          </p:cNvSpPr>
          <p:nvPr>
            <p:ph type="dt" sz="half" idx="10"/>
          </p:nvPr>
        </p:nvSpPr>
        <p:spPr/>
        <p:txBody>
          <a:bodyPr/>
          <a:lstStyle/>
          <a:p>
            <a:fld id="{227A3481-46E7-47D3-BA66-F40FB421B16A}" type="datetime1">
              <a:rPr lang="en-US" altLang="ja-JP" smtClean="0"/>
              <a:t>12/21/2025</a:t>
            </a:fld>
            <a:endParaRPr lang="en-US"/>
          </a:p>
        </p:txBody>
      </p:sp>
      <p:sp>
        <p:nvSpPr>
          <p:cNvPr id="5" name="フッター プレースホルダー 4">
            <a:extLst>
              <a:ext uri="{FF2B5EF4-FFF2-40B4-BE49-F238E27FC236}">
                <a16:creationId xmlns:a16="http://schemas.microsoft.com/office/drawing/2014/main" id="{B85B013C-5522-4A66-F8B6-9C6626B484E7}"/>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7C941157-58B1-2FB5-38B3-A2B4AD4E108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680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AF3A16-320D-88C9-2680-CC7067D41F6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CF544D1-38F2-27EB-BE82-38DE4EAE39A6}"/>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24C9FA3-38AA-CEF4-DEA3-5120B392399A}"/>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46FE63F-5667-429E-D689-F0A661793CD6}"/>
              </a:ext>
            </a:extLst>
          </p:cNvPr>
          <p:cNvSpPr>
            <a:spLocks noGrp="1"/>
          </p:cNvSpPr>
          <p:nvPr>
            <p:ph type="dt" sz="half" idx="10"/>
          </p:nvPr>
        </p:nvSpPr>
        <p:spPr/>
        <p:txBody>
          <a:bodyPr/>
          <a:lstStyle/>
          <a:p>
            <a:fld id="{7585744F-683D-4295-91E1-EDC5C481E7E9}" type="datetime1">
              <a:rPr lang="en-US" altLang="ja-JP" smtClean="0"/>
              <a:t>12/21/2025</a:t>
            </a:fld>
            <a:endParaRPr lang="en-US"/>
          </a:p>
        </p:txBody>
      </p:sp>
      <p:sp>
        <p:nvSpPr>
          <p:cNvPr id="6" name="フッター プレースホルダー 5">
            <a:extLst>
              <a:ext uri="{FF2B5EF4-FFF2-40B4-BE49-F238E27FC236}">
                <a16:creationId xmlns:a16="http://schemas.microsoft.com/office/drawing/2014/main" id="{0C6B9CE6-6CDD-61B0-EAFE-0BF8CF59C904}"/>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D5D9CD0D-456F-3A67-28D4-37895B64FAB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721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4FB062-6D4C-5E0C-ED0F-B688CFB0CE43}"/>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247379-1118-DA3E-60B6-9D5CA5B0B1F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585D19E-3657-B89E-EA08-7CBB6B59DB65}"/>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4D5F4C7-A776-10E9-7C68-4319C6E7F02C}"/>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454F2A2-743D-508D-F463-F7988B960D83}"/>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9C41F7B-B8C7-F783-BA7A-D47A835D4FFF}"/>
              </a:ext>
            </a:extLst>
          </p:cNvPr>
          <p:cNvSpPr>
            <a:spLocks noGrp="1"/>
          </p:cNvSpPr>
          <p:nvPr>
            <p:ph type="dt" sz="half" idx="10"/>
          </p:nvPr>
        </p:nvSpPr>
        <p:spPr/>
        <p:txBody>
          <a:bodyPr/>
          <a:lstStyle/>
          <a:p>
            <a:fld id="{9D13564B-4F8A-498E-BEDB-BF41CC47508F}" type="datetime1">
              <a:rPr lang="en-US" altLang="ja-JP" smtClean="0"/>
              <a:t>12/21/2025</a:t>
            </a:fld>
            <a:endParaRPr lang="en-US"/>
          </a:p>
        </p:txBody>
      </p:sp>
      <p:sp>
        <p:nvSpPr>
          <p:cNvPr id="8" name="フッター プレースホルダー 7">
            <a:extLst>
              <a:ext uri="{FF2B5EF4-FFF2-40B4-BE49-F238E27FC236}">
                <a16:creationId xmlns:a16="http://schemas.microsoft.com/office/drawing/2014/main" id="{E2FB74C9-0012-C284-5C6B-1EF38A24613E}"/>
              </a:ext>
            </a:extLst>
          </p:cNvPr>
          <p:cNvSpPr>
            <a:spLocks noGrp="1"/>
          </p:cNvSpPr>
          <p:nvPr>
            <p:ph type="ftr" sz="quarter" idx="11"/>
          </p:nvPr>
        </p:nvSpPr>
        <p:spPr/>
        <p:txBody>
          <a:bodyPr/>
          <a:lstStyle/>
          <a:p>
            <a:endParaRPr lang="en-US"/>
          </a:p>
        </p:txBody>
      </p:sp>
      <p:sp>
        <p:nvSpPr>
          <p:cNvPr id="9" name="スライド番号プレースホルダー 8">
            <a:extLst>
              <a:ext uri="{FF2B5EF4-FFF2-40B4-BE49-F238E27FC236}">
                <a16:creationId xmlns:a16="http://schemas.microsoft.com/office/drawing/2014/main" id="{4180A9D5-16F4-FD1F-ECE2-C64968F8DC3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9365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4A7F6C-BC6B-6E23-70A3-9FAB35CA320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44CFA9C-C095-95AB-8436-B4584CE72989}"/>
              </a:ext>
            </a:extLst>
          </p:cNvPr>
          <p:cNvSpPr>
            <a:spLocks noGrp="1"/>
          </p:cNvSpPr>
          <p:nvPr>
            <p:ph type="dt" sz="half" idx="10"/>
          </p:nvPr>
        </p:nvSpPr>
        <p:spPr/>
        <p:txBody>
          <a:bodyPr/>
          <a:lstStyle/>
          <a:p>
            <a:fld id="{618E58A8-3B26-4F81-929C-F58FA5B35334}" type="datetime1">
              <a:rPr lang="en-US" altLang="ja-JP" smtClean="0"/>
              <a:t>12/21/2025</a:t>
            </a:fld>
            <a:endParaRPr lang="en-US"/>
          </a:p>
        </p:txBody>
      </p:sp>
      <p:sp>
        <p:nvSpPr>
          <p:cNvPr id="4" name="フッター プレースホルダー 3">
            <a:extLst>
              <a:ext uri="{FF2B5EF4-FFF2-40B4-BE49-F238E27FC236}">
                <a16:creationId xmlns:a16="http://schemas.microsoft.com/office/drawing/2014/main" id="{45A0C160-45B3-687B-BC7D-6C128EE5272D}"/>
              </a:ext>
            </a:extLst>
          </p:cNvPr>
          <p:cNvSpPr>
            <a:spLocks noGrp="1"/>
          </p:cNvSpPr>
          <p:nvPr>
            <p:ph type="ftr" sz="quarter" idx="11"/>
          </p:nvPr>
        </p:nvSpPr>
        <p:spPr/>
        <p:txBody>
          <a:bodyPr/>
          <a:lstStyle/>
          <a:p>
            <a:endParaRPr lang="en-US"/>
          </a:p>
        </p:txBody>
      </p:sp>
      <p:sp>
        <p:nvSpPr>
          <p:cNvPr id="5" name="スライド番号プレースホルダー 4">
            <a:extLst>
              <a:ext uri="{FF2B5EF4-FFF2-40B4-BE49-F238E27FC236}">
                <a16:creationId xmlns:a16="http://schemas.microsoft.com/office/drawing/2014/main" id="{F4D4A671-7B9E-F932-A85B-4F5CA667212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1059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BC9E092-3049-D6FA-FD25-3677487E81DD}"/>
              </a:ext>
            </a:extLst>
          </p:cNvPr>
          <p:cNvSpPr>
            <a:spLocks noGrp="1"/>
          </p:cNvSpPr>
          <p:nvPr>
            <p:ph type="dt" sz="half" idx="10"/>
          </p:nvPr>
        </p:nvSpPr>
        <p:spPr/>
        <p:txBody>
          <a:bodyPr/>
          <a:lstStyle/>
          <a:p>
            <a:fld id="{AD7C39B4-407D-4C2A-B10D-1766E11D4E7C}" type="datetime1">
              <a:rPr lang="en-US" altLang="ja-JP" smtClean="0"/>
              <a:t>12/21/2025</a:t>
            </a:fld>
            <a:endParaRPr lang="en-US"/>
          </a:p>
        </p:txBody>
      </p:sp>
      <p:sp>
        <p:nvSpPr>
          <p:cNvPr id="3" name="フッター プレースホルダー 2">
            <a:extLst>
              <a:ext uri="{FF2B5EF4-FFF2-40B4-BE49-F238E27FC236}">
                <a16:creationId xmlns:a16="http://schemas.microsoft.com/office/drawing/2014/main" id="{5011C245-4B51-C495-8867-0981702008B2}"/>
              </a:ext>
            </a:extLst>
          </p:cNvPr>
          <p:cNvSpPr>
            <a:spLocks noGrp="1"/>
          </p:cNvSpPr>
          <p:nvPr>
            <p:ph type="ftr" sz="quarter" idx="11"/>
          </p:nvPr>
        </p:nvSpPr>
        <p:spPr/>
        <p:txBody>
          <a:bodyPr/>
          <a:lstStyle/>
          <a:p>
            <a:endParaRPr lang="en-US"/>
          </a:p>
        </p:txBody>
      </p:sp>
      <p:sp>
        <p:nvSpPr>
          <p:cNvPr id="4" name="スライド番号プレースホルダー 3">
            <a:extLst>
              <a:ext uri="{FF2B5EF4-FFF2-40B4-BE49-F238E27FC236}">
                <a16:creationId xmlns:a16="http://schemas.microsoft.com/office/drawing/2014/main" id="{7CAAFB4D-EC8C-EC6D-98A4-374AEA67F58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4550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D985E4-37D4-9CCF-4920-383BADD23151}"/>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372187-53AE-8664-D996-DEDD01A4D7C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C144108-E0DE-AA07-2290-76CD54471B5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EB660E7-888E-AC02-E4AD-AD339706B77B}"/>
              </a:ext>
            </a:extLst>
          </p:cNvPr>
          <p:cNvSpPr>
            <a:spLocks noGrp="1"/>
          </p:cNvSpPr>
          <p:nvPr>
            <p:ph type="dt" sz="half" idx="10"/>
          </p:nvPr>
        </p:nvSpPr>
        <p:spPr/>
        <p:txBody>
          <a:bodyPr/>
          <a:lstStyle/>
          <a:p>
            <a:fld id="{DA070EC0-909C-48E5-BABB-FAFB4AD53EFC}" type="datetime1">
              <a:rPr lang="en-US" altLang="ja-JP" smtClean="0"/>
              <a:t>12/21/2025</a:t>
            </a:fld>
            <a:endParaRPr lang="en-US"/>
          </a:p>
        </p:txBody>
      </p:sp>
      <p:sp>
        <p:nvSpPr>
          <p:cNvPr id="6" name="フッター プレースホルダー 5">
            <a:extLst>
              <a:ext uri="{FF2B5EF4-FFF2-40B4-BE49-F238E27FC236}">
                <a16:creationId xmlns:a16="http://schemas.microsoft.com/office/drawing/2014/main" id="{F4DF3EC4-B910-1F3C-830E-C24325FDA57D}"/>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8A4244F8-3F57-8B9C-8B64-3F02F6F52A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1034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6DBC93-14A7-D02E-BE2C-D8416116BB07}"/>
              </a:ext>
            </a:extLst>
          </p:cNvPr>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549800B-B240-21BE-C189-C69F1B964EB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a:extLst>
              <a:ext uri="{FF2B5EF4-FFF2-40B4-BE49-F238E27FC236}">
                <a16:creationId xmlns:a16="http://schemas.microsoft.com/office/drawing/2014/main" id="{E3E06559-CB17-EB17-36A7-2C0D6FD6500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501933F-3084-839D-67BE-954C4B3E4168}"/>
              </a:ext>
            </a:extLst>
          </p:cNvPr>
          <p:cNvSpPr>
            <a:spLocks noGrp="1"/>
          </p:cNvSpPr>
          <p:nvPr>
            <p:ph type="dt" sz="half" idx="10"/>
          </p:nvPr>
        </p:nvSpPr>
        <p:spPr/>
        <p:txBody>
          <a:bodyPr/>
          <a:lstStyle/>
          <a:p>
            <a:fld id="{E7E7CD14-A493-4D7B-805F-9849EF72B611}" type="datetime1">
              <a:rPr lang="en-US" altLang="ja-JP" smtClean="0"/>
              <a:t>12/21/2025</a:t>
            </a:fld>
            <a:endParaRPr lang="en-US"/>
          </a:p>
        </p:txBody>
      </p:sp>
      <p:sp>
        <p:nvSpPr>
          <p:cNvPr id="6" name="フッター プレースホルダー 5">
            <a:extLst>
              <a:ext uri="{FF2B5EF4-FFF2-40B4-BE49-F238E27FC236}">
                <a16:creationId xmlns:a16="http://schemas.microsoft.com/office/drawing/2014/main" id="{B5F751B8-C292-FB3B-B705-9901DD34E213}"/>
              </a:ext>
            </a:extLst>
          </p:cNvPr>
          <p:cNvSpPr>
            <a:spLocks noGrp="1"/>
          </p:cNvSpPr>
          <p:nvPr>
            <p:ph type="ftr" sz="quarter" idx="11"/>
          </p:nvPr>
        </p:nvSpPr>
        <p:spPr/>
        <p:txBody>
          <a:bodyPr/>
          <a:lstStyle/>
          <a:p>
            <a:endParaRPr lang="en-US"/>
          </a:p>
        </p:txBody>
      </p:sp>
      <p:sp>
        <p:nvSpPr>
          <p:cNvPr id="7" name="スライド番号プレースホルダー 6">
            <a:extLst>
              <a:ext uri="{FF2B5EF4-FFF2-40B4-BE49-F238E27FC236}">
                <a16:creationId xmlns:a16="http://schemas.microsoft.com/office/drawing/2014/main" id="{4F9218F6-4613-99ED-33B6-54670B71FC5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1930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BDD280-DD6A-1F63-C8EA-3ADDED1A3C0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364B19-EF9D-56A8-3D47-945310D105E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C2AD99F-56EB-D5A3-AB79-EF77B8C3C68C}"/>
              </a:ext>
            </a:extLst>
          </p:cNvPr>
          <p:cNvSpPr>
            <a:spLocks noGrp="1"/>
          </p:cNvSpPr>
          <p:nvPr>
            <p:ph type="dt" sz="half" idx="10"/>
          </p:nvPr>
        </p:nvSpPr>
        <p:spPr/>
        <p:txBody>
          <a:bodyPr/>
          <a:lstStyle/>
          <a:p>
            <a:fld id="{9CC269AD-AAA7-4464-AAD2-0F70CC4B65F4}" type="datetime1">
              <a:rPr lang="en-US" altLang="ja-JP" smtClean="0"/>
              <a:t>12/21/2025</a:t>
            </a:fld>
            <a:endParaRPr lang="en-US"/>
          </a:p>
        </p:txBody>
      </p:sp>
      <p:sp>
        <p:nvSpPr>
          <p:cNvPr id="5" name="フッター プレースホルダー 4">
            <a:extLst>
              <a:ext uri="{FF2B5EF4-FFF2-40B4-BE49-F238E27FC236}">
                <a16:creationId xmlns:a16="http://schemas.microsoft.com/office/drawing/2014/main" id="{42EDA254-C519-6F45-2135-C69439563F1B}"/>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4717343F-97D5-9FE9-2752-4C294C1A162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404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A54E353-6DCC-B7A3-ECE2-B5CF056157DD}"/>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07BCFA2-C4E2-F208-2E1F-E57F8E5240D8}"/>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E46F51-6923-1011-541A-8824B59DEC06}"/>
              </a:ext>
            </a:extLst>
          </p:cNvPr>
          <p:cNvSpPr>
            <a:spLocks noGrp="1"/>
          </p:cNvSpPr>
          <p:nvPr>
            <p:ph type="dt" sz="half" idx="10"/>
          </p:nvPr>
        </p:nvSpPr>
        <p:spPr/>
        <p:txBody>
          <a:bodyPr/>
          <a:lstStyle/>
          <a:p>
            <a:fld id="{2E994986-0F17-442D-AAAE-B14DEB6DB290}" type="datetime1">
              <a:rPr lang="en-US" altLang="ja-JP" smtClean="0"/>
              <a:t>12/21/2025</a:t>
            </a:fld>
            <a:endParaRPr lang="en-US"/>
          </a:p>
        </p:txBody>
      </p:sp>
      <p:sp>
        <p:nvSpPr>
          <p:cNvPr id="5" name="フッター プレースホルダー 4">
            <a:extLst>
              <a:ext uri="{FF2B5EF4-FFF2-40B4-BE49-F238E27FC236}">
                <a16:creationId xmlns:a16="http://schemas.microsoft.com/office/drawing/2014/main" id="{5C54B209-FD54-B94C-0BD1-02E56CD4AAA4}"/>
              </a:ext>
            </a:extLst>
          </p:cNvPr>
          <p:cNvSpPr>
            <a:spLocks noGrp="1"/>
          </p:cNvSpPr>
          <p:nvPr>
            <p:ph type="ftr" sz="quarter" idx="11"/>
          </p:nvPr>
        </p:nvSpPr>
        <p:spPr/>
        <p:txBody>
          <a:bodyPr/>
          <a:lstStyle/>
          <a:p>
            <a:endParaRPr lang="en-US"/>
          </a:p>
        </p:txBody>
      </p:sp>
      <p:sp>
        <p:nvSpPr>
          <p:cNvPr id="6" name="スライド番号プレースホルダー 5">
            <a:extLst>
              <a:ext uri="{FF2B5EF4-FFF2-40B4-BE49-F238E27FC236}">
                <a16:creationId xmlns:a16="http://schemas.microsoft.com/office/drawing/2014/main" id="{58C1A561-A3E2-0F64-F454-CD7AF8B214A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9225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EA6D1D1-6326-0E44-7061-35EF5DA572B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FFBEE08-3B31-95DF-1AD6-EB02251EF7D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A9C2D68-3E84-89ED-4EEB-C6F119CD93E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B113122-FF44-4659-B74E-D182C85C7D49}" type="datetime1">
              <a:rPr lang="en-US" altLang="ja-JP" smtClean="0"/>
              <a:t>12/21/2025</a:t>
            </a:fld>
            <a:endParaRPr lang="en-US"/>
          </a:p>
        </p:txBody>
      </p:sp>
      <p:sp>
        <p:nvSpPr>
          <p:cNvPr id="5" name="フッター プレースホルダー 4">
            <a:extLst>
              <a:ext uri="{FF2B5EF4-FFF2-40B4-BE49-F238E27FC236}">
                <a16:creationId xmlns:a16="http://schemas.microsoft.com/office/drawing/2014/main" id="{67534AB2-9169-F8C4-F482-668AF228030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スライド番号プレースホルダー 5">
            <a:extLst>
              <a:ext uri="{FF2B5EF4-FFF2-40B4-BE49-F238E27FC236}">
                <a16:creationId xmlns:a16="http://schemas.microsoft.com/office/drawing/2014/main" id="{0ED05D0A-AA01-73AE-DF6B-6AEE2551261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1720744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ftr="0" dt="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lstStyle/>
          <a:p>
            <a:endParaRPr dirty="0"/>
          </a:p>
          <a:p>
            <a:pPr marL="0" indent="0">
              <a:buNone/>
            </a:pPr>
            <a:r>
              <a:rPr lang="ja-JP" altLang="en-US" dirty="0"/>
              <a:t>劣化特性を考慮した定置用蓄電池の複数市場への容量の最適配分について</a:t>
            </a:r>
            <a:endParaRPr lang="en-US" altLang="ja-JP" dirty="0"/>
          </a:p>
          <a:p>
            <a:pPr marL="0" indent="0">
              <a:buNone/>
            </a:pPr>
            <a:endParaRPr lang="en-US" altLang="ja-JP" dirty="0"/>
          </a:p>
          <a:p>
            <a:pPr marL="0" indent="0">
              <a:buNone/>
            </a:pPr>
            <a:endParaRPr lang="en-US" altLang="ja-JP" dirty="0"/>
          </a:p>
          <a:p>
            <a:pPr marL="0" indent="0">
              <a:buNone/>
            </a:pPr>
            <a:r>
              <a:rPr lang="en-US" altLang="ja-JP" dirty="0"/>
              <a:t>4</a:t>
            </a:r>
            <a:r>
              <a:rPr lang="ja-JP" altLang="en-US" dirty="0"/>
              <a:t>年</a:t>
            </a:r>
            <a:r>
              <a:rPr lang="en-US" altLang="ja-JP" dirty="0"/>
              <a:t>5</a:t>
            </a:r>
            <a:r>
              <a:rPr lang="ja-JP" altLang="en-US" dirty="0"/>
              <a:t>組</a:t>
            </a:r>
            <a:r>
              <a:rPr lang="en-US" altLang="ja-JP" dirty="0"/>
              <a:t>17</a:t>
            </a:r>
            <a:r>
              <a:rPr lang="ja-JP" altLang="en-US" dirty="0"/>
              <a:t>番　北野岳澄</a:t>
            </a:r>
            <a:endParaRPr dirty="0"/>
          </a:p>
        </p:txBody>
      </p:sp>
      <p:sp>
        <p:nvSpPr>
          <p:cNvPr id="5" name="スライド番号プレースホルダー 4">
            <a:extLst>
              <a:ext uri="{FF2B5EF4-FFF2-40B4-BE49-F238E27FC236}">
                <a16:creationId xmlns:a16="http://schemas.microsoft.com/office/drawing/2014/main" id="{6C7454B6-D903-1087-A7AD-92084F77CF80}"/>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目次</a:t>
            </a:r>
            <a:br>
              <a:rPr lang="en-US" altLang="ja-JP" dirty="0"/>
            </a:br>
            <a:endParaRPr dirty="0"/>
          </a:p>
        </p:txBody>
      </p:sp>
      <p:sp>
        <p:nvSpPr>
          <p:cNvPr id="3" name="Content Placeholder 2"/>
          <p:cNvSpPr>
            <a:spLocks noGrp="1"/>
          </p:cNvSpPr>
          <p:nvPr>
            <p:ph idx="1"/>
          </p:nvPr>
        </p:nvSpPr>
        <p:spPr>
          <a:xfrm>
            <a:off x="1443491" y="2015733"/>
            <a:ext cx="6571343" cy="3836427"/>
          </a:xfrm>
        </p:spPr>
        <p:txBody>
          <a:bodyPr>
            <a:normAutofit fontScale="92500" lnSpcReduction="20000"/>
          </a:bodyPr>
          <a:lstStyle/>
          <a:p>
            <a:pPr marL="0" indent="0">
              <a:buNone/>
            </a:pPr>
            <a:endParaRPr lang="ja-JP" altLang="en-US" dirty="0">
              <a:latin typeface="+mn-ea"/>
            </a:endParaRPr>
          </a:p>
          <a:p>
            <a:pPr marL="0" indent="0">
              <a:buNone/>
            </a:pPr>
            <a:r>
              <a:rPr lang="en-US" altLang="ja-JP" dirty="0">
                <a:latin typeface="+mn-ea"/>
              </a:rPr>
              <a:t>1. </a:t>
            </a:r>
            <a:r>
              <a:rPr lang="ja-JP" altLang="en-US" dirty="0">
                <a:latin typeface="+mn-ea"/>
              </a:rPr>
              <a:t>研究背景</a:t>
            </a:r>
          </a:p>
          <a:p>
            <a:pPr marL="0" indent="0">
              <a:buNone/>
            </a:pPr>
            <a:r>
              <a:rPr lang="en-US" altLang="ja-JP" dirty="0">
                <a:latin typeface="+mn-ea"/>
              </a:rPr>
              <a:t>2. </a:t>
            </a:r>
            <a:r>
              <a:rPr lang="ja-JP" altLang="en-US" dirty="0">
                <a:latin typeface="+mn-ea"/>
              </a:rPr>
              <a:t>研究目的</a:t>
            </a:r>
          </a:p>
          <a:p>
            <a:pPr marL="0" indent="0">
              <a:buNone/>
            </a:pPr>
            <a:r>
              <a:rPr lang="en-US" altLang="ja-JP" dirty="0">
                <a:latin typeface="+mn-ea"/>
              </a:rPr>
              <a:t>3. </a:t>
            </a:r>
            <a:r>
              <a:rPr lang="ja-JP" altLang="en-US" dirty="0">
                <a:latin typeface="+mn-ea"/>
              </a:rPr>
              <a:t>既存研究との比較</a:t>
            </a:r>
          </a:p>
          <a:p>
            <a:pPr marL="0" indent="0">
              <a:buNone/>
            </a:pPr>
            <a:r>
              <a:rPr lang="en-US" altLang="ja-JP" dirty="0">
                <a:latin typeface="+mn-ea"/>
              </a:rPr>
              <a:t>4. </a:t>
            </a:r>
            <a:r>
              <a:rPr lang="ja-JP" altLang="en-US" dirty="0">
                <a:latin typeface="+mn-ea"/>
              </a:rPr>
              <a:t>モデル概要</a:t>
            </a:r>
          </a:p>
          <a:p>
            <a:pPr marL="0" indent="0">
              <a:buNone/>
            </a:pPr>
            <a:r>
              <a:rPr lang="en-US" altLang="ja-JP" dirty="0">
                <a:latin typeface="+mn-ea"/>
              </a:rPr>
              <a:t>5.</a:t>
            </a:r>
            <a:r>
              <a:rPr lang="ja-JP" altLang="en-US" dirty="0">
                <a:latin typeface="+mn-ea"/>
              </a:rPr>
              <a:t> 目的関数</a:t>
            </a:r>
          </a:p>
          <a:p>
            <a:pPr marL="0" indent="0">
              <a:buNone/>
            </a:pPr>
            <a:r>
              <a:rPr lang="en-US" altLang="ja-JP" dirty="0">
                <a:latin typeface="+mn-ea"/>
              </a:rPr>
              <a:t>6. </a:t>
            </a:r>
            <a:r>
              <a:rPr lang="ja-JP" altLang="en-US" dirty="0">
                <a:latin typeface="+mn-ea"/>
              </a:rPr>
              <a:t>制約</a:t>
            </a:r>
          </a:p>
          <a:p>
            <a:pPr marL="0" indent="0">
              <a:buNone/>
            </a:pPr>
            <a:r>
              <a:rPr lang="en-US" altLang="ja-JP" dirty="0">
                <a:latin typeface="+mn-ea"/>
              </a:rPr>
              <a:t>7. </a:t>
            </a:r>
            <a:r>
              <a:rPr lang="ja-JP" altLang="en-US" dirty="0">
                <a:latin typeface="+mn-ea"/>
              </a:rPr>
              <a:t>結果</a:t>
            </a:r>
          </a:p>
          <a:p>
            <a:pPr marL="0" indent="0">
              <a:buNone/>
            </a:pPr>
            <a:r>
              <a:rPr lang="en-US" altLang="ja-JP" dirty="0">
                <a:latin typeface="+mn-ea"/>
              </a:rPr>
              <a:t>8. </a:t>
            </a:r>
            <a:r>
              <a:rPr lang="ja-JP" altLang="en-US" dirty="0">
                <a:latin typeface="+mn-ea"/>
              </a:rPr>
              <a:t>考察</a:t>
            </a:r>
          </a:p>
          <a:p>
            <a:pPr marL="0" indent="0">
              <a:buNone/>
            </a:pPr>
            <a:r>
              <a:rPr lang="en-US" altLang="ja-JP" dirty="0">
                <a:latin typeface="+mn-ea"/>
              </a:rPr>
              <a:t>9. </a:t>
            </a:r>
            <a:r>
              <a:rPr lang="ja-JP" altLang="en-US" dirty="0">
                <a:latin typeface="+mn-ea"/>
              </a:rPr>
              <a:t>確率統計学との関係性</a:t>
            </a:r>
            <a:endParaRPr lang="en-US" altLang="ja-JP" dirty="0">
              <a:latin typeface="+mn-ea"/>
            </a:endParaRPr>
          </a:p>
          <a:p>
            <a:pPr marL="0" indent="0">
              <a:buNone/>
            </a:pPr>
            <a:r>
              <a:rPr lang="en-US" altLang="ja-JP" dirty="0">
                <a:latin typeface="+mn-ea"/>
              </a:rPr>
              <a:t>10. </a:t>
            </a:r>
            <a:r>
              <a:rPr lang="ja-JP" altLang="en-US" dirty="0">
                <a:latin typeface="+mn-ea"/>
              </a:rPr>
              <a:t>研究の貢献</a:t>
            </a:r>
            <a:endParaRPr lang="en-US" altLang="ja-JP" dirty="0">
              <a:latin typeface="+mn-ea"/>
            </a:endParaRPr>
          </a:p>
          <a:p>
            <a:pPr marL="0" indent="0">
              <a:buNone/>
            </a:pPr>
            <a:r>
              <a:rPr lang="en-US" altLang="ja-JP" dirty="0">
                <a:latin typeface="+mn-ea"/>
              </a:rPr>
              <a:t>11. </a:t>
            </a:r>
            <a:r>
              <a:rPr lang="ja-JP" altLang="en-US" dirty="0">
                <a:latin typeface="+mn-ea"/>
              </a:rPr>
              <a:t>まとめ</a:t>
            </a:r>
          </a:p>
          <a:p>
            <a:pPr marL="0" indent="0">
              <a:buNone/>
            </a:pPr>
            <a:endParaRPr dirty="0">
              <a:latin typeface="+mn-ea"/>
            </a:endParaRPr>
          </a:p>
        </p:txBody>
      </p:sp>
      <p:sp>
        <p:nvSpPr>
          <p:cNvPr id="4" name="スライド番号プレースホルダー 3">
            <a:extLst>
              <a:ext uri="{FF2B5EF4-FFF2-40B4-BE49-F238E27FC236}">
                <a16:creationId xmlns:a16="http://schemas.microsoft.com/office/drawing/2014/main" id="{34314734-B5A9-112D-128D-7B20D980A88D}"/>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研究背景</a:t>
            </a:r>
            <a:endParaRPr dirty="0"/>
          </a:p>
        </p:txBody>
      </p:sp>
      <p:sp>
        <p:nvSpPr>
          <p:cNvPr id="3" name="Content Placeholder 2"/>
          <p:cNvSpPr>
            <a:spLocks noGrp="1"/>
          </p:cNvSpPr>
          <p:nvPr>
            <p:ph idx="1"/>
          </p:nvPr>
        </p:nvSpPr>
        <p:spPr/>
        <p:txBody>
          <a:bodyPr/>
          <a:lstStyle/>
          <a:p>
            <a:endParaRPr lang="ja-JP" altLang="en-US" dirty="0"/>
          </a:p>
          <a:p>
            <a:r>
              <a:rPr lang="ja-JP" altLang="en-US" dirty="0"/>
              <a:t>再生可能エネルギーの普及により電力需給の変動が課題</a:t>
            </a:r>
          </a:p>
          <a:p>
            <a:r>
              <a:rPr lang="ja-JP" altLang="en-US" dirty="0"/>
              <a:t>蓄電池の充放電最適化が必要</a:t>
            </a:r>
          </a:p>
          <a:p>
            <a:r>
              <a:rPr lang="ja-JP" altLang="en-US" dirty="0"/>
              <a:t>目的：電力コスト最小化と安定運用</a:t>
            </a:r>
          </a:p>
          <a:p>
            <a:endParaRPr lang="ja-JP" altLang="en-US" dirty="0"/>
          </a:p>
        </p:txBody>
      </p:sp>
      <p:sp>
        <p:nvSpPr>
          <p:cNvPr id="4" name="スライド番号プレースホルダー 3">
            <a:extLst>
              <a:ext uri="{FF2B5EF4-FFF2-40B4-BE49-F238E27FC236}">
                <a16:creationId xmlns:a16="http://schemas.microsoft.com/office/drawing/2014/main" id="{57351F8F-4CF0-7DCA-E9D1-4D4C2D7EA071}"/>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研究目的</a:t>
            </a:r>
            <a:endParaRPr dirty="0"/>
          </a:p>
        </p:txBody>
      </p:sp>
      <p:sp>
        <p:nvSpPr>
          <p:cNvPr id="3" name="Content Placeholder 2"/>
          <p:cNvSpPr>
            <a:spLocks noGrp="1"/>
          </p:cNvSpPr>
          <p:nvPr>
            <p:ph idx="1"/>
          </p:nvPr>
        </p:nvSpPr>
        <p:spPr/>
        <p:txBody>
          <a:bodyPr/>
          <a:lstStyle/>
          <a:p>
            <a:endParaRPr lang="ja-JP" altLang="en-US" dirty="0"/>
          </a:p>
          <a:p>
            <a:r>
              <a:rPr lang="ja-JP" altLang="en-US" dirty="0"/>
              <a:t>電力価格変動を考慮した最適充放電戦略の策定</a:t>
            </a:r>
          </a:p>
          <a:p>
            <a:r>
              <a:rPr lang="ja-JP" altLang="en-US" dirty="0"/>
              <a:t>サイクル劣化を考慮した検証</a:t>
            </a:r>
          </a:p>
          <a:p>
            <a:endParaRPr dirty="0"/>
          </a:p>
        </p:txBody>
      </p:sp>
      <p:sp>
        <p:nvSpPr>
          <p:cNvPr id="4" name="スライド番号プレースホルダー 3">
            <a:extLst>
              <a:ext uri="{FF2B5EF4-FFF2-40B4-BE49-F238E27FC236}">
                <a16:creationId xmlns:a16="http://schemas.microsoft.com/office/drawing/2014/main" id="{598177CF-568B-381B-486A-77ECE20BE118}"/>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既存研究との比較</a:t>
            </a:r>
            <a:endParaRPr dirty="0"/>
          </a:p>
        </p:txBody>
      </p:sp>
      <p:sp>
        <p:nvSpPr>
          <p:cNvPr id="3" name="Content Placeholder 2"/>
          <p:cNvSpPr>
            <a:spLocks noGrp="1"/>
          </p:cNvSpPr>
          <p:nvPr>
            <p:ph idx="1"/>
          </p:nvPr>
        </p:nvSpPr>
        <p:spPr/>
        <p:txBody>
          <a:bodyPr>
            <a:normAutofit/>
          </a:bodyPr>
          <a:lstStyle/>
          <a:p>
            <a:endParaRPr lang="en-US" altLang="ja-JP" dirty="0"/>
          </a:p>
          <a:p>
            <a:r>
              <a:rPr lang="en-US" altLang="ja-JP" dirty="0"/>
              <a:t>Xu et al. (2018)『Factoring the Cycle Aging Cost of Batteries』</a:t>
            </a:r>
            <a:r>
              <a:rPr lang="ja-JP" altLang="en-US" dirty="0"/>
              <a:t>との比較</a:t>
            </a:r>
          </a:p>
          <a:p>
            <a:r>
              <a:rPr lang="ja-JP" altLang="en-US" dirty="0"/>
              <a:t>既存研究：市場入札に劣化コストを反映（理論モデル中心）</a:t>
            </a:r>
          </a:p>
          <a:p>
            <a:r>
              <a:rPr lang="en-US" altLang="ja-JP" dirty="0"/>
              <a:t>Xu</a:t>
            </a:r>
            <a:r>
              <a:rPr lang="ja-JP" altLang="en-US" dirty="0"/>
              <a:t>らは区分線形関数モデル、本研究は多層バイナリ制御構造を採用</a:t>
            </a:r>
          </a:p>
          <a:p>
            <a:r>
              <a:rPr lang="ja-JP" altLang="en-US" dirty="0"/>
              <a:t>汎用的な価格時系列データにも対応可能なモデルを構築</a:t>
            </a:r>
          </a:p>
          <a:p>
            <a:endParaRPr dirty="0"/>
          </a:p>
        </p:txBody>
      </p:sp>
      <p:sp>
        <p:nvSpPr>
          <p:cNvPr id="4" name="スライド番号プレースホルダー 3">
            <a:extLst>
              <a:ext uri="{FF2B5EF4-FFF2-40B4-BE49-F238E27FC236}">
                <a16:creationId xmlns:a16="http://schemas.microsoft.com/office/drawing/2014/main" id="{BD58DB61-7FBB-C506-B9B4-06C94FC24D4E}"/>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既存研究との比較</a:t>
            </a:r>
            <a:endParaRPr dirty="0"/>
          </a:p>
        </p:txBody>
      </p:sp>
      <p:sp>
        <p:nvSpPr>
          <p:cNvPr id="4" name="スライド番号プレースホルダー 3">
            <a:extLst>
              <a:ext uri="{FF2B5EF4-FFF2-40B4-BE49-F238E27FC236}">
                <a16:creationId xmlns:a16="http://schemas.microsoft.com/office/drawing/2014/main" id="{63BE96BC-3C0B-5210-23D4-73C418B704E4}"/>
              </a:ext>
            </a:extLst>
          </p:cNvPr>
          <p:cNvSpPr>
            <a:spLocks noGrp="1"/>
          </p:cNvSpPr>
          <p:nvPr>
            <p:ph type="sldNum" sz="quarter" idx="12"/>
          </p:nvPr>
        </p:nvSpPr>
        <p:spPr/>
        <p:txBody>
          <a:bodyPr/>
          <a:lstStyle/>
          <a:p>
            <a:fld id="{C1FF6DA9-008F-8B48-92A6-B652298478BF}" type="slidenum">
              <a:rPr lang="en-US" smtClean="0"/>
              <a:t>6</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63346110"/>
              </p:ext>
            </p:extLst>
          </p:nvPr>
        </p:nvGraphicFramePr>
        <p:xfrm>
          <a:off x="457198" y="1737359"/>
          <a:ext cx="8229600" cy="4890464"/>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611308">
                <a:tc>
                  <a:txBody>
                    <a:bodyPr/>
                    <a:lstStyle/>
                    <a:p>
                      <a:r>
                        <a:t>項目</a:t>
                      </a:r>
                    </a:p>
                  </a:txBody>
                  <a:tcPr/>
                </a:tc>
                <a:tc>
                  <a:txBody>
                    <a:bodyPr/>
                    <a:lstStyle/>
                    <a:p>
                      <a:r>
                        <a:rPr dirty="0"/>
                        <a:t>Xu et al. (2018)</a:t>
                      </a:r>
                    </a:p>
                  </a:txBody>
                  <a:tcPr/>
                </a:tc>
                <a:tc>
                  <a:txBody>
                    <a:bodyPr/>
                    <a:lstStyle/>
                    <a:p>
                      <a:r>
                        <a:rPr dirty="0" err="1"/>
                        <a:t>本研究</a:t>
                      </a:r>
                      <a:endParaRPr dirty="0"/>
                    </a:p>
                  </a:txBody>
                  <a:tcPr/>
                </a:tc>
                <a:extLst>
                  <a:ext uri="{0D108BD9-81ED-4DB2-BD59-A6C34878D82A}">
                    <a16:rowId xmlns:a16="http://schemas.microsoft.com/office/drawing/2014/main" val="10000"/>
                  </a:ext>
                </a:extLst>
              </a:tr>
              <a:tr h="611308">
                <a:tc>
                  <a:txBody>
                    <a:bodyPr/>
                    <a:lstStyle/>
                    <a:p>
                      <a:r>
                        <a:t>目的</a:t>
                      </a:r>
                    </a:p>
                  </a:txBody>
                  <a:tcPr/>
                </a:tc>
                <a:tc>
                  <a:txBody>
                    <a:bodyPr/>
                    <a:lstStyle/>
                    <a:p>
                      <a:r>
                        <a:t>電力市場入札における劣化コストの考慮</a:t>
                      </a:r>
                    </a:p>
                  </a:txBody>
                  <a:tcPr/>
                </a:tc>
                <a:tc>
                  <a:txBody>
                    <a:bodyPr/>
                    <a:lstStyle/>
                    <a:p>
                      <a:r>
                        <a:t>実運用段階での電力最適化とコスト削減</a:t>
                      </a:r>
                    </a:p>
                  </a:txBody>
                  <a:tcPr/>
                </a:tc>
                <a:extLst>
                  <a:ext uri="{0D108BD9-81ED-4DB2-BD59-A6C34878D82A}">
                    <a16:rowId xmlns:a16="http://schemas.microsoft.com/office/drawing/2014/main" val="10001"/>
                  </a:ext>
                </a:extLst>
              </a:tr>
              <a:tr h="611308">
                <a:tc>
                  <a:txBody>
                    <a:bodyPr/>
                    <a:lstStyle/>
                    <a:p>
                      <a:r>
                        <a:rPr dirty="0" err="1"/>
                        <a:t>手法</a:t>
                      </a:r>
                      <a:endParaRPr dirty="0"/>
                    </a:p>
                  </a:txBody>
                  <a:tcPr/>
                </a:tc>
                <a:tc>
                  <a:txBody>
                    <a:bodyPr/>
                    <a:lstStyle/>
                    <a:p>
                      <a:r>
                        <a:rPr dirty="0" err="1"/>
                        <a:t>区分線形関数で劣化コストを線形化</a:t>
                      </a:r>
                      <a:endParaRPr dirty="0"/>
                    </a:p>
                  </a:txBody>
                  <a:tcPr/>
                </a:tc>
                <a:tc>
                  <a:txBody>
                    <a:bodyPr/>
                    <a:lstStyle/>
                    <a:p>
                      <a:r>
                        <a:rPr lang="ja-JP" altLang="en-US" dirty="0"/>
                        <a:t>区分線形関数で劣化コストを線形化</a:t>
                      </a:r>
                    </a:p>
                  </a:txBody>
                  <a:tcPr/>
                </a:tc>
                <a:extLst>
                  <a:ext uri="{0D108BD9-81ED-4DB2-BD59-A6C34878D82A}">
                    <a16:rowId xmlns:a16="http://schemas.microsoft.com/office/drawing/2014/main" val="10002"/>
                  </a:ext>
                </a:extLst>
              </a:tr>
              <a:tr h="611308">
                <a:tc>
                  <a:txBody>
                    <a:bodyPr/>
                    <a:lstStyle/>
                    <a:p>
                      <a:r>
                        <a:t>変数設計</a:t>
                      </a:r>
                    </a:p>
                  </a:txBody>
                  <a:tcPr/>
                </a:tc>
                <a:tc>
                  <a:txBody>
                    <a:bodyPr/>
                    <a:lstStyle/>
                    <a:p>
                      <a:r>
                        <a:rPr dirty="0" err="1"/>
                        <a:t>サイクル深度に基づく単層モデル</a:t>
                      </a:r>
                      <a:endParaRPr dirty="0"/>
                    </a:p>
                  </a:txBody>
                  <a:tcPr/>
                </a:tc>
                <a:tc>
                  <a:txBody>
                    <a:bodyPr/>
                    <a:lstStyle/>
                    <a:p>
                      <a:r>
                        <a:rPr dirty="0" err="1"/>
                        <a:t>バイナリ変数</a:t>
                      </a:r>
                      <a:r>
                        <a:rPr dirty="0"/>
                        <a:t>(U, W2, Z2, A)</a:t>
                      </a:r>
                      <a:r>
                        <a:rPr dirty="0" err="1"/>
                        <a:t>による制御</a:t>
                      </a:r>
                      <a:endParaRPr dirty="0"/>
                    </a:p>
                  </a:txBody>
                  <a:tcPr/>
                </a:tc>
                <a:extLst>
                  <a:ext uri="{0D108BD9-81ED-4DB2-BD59-A6C34878D82A}">
                    <a16:rowId xmlns:a16="http://schemas.microsoft.com/office/drawing/2014/main" val="10004"/>
                  </a:ext>
                </a:extLst>
              </a:tr>
              <a:tr h="611308">
                <a:tc>
                  <a:txBody>
                    <a:bodyPr/>
                    <a:lstStyle/>
                    <a:p>
                      <a:r>
                        <a:t>データ</a:t>
                      </a:r>
                    </a:p>
                  </a:txBody>
                  <a:tcPr/>
                </a:tc>
                <a:tc>
                  <a:txBody>
                    <a:bodyPr/>
                    <a:lstStyle/>
                    <a:p>
                      <a:r>
                        <a:t>ISO New England市場価格</a:t>
                      </a:r>
                    </a:p>
                  </a:txBody>
                  <a:tcPr/>
                </a:tc>
                <a:tc>
                  <a:txBody>
                    <a:bodyPr/>
                    <a:lstStyle/>
                    <a:p>
                      <a:r>
                        <a:t>任意の時系列データに対応可能（汎用性）</a:t>
                      </a:r>
                    </a:p>
                  </a:txBody>
                  <a:tcPr/>
                </a:tc>
                <a:extLst>
                  <a:ext uri="{0D108BD9-81ED-4DB2-BD59-A6C34878D82A}">
                    <a16:rowId xmlns:a16="http://schemas.microsoft.com/office/drawing/2014/main" val="10005"/>
                  </a:ext>
                </a:extLst>
              </a:tr>
              <a:tr h="611308">
                <a:tc>
                  <a:txBody>
                    <a:bodyPr/>
                    <a:lstStyle/>
                    <a:p>
                      <a:r>
                        <a:t>出力</a:t>
                      </a:r>
                    </a:p>
                  </a:txBody>
                  <a:tcPr/>
                </a:tc>
                <a:tc>
                  <a:txBody>
                    <a:bodyPr/>
                    <a:lstStyle/>
                    <a:p>
                      <a:r>
                        <a:t>理論的な市場入札戦略</a:t>
                      </a:r>
                    </a:p>
                  </a:txBody>
                  <a:tcPr/>
                </a:tc>
                <a:tc>
                  <a:txBody>
                    <a:bodyPr/>
                    <a:lstStyle/>
                    <a:p>
                      <a:r>
                        <a:t>実際の充放電スケジュール（実装可能）</a:t>
                      </a:r>
                    </a:p>
                  </a:txBody>
                  <a:tcPr/>
                </a:tc>
                <a:extLst>
                  <a:ext uri="{0D108BD9-81ED-4DB2-BD59-A6C34878D82A}">
                    <a16:rowId xmlns:a16="http://schemas.microsoft.com/office/drawing/2014/main" val="10006"/>
                  </a:ext>
                </a:extLst>
              </a:tr>
              <a:tr h="611308">
                <a:tc>
                  <a:txBody>
                    <a:bodyPr/>
                    <a:lstStyle/>
                    <a:p>
                      <a:r>
                        <a:t>新規性</a:t>
                      </a:r>
                    </a:p>
                  </a:txBody>
                  <a:tcPr/>
                </a:tc>
                <a:tc>
                  <a:txBody>
                    <a:bodyPr/>
                    <a:lstStyle/>
                    <a:p>
                      <a:r>
                        <a:t>劣化コストの市場反映を提案</a:t>
                      </a:r>
                    </a:p>
                  </a:txBody>
                  <a:tcPr/>
                </a:tc>
                <a:tc>
                  <a:txBody>
                    <a:bodyPr/>
                    <a:lstStyle/>
                    <a:p>
                      <a:r>
                        <a:t>劣化を含む制約最適化を実装レベルで拡張</a:t>
                      </a:r>
                    </a:p>
                  </a:txBody>
                  <a:tcPr/>
                </a:tc>
                <a:extLst>
                  <a:ext uri="{0D108BD9-81ED-4DB2-BD59-A6C34878D82A}">
                    <a16:rowId xmlns:a16="http://schemas.microsoft.com/office/drawing/2014/main" val="10007"/>
                  </a:ext>
                </a:extLst>
              </a:tr>
              <a:tr h="611308">
                <a:tc>
                  <a:txBody>
                    <a:bodyPr/>
                    <a:lstStyle/>
                    <a:p>
                      <a:r>
                        <a:t>適用範囲</a:t>
                      </a:r>
                    </a:p>
                  </a:txBody>
                  <a:tcPr/>
                </a:tc>
                <a:tc>
                  <a:txBody>
                    <a:bodyPr/>
                    <a:lstStyle/>
                    <a:p>
                      <a:r>
                        <a:t>単一市場前提</a:t>
                      </a:r>
                    </a:p>
                  </a:txBody>
                  <a:tcPr/>
                </a:tc>
                <a:tc>
                  <a:txBody>
                    <a:bodyPr/>
                    <a:lstStyle/>
                    <a:p>
                      <a:r>
                        <a:rPr dirty="0" err="1"/>
                        <a:t>マイクログリッド・分散電源など汎用的運用モデル</a:t>
                      </a:r>
                      <a:endParaRPr dirty="0"/>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モデル概要</a:t>
            </a:r>
            <a:endParaRPr dirty="0"/>
          </a:p>
        </p:txBody>
      </p:sp>
      <p:sp>
        <p:nvSpPr>
          <p:cNvPr id="3" name="Content Placeholder 2"/>
          <p:cNvSpPr>
            <a:spLocks noGrp="1"/>
          </p:cNvSpPr>
          <p:nvPr>
            <p:ph idx="1"/>
          </p:nvPr>
        </p:nvSpPr>
        <p:spPr/>
        <p:txBody>
          <a:bodyPr>
            <a:normAutofit/>
          </a:bodyPr>
          <a:lstStyle/>
          <a:p>
            <a:r>
              <a:rPr lang="ja-JP" altLang="en-US" dirty="0"/>
              <a:t>線形計画問題として考える</a:t>
            </a:r>
          </a:p>
          <a:p>
            <a:r>
              <a:rPr lang="ja-JP" altLang="en-US" dirty="0"/>
              <a:t>目的関数：電力コストと劣化コストの最小化（利益の最大化）</a:t>
            </a:r>
          </a:p>
          <a:p>
            <a:r>
              <a:rPr lang="ja-JP" altLang="en-US" dirty="0"/>
              <a:t>制約条件：容量・充放電バランス・バイナリ変数による制御</a:t>
            </a:r>
          </a:p>
          <a:p>
            <a:r>
              <a:rPr lang="ja-JP" altLang="en-US" dirty="0"/>
              <a:t>非線形関数をピースワイズして線形化</a:t>
            </a:r>
            <a:endParaRPr lang="en-US" altLang="ja-JP" dirty="0"/>
          </a:p>
          <a:p>
            <a:endParaRPr lang="en-US" dirty="0"/>
          </a:p>
        </p:txBody>
      </p:sp>
      <p:sp>
        <p:nvSpPr>
          <p:cNvPr id="4" name="スライド番号プレースホルダー 3">
            <a:extLst>
              <a:ext uri="{FF2B5EF4-FFF2-40B4-BE49-F238E27FC236}">
                <a16:creationId xmlns:a16="http://schemas.microsoft.com/office/drawing/2014/main" id="{86D24DD2-0C2A-E4EA-B566-BCF0190D5D27}"/>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E92BC-974C-ABCF-E593-BE4614785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BC3BF-ECF2-396D-3357-A25808C983CD}"/>
              </a:ext>
            </a:extLst>
          </p:cNvPr>
          <p:cNvSpPr>
            <a:spLocks noGrp="1"/>
          </p:cNvSpPr>
          <p:nvPr>
            <p:ph type="title"/>
          </p:nvPr>
        </p:nvSpPr>
        <p:spPr/>
        <p:txBody>
          <a:bodyPr/>
          <a:lstStyle/>
          <a:p>
            <a:r>
              <a:rPr lang="ja-JP" altLang="en-US" dirty="0"/>
              <a:t>モデル概要</a:t>
            </a:r>
            <a:endParaRPr dirty="0"/>
          </a:p>
        </p:txBody>
      </p:sp>
      <p:sp>
        <p:nvSpPr>
          <p:cNvPr id="3" name="Content Placeholder 2">
            <a:extLst>
              <a:ext uri="{FF2B5EF4-FFF2-40B4-BE49-F238E27FC236}">
                <a16:creationId xmlns:a16="http://schemas.microsoft.com/office/drawing/2014/main" id="{7FA93033-47CF-7AB2-EB0D-0AAF72DB77FE}"/>
              </a:ext>
            </a:extLst>
          </p:cNvPr>
          <p:cNvSpPr>
            <a:spLocks noGrp="1"/>
          </p:cNvSpPr>
          <p:nvPr>
            <p:ph idx="1"/>
          </p:nvPr>
        </p:nvSpPr>
        <p:spPr/>
        <p:txBody>
          <a:bodyPr>
            <a:normAutofit/>
          </a:bodyPr>
          <a:lstStyle/>
          <a:p>
            <a:r>
              <a:rPr lang="ja-JP" altLang="en-US" dirty="0"/>
              <a:t>線形計画問題として考える</a:t>
            </a:r>
          </a:p>
          <a:p>
            <a:r>
              <a:rPr lang="ja-JP" altLang="en-US" dirty="0"/>
              <a:t>目的関数：電力コストと劣化コストの最小化（利益の最大化）</a:t>
            </a:r>
          </a:p>
          <a:p>
            <a:r>
              <a:rPr lang="ja-JP" altLang="en-US" dirty="0"/>
              <a:t>制約条件：容量・充放電バランス・バイナリ変数による制御</a:t>
            </a:r>
          </a:p>
        </p:txBody>
      </p:sp>
      <p:sp>
        <p:nvSpPr>
          <p:cNvPr id="4" name="スライド番号プレースホルダー 3">
            <a:extLst>
              <a:ext uri="{FF2B5EF4-FFF2-40B4-BE49-F238E27FC236}">
                <a16:creationId xmlns:a16="http://schemas.microsoft.com/office/drawing/2014/main" id="{10A280BC-889D-FC8B-EE38-E4358B1B3797}"/>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2126359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A060C8-1AEB-739C-4B2F-8AD92D60D382}"/>
              </a:ext>
            </a:extLst>
          </p:cNvPr>
          <p:cNvSpPr>
            <a:spLocks noGrp="1"/>
          </p:cNvSpPr>
          <p:nvPr>
            <p:ph type="title"/>
          </p:nvPr>
        </p:nvSpPr>
        <p:spPr>
          <a:xfrm>
            <a:off x="75660" y="436065"/>
            <a:ext cx="7886700" cy="1325563"/>
          </a:xfrm>
        </p:spPr>
        <p:txBody>
          <a:bodyPr/>
          <a:lstStyle/>
          <a:p>
            <a:r>
              <a:rPr lang="ja-JP" altLang="en-US" b="1" dirty="0"/>
              <a:t>ピースワイズ線形化</a:t>
            </a:r>
            <a:r>
              <a:rPr lang="ja-JP" altLang="en-US" dirty="0"/>
              <a:t>とは</a:t>
            </a:r>
            <a:endParaRPr kumimoji="1" lang="ja-JP" altLang="en-US" dirty="0"/>
          </a:p>
        </p:txBody>
      </p:sp>
      <p:sp>
        <p:nvSpPr>
          <p:cNvPr id="4" name="スライド番号プレースホルダー 3">
            <a:extLst>
              <a:ext uri="{FF2B5EF4-FFF2-40B4-BE49-F238E27FC236}">
                <a16:creationId xmlns:a16="http://schemas.microsoft.com/office/drawing/2014/main" id="{83E74468-2787-2C29-4093-24E482BF1046}"/>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12" name="テキスト ボックス 11">
            <a:extLst>
              <a:ext uri="{FF2B5EF4-FFF2-40B4-BE49-F238E27FC236}">
                <a16:creationId xmlns:a16="http://schemas.microsoft.com/office/drawing/2014/main" id="{8E0907B3-BDD2-4388-8A1D-95D8E954C929}"/>
              </a:ext>
            </a:extLst>
          </p:cNvPr>
          <p:cNvSpPr txBox="1"/>
          <p:nvPr/>
        </p:nvSpPr>
        <p:spPr>
          <a:xfrm>
            <a:off x="297173" y="2086467"/>
            <a:ext cx="4572000" cy="646331"/>
          </a:xfrm>
          <a:prstGeom prst="rect">
            <a:avLst/>
          </a:prstGeom>
          <a:noFill/>
        </p:spPr>
        <p:txBody>
          <a:bodyPr wrap="square">
            <a:spAutoFit/>
          </a:bodyPr>
          <a:lstStyle/>
          <a:p>
            <a:pPr marL="285750" indent="-285750">
              <a:buFont typeface="Arial" panose="020B0604020202020204" pitchFamily="34" charset="0"/>
              <a:buChar char="•"/>
            </a:pPr>
            <a:r>
              <a:rPr lang="ja-JP" altLang="en-US" dirty="0"/>
              <a:t>非線形な曲線を</a:t>
            </a:r>
            <a:r>
              <a:rPr lang="en-US" altLang="ja-JP" dirty="0"/>
              <a:t>3</a:t>
            </a:r>
            <a:r>
              <a:rPr lang="ja-JP" altLang="en-US" dirty="0"/>
              <a:t>個の小さな直線に分けて近似する手法</a:t>
            </a:r>
            <a:endParaRPr lang="en-US" altLang="ja-JP" dirty="0"/>
          </a:p>
        </p:txBody>
      </p:sp>
      <p:sp>
        <p:nvSpPr>
          <p:cNvPr id="5" name="テキスト ボックス 4">
            <a:extLst>
              <a:ext uri="{FF2B5EF4-FFF2-40B4-BE49-F238E27FC236}">
                <a16:creationId xmlns:a16="http://schemas.microsoft.com/office/drawing/2014/main" id="{A8572749-FC11-E0D3-F5B2-9DD1708E818E}"/>
              </a:ext>
            </a:extLst>
          </p:cNvPr>
          <p:cNvSpPr txBox="1"/>
          <p:nvPr/>
        </p:nvSpPr>
        <p:spPr>
          <a:xfrm>
            <a:off x="1" y="1608189"/>
            <a:ext cx="6640436" cy="369332"/>
          </a:xfrm>
          <a:prstGeom prst="rect">
            <a:avLst/>
          </a:prstGeom>
          <a:noFill/>
        </p:spPr>
        <p:txBody>
          <a:bodyPr wrap="square" rtlCol="0">
            <a:spAutoFit/>
          </a:bodyPr>
          <a:lstStyle/>
          <a:p>
            <a:r>
              <a:rPr kumimoji="1" lang="ja-JP" altLang="en-US" dirty="0">
                <a:solidFill>
                  <a:srgbClr val="FF0000"/>
                </a:solidFill>
              </a:rPr>
              <a:t>目的　非線形関数を線形関数として扱えるように</a:t>
            </a:r>
          </a:p>
        </p:txBody>
      </p:sp>
      <mc:AlternateContent xmlns:mc="http://schemas.openxmlformats.org/markup-compatibility/2006" xmlns:a14="http://schemas.microsoft.com/office/drawing/2010/main">
        <mc:Choice Requires="a14">
          <p:sp>
            <p:nvSpPr>
              <p:cNvPr id="14" name="Rectangle 3">
                <a:extLst>
                  <a:ext uri="{FF2B5EF4-FFF2-40B4-BE49-F238E27FC236}">
                    <a16:creationId xmlns:a16="http://schemas.microsoft.com/office/drawing/2014/main" id="{46A8C6B5-18FD-9BFF-46D2-4C84E0ABE6B6}"/>
                  </a:ext>
                </a:extLst>
              </p:cNvPr>
              <p:cNvSpPr>
                <a:spLocks noChangeArrowheads="1"/>
              </p:cNvSpPr>
              <p:nvPr/>
            </p:nvSpPr>
            <p:spPr bwMode="auto">
              <a:xfrm>
                <a:off x="297173" y="2732798"/>
                <a:ext cx="4439569" cy="618630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en-US" sz="1800" b="0" i="0" u="none" strike="noStrike" cap="none" normalizeH="0" baseline="0" dirty="0">
                    <a:ln>
                      <a:noFill/>
                    </a:ln>
                    <a:solidFill>
                      <a:schemeClr val="tx1"/>
                    </a:solidFill>
                    <a:effectLst/>
                    <a:latin typeface="Arial" panose="020B0604020202020204" pitchFamily="34" charset="0"/>
                  </a:rPr>
                  <a:t>各区間ごとに、元の曲線に近づくよう 直線を当てる</a:t>
                </a:r>
                <a:endParaRPr kumimoji="0" lang="en-US" altLang="ja-JP"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kumimoji="0" lang="ja-JP" altLang="en-US" dirty="0">
                    <a:latin typeface="Arial" panose="020B0604020202020204" pitchFamily="34" charset="0"/>
                  </a:rPr>
                  <a:t>分割した区間</a:t>
                </a:r>
                <a14:m>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b="0" i="1" smtClean="0">
                            <a:latin typeface="Cambria Math" panose="02040503050406030204" pitchFamily="18" charset="0"/>
                          </a:rPr>
                          <m:t>x</m:t>
                        </m:r>
                      </m:e>
                      <m:sub>
                        <m:r>
                          <a:rPr kumimoji="0" lang="en-US" altLang="ja-JP" i="1">
                            <a:latin typeface="Cambria Math" panose="02040503050406030204" pitchFamily="18" charset="0"/>
                          </a:rPr>
                          <m:t>1</m:t>
                        </m:r>
                      </m:sub>
                    </m:sSub>
                    <m:r>
                      <a:rPr kumimoji="0" lang="en-US" altLang="ja-JP" b="0" i="1" smtClean="0">
                        <a:latin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b="0" i="1" smtClean="0">
                            <a:latin typeface="Cambria Math" panose="02040503050406030204" pitchFamily="18" charset="0"/>
                          </a:rPr>
                          <m:t>x</m:t>
                        </m:r>
                      </m:e>
                      <m:sub>
                        <m:r>
                          <a:rPr kumimoji="0" lang="en-US" altLang="ja-JP" b="0" i="1" smtClean="0">
                            <a:latin typeface="Cambria Math" panose="02040503050406030204" pitchFamily="18" charset="0"/>
                          </a:rPr>
                          <m:t>3</m:t>
                        </m:r>
                      </m:sub>
                    </m:sSub>
                  </m:oMath>
                </a14:m>
                <a:r>
                  <a:rPr kumimoji="0" lang="ja-JP" altLang="en-US" dirty="0">
                    <a:latin typeface="Arial" panose="020B0604020202020204" pitchFamily="34" charset="0"/>
                  </a:rPr>
                  <a:t>をインディケータ変数</a:t>
                </a:r>
                <a14:m>
                  <m:oMath xmlns:m="http://schemas.openxmlformats.org/officeDocument/2006/math">
                    <m:sSub>
                      <m:sSubPr>
                        <m:ctrlPr>
                          <a:rPr kumimoji="0" lang="en-US" altLang="ja-JP" i="1" smtClean="0">
                            <a:latin typeface="Cambria Math" panose="02040503050406030204" pitchFamily="18" charset="0"/>
                          </a:rPr>
                        </m:ctrlPr>
                      </m:sSubPr>
                      <m:e>
                        <m:r>
                          <m:rPr>
                            <m:sty m:val="p"/>
                          </m:rPr>
                          <a:rPr kumimoji="0" lang="en-US" altLang="ja-JP" b="0" i="1" smtClean="0">
                            <a:latin typeface="Cambria Math" panose="02040503050406030204" pitchFamily="18" charset="0"/>
                          </a:rPr>
                          <m:t>z</m:t>
                        </m:r>
                      </m:e>
                      <m:sub>
                        <m:r>
                          <a:rPr kumimoji="0" lang="en-US" altLang="ja-JP" b="0" i="1" smtClean="0">
                            <a:latin typeface="Cambria Math" panose="02040503050406030204" pitchFamily="18" charset="0"/>
                          </a:rPr>
                          <m:t>1</m:t>
                        </m:r>
                      </m:sub>
                    </m:sSub>
                  </m:oMath>
                </a14:m>
                <a:r>
                  <a:rPr kumimoji="0" lang="ja-JP" altLang="en-US" dirty="0">
                    <a:latin typeface="Arial" panose="020B0604020202020204" pitchFamily="34" charset="0"/>
                  </a:rPr>
                  <a:t>と</a:t>
                </a:r>
                <a14:m>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2</m:t>
                        </m:r>
                      </m:sub>
                    </m:sSub>
                  </m:oMath>
                </a14:m>
                <a:r>
                  <a:rPr kumimoji="0" lang="ja-JP" altLang="en-US" dirty="0">
                    <a:latin typeface="Arial" panose="020B0604020202020204" pitchFamily="34" charset="0"/>
                  </a:rPr>
                  <a:t>（バイナリ）によって選択</a:t>
                </a:r>
                <a:endParaRPr kumimoji="0" lang="en-US" altLang="ja-JP" dirty="0">
                  <a:latin typeface="Arial" panose="020B0604020202020204" pitchFamily="34"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1</m:t>
                          </m:r>
                        </m:sub>
                      </m:sSub>
                      <m:sSub>
                        <m:sSubPr>
                          <m:ctrlPr>
                            <a:rPr kumimoji="0" lang="en-US" altLang="ja-JP" i="1">
                              <a:latin typeface="Cambria Math" panose="02040503050406030204" pitchFamily="18" charset="0"/>
                            </a:rPr>
                          </m:ctrlPr>
                        </m:sSubPr>
                        <m:e>
                          <m:r>
                            <m:rPr>
                              <m:sty m:val="p"/>
                            </m:rPr>
                            <a:rPr kumimoji="0" lang="en-US" altLang="ja-JP" b="0" i="1" smtClean="0">
                              <a:latin typeface="Cambria Math" panose="02040503050406030204" pitchFamily="18" charset="0"/>
                            </a:rPr>
                            <m:t>z</m:t>
                          </m:r>
                        </m:e>
                        <m:sub>
                          <m:r>
                            <a:rPr kumimoji="0" lang="en-US" altLang="ja-JP" b="0" i="1" smtClean="0">
                              <a:latin typeface="Cambria Math" panose="02040503050406030204" pitchFamily="18" charset="0"/>
                            </a:rPr>
                            <m:t>1</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1</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smtClean="0">
                              <a:latin typeface="Cambria Math" panose="02040503050406030204" pitchFamily="18" charset="0"/>
                              <a:ea typeface="Cambria Math" panose="02040503050406030204" pitchFamily="18" charset="0"/>
                            </a:rPr>
                          </m:ctrlPr>
                        </m:sSubPr>
                        <m:e>
                          <m:r>
                            <m:rPr>
                              <m:sty m:val="p"/>
                            </m:rPr>
                            <a:rPr kumimoji="0" lang="en-US" altLang="ja-JP" b="0" i="1" smtClean="0">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1</m:t>
                          </m:r>
                        </m:sub>
                      </m:sSub>
                    </m:oMath>
                  </m:oMathPara>
                </a14:m>
                <a:endParaRPr kumimoji="0" lang="en-US" altLang="ja-JP" i="1" dirty="0">
                  <a:latin typeface="Cambria Math" panose="02040503050406030204" pitchFamily="18"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2</m:t>
                          </m:r>
                        </m:sub>
                      </m:sSub>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i="1">
                              <a:latin typeface="Cambria Math" panose="02040503050406030204" pitchFamily="18" charset="0"/>
                            </a:rPr>
                            <m:t>2</m:t>
                          </m:r>
                        </m:sub>
                      </m:sSub>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1</m:t>
                          </m:r>
                        </m:sub>
                      </m:sSub>
                    </m:oMath>
                  </m:oMathPara>
                </a14:m>
                <a:endParaRPr kumimoji="0" lang="en-US" altLang="ja-JP" dirty="0">
                  <a:latin typeface="Arial" panose="020B0604020202020204" pitchFamily="34"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0" lang="en-US" altLang="ja-JP" b="0" i="1" smtClean="0">
                          <a:latin typeface="Cambria Math" panose="02040503050406030204" pitchFamily="18" charset="0"/>
                          <a:ea typeface="Cambria Math" panose="02040503050406030204" pitchFamily="18" charset="0"/>
                        </a:rPr>
                        <m:t>0</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3</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3</m:t>
                          </m:r>
                        </m:sub>
                      </m:sSub>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z</m:t>
                          </m:r>
                        </m:e>
                        <m:sub>
                          <m:r>
                            <a:rPr kumimoji="0" lang="en-US" altLang="ja-JP" b="0" i="1" smtClean="0">
                              <a:latin typeface="Cambria Math" panose="02040503050406030204" pitchFamily="18" charset="0"/>
                            </a:rPr>
                            <m:t>2</m:t>
                          </m:r>
                        </m:sub>
                      </m:sSub>
                    </m:oMath>
                  </m:oMathPara>
                </a14:m>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en-US" dirty="0">
                    <a:latin typeface="Arial" panose="020B0604020202020204" pitchFamily="34" charset="0"/>
                  </a:rPr>
                  <a:t>（例）</a:t>
                </a:r>
                <a14:m>
                  <m:oMath xmlns:m="http://schemas.openxmlformats.org/officeDocument/2006/math">
                    <m:sSub>
                      <m:sSubPr>
                        <m:ctrlPr>
                          <a:rPr kumimoji="0" lang="en-US" altLang="ja-JP" i="1" dirty="0" smtClean="0">
                            <a:latin typeface="Cambria Math" panose="02040503050406030204" pitchFamily="18" charset="0"/>
                          </a:rPr>
                        </m:ctrlPr>
                      </m:sSubPr>
                      <m:e>
                        <m:r>
                          <m:rPr>
                            <m:sty m:val="p"/>
                          </m:rPr>
                          <a:rPr kumimoji="0" lang="en-US" altLang="ja-JP" b="0" i="1" dirty="0" smtClean="0">
                            <a:latin typeface="Cambria Math" panose="02040503050406030204" pitchFamily="18" charset="0"/>
                          </a:rPr>
                          <m:t>z</m:t>
                        </m:r>
                      </m:e>
                      <m:sub>
                        <m:r>
                          <a:rPr kumimoji="0" lang="en-US" altLang="ja-JP" b="0" i="1" dirty="0" smtClean="0">
                            <a:latin typeface="Cambria Math" panose="02040503050406030204" pitchFamily="18" charset="0"/>
                          </a:rPr>
                          <m:t>1</m:t>
                        </m:r>
                      </m:sub>
                    </m:sSub>
                    <m:r>
                      <a:rPr kumimoji="0" lang="en-US" altLang="ja-JP" i="1" dirty="0" smtClean="0">
                        <a:latin typeface="Cambria Math" panose="02040503050406030204" pitchFamily="18" charset="0"/>
                      </a:rPr>
                      <m:t>=1,</m:t>
                    </m:r>
                    <m:sSub>
                      <m:sSubPr>
                        <m:ctrlPr>
                          <a:rPr kumimoji="0" lang="en-US" altLang="ja-JP" i="1" dirty="0" smtClean="0">
                            <a:latin typeface="Cambria Math" panose="02040503050406030204" pitchFamily="18" charset="0"/>
                          </a:rPr>
                        </m:ctrlPr>
                      </m:sSubPr>
                      <m:e>
                        <m:r>
                          <m:rPr>
                            <m:sty m:val="p"/>
                          </m:rPr>
                          <a:rPr kumimoji="0" lang="en-US" altLang="ja-JP" b="0" i="1" dirty="0" smtClean="0">
                            <a:latin typeface="Cambria Math" panose="02040503050406030204" pitchFamily="18" charset="0"/>
                          </a:rPr>
                          <m:t>z</m:t>
                        </m:r>
                      </m:e>
                      <m:sub>
                        <m:r>
                          <a:rPr kumimoji="0" lang="en-US" altLang="ja-JP" b="0" i="1" dirty="0" smtClean="0">
                            <a:latin typeface="Cambria Math" panose="02040503050406030204" pitchFamily="18" charset="0"/>
                          </a:rPr>
                          <m:t>2</m:t>
                        </m:r>
                      </m:sub>
                    </m:sSub>
                    <m:r>
                      <a:rPr kumimoji="0" lang="en-US" altLang="ja-JP" i="1" dirty="0" smtClean="0">
                        <a:latin typeface="Cambria Math" panose="02040503050406030204" pitchFamily="18" charset="0"/>
                      </a:rPr>
                      <m:t>=0</m:t>
                    </m:r>
                  </m:oMath>
                </a14:m>
                <a:r>
                  <a:rPr kumimoji="0" lang="ja-JP" altLang="en-US" dirty="0">
                    <a:latin typeface="Arial" panose="020B0604020202020204" pitchFamily="34" charset="0"/>
                  </a:rPr>
                  <a:t>の時</a:t>
                </a: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ja-JP" dirty="0">
                  <a:latin typeface="Arial" panose="020B0604020202020204" pitchFamily="34"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smtClean="0">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1</m:t>
                          </m:r>
                        </m:sub>
                      </m:sSub>
                      <m:r>
                        <a:rPr kumimoji="0" lang="en-US" altLang="ja-JP" b="0" i="1" smtClean="0">
                          <a:latin typeface="Cambria Math" panose="02040503050406030204" pitchFamily="18" charset="0"/>
                        </a:rPr>
                        <m:t>∗1</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1</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smtClean="0">
                              <a:latin typeface="Cambria Math" panose="02040503050406030204" pitchFamily="18" charset="0"/>
                              <a:ea typeface="Cambria Math" panose="02040503050406030204" pitchFamily="18" charset="0"/>
                            </a:rPr>
                          </m:ctrlPr>
                        </m:sSubPr>
                        <m:e>
                          <m:r>
                            <m:rPr>
                              <m:sty m:val="p"/>
                            </m:rPr>
                            <a:rPr kumimoji="0" lang="en-US" altLang="ja-JP" b="0" i="1" smtClean="0">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1</m:t>
                          </m:r>
                        </m:sub>
                      </m:sSub>
                    </m:oMath>
                  </m:oMathPara>
                </a14:m>
                <a:endParaRPr kumimoji="0" lang="en-US" altLang="ja-JP" b="0" dirty="0">
                  <a:latin typeface="Arial" panose="020B0604020202020204" pitchFamily="34" charset="0"/>
                  <a:ea typeface="Cambria Math" panose="02040503050406030204" pitchFamily="18" charset="0"/>
                </a:endParaRPr>
              </a:p>
              <a:p>
                <a:pPr eaLnBrk="0" fontAlgn="base" hangingPunct="0">
                  <a:spcBef>
                    <a:spcPct val="0"/>
                  </a:spcBef>
                  <a:spcAft>
                    <a:spcPct val="0"/>
                  </a:spcAft>
                </a:pPr>
                <a:endParaRPr kumimoji="0" lang="en-US" altLang="ja-JP" b="0" dirty="0">
                  <a:latin typeface="Arial" panose="020B0604020202020204" pitchFamily="34" charset="0"/>
                  <a:ea typeface="Cambria Math" panose="02040503050406030204" pitchFamily="18"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kumimoji="0" lang="en-US" altLang="ja-JP" i="1" smtClean="0">
                              <a:latin typeface="Cambria Math" panose="02040503050406030204" pitchFamily="18" charset="0"/>
                            </a:rPr>
                          </m:ctrlPr>
                        </m:sSubPr>
                        <m:e>
                          <m:r>
                            <m:rPr>
                              <m:sty m:val="p"/>
                            </m:rPr>
                            <a:rPr kumimoji="0" lang="en-US" altLang="ja-JP" i="1">
                              <a:latin typeface="Cambria Math" panose="02040503050406030204" pitchFamily="18" charset="0"/>
                            </a:rPr>
                            <m:t>L</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rPr>
                        <m:t>∗</m:t>
                      </m:r>
                      <m:r>
                        <a:rPr kumimoji="0" lang="en-US" altLang="ja-JP" b="0" i="1" smtClean="0">
                          <a:latin typeface="Cambria Math" panose="02040503050406030204" pitchFamily="18" charset="0"/>
                        </a:rPr>
                        <m:t>0</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2</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ea typeface="Cambria Math" panose="02040503050406030204" pitchFamily="18" charset="0"/>
                            </a:rPr>
                          </m:ctrlPr>
                        </m:sSubPr>
                        <m:e>
                          <m:r>
                            <m:rPr>
                              <m:sty m:val="p"/>
                            </m:rPr>
                            <a:rPr kumimoji="0" lang="en-US" altLang="ja-JP" i="1">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2</m:t>
                          </m:r>
                        </m:sub>
                      </m:sSub>
                      <m:r>
                        <a:rPr kumimoji="0" lang="en-US" altLang="ja-JP" i="1" smtClean="0">
                          <a:latin typeface="Cambria Math" panose="02040503050406030204" pitchFamily="18" charset="0"/>
                          <a:ea typeface="Cambria Math" panose="02040503050406030204" pitchFamily="18" charset="0"/>
                        </a:rPr>
                        <m:t>∗1</m:t>
                      </m:r>
                    </m:oMath>
                  </m:oMathPara>
                </a14:m>
                <a:endParaRPr kumimoji="0" lang="en-US" altLang="ja-JP" b="0" dirty="0">
                  <a:latin typeface="Arial" panose="020B0604020202020204" pitchFamily="34" charset="0"/>
                  <a:ea typeface="Cambria Math" panose="02040503050406030204" pitchFamily="18" charset="0"/>
                </a:endParaRPr>
              </a:p>
              <a:p>
                <a:pPr eaLnBrk="0" fontAlgn="base" hangingPunct="0">
                  <a:spcBef>
                    <a:spcPct val="0"/>
                  </a:spcBef>
                  <a:spcAft>
                    <a:spcPct val="0"/>
                  </a:spcAft>
                </a:pPr>
                <a:endParaRPr kumimoji="0" lang="en-US" altLang="ja-JP" dirty="0">
                  <a:latin typeface="Arial" panose="020B0604020202020204" pitchFamily="34" charset="0"/>
                  <a:ea typeface="Cambria Math" panose="02040503050406030204" pitchFamily="18" charset="0"/>
                </a:endParaRPr>
              </a:p>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0" lang="en-US" altLang="ja-JP" i="1">
                          <a:latin typeface="Cambria Math" panose="02040503050406030204" pitchFamily="18" charset="0"/>
                        </a:rPr>
                        <m:t>0</m:t>
                      </m:r>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rPr>
                          </m:ctrlPr>
                        </m:sSubPr>
                        <m:e>
                          <m:r>
                            <m:rPr>
                              <m:sty m:val="p"/>
                            </m:rPr>
                            <a:rPr kumimoji="0" lang="en-US" altLang="ja-JP" i="1">
                              <a:latin typeface="Cambria Math" panose="02040503050406030204" pitchFamily="18" charset="0"/>
                            </a:rPr>
                            <m:t>x</m:t>
                          </m:r>
                        </m:e>
                        <m:sub>
                          <m:r>
                            <a:rPr kumimoji="0" lang="en-US" altLang="ja-JP" b="0" i="1" smtClean="0">
                              <a:latin typeface="Cambria Math" panose="02040503050406030204" pitchFamily="18" charset="0"/>
                            </a:rPr>
                            <m:t>3</m:t>
                          </m:r>
                        </m:sub>
                      </m:sSub>
                      <m:r>
                        <a:rPr kumimoji="0" lang="en-US" altLang="ja-JP" i="1">
                          <a:latin typeface="Cambria Math" panose="02040503050406030204" pitchFamily="18" charset="0"/>
                          <a:ea typeface="Cambria Math" panose="02040503050406030204" pitchFamily="18" charset="0"/>
                        </a:rPr>
                        <m:t>≤</m:t>
                      </m:r>
                      <m:sSub>
                        <m:sSubPr>
                          <m:ctrlPr>
                            <a:rPr kumimoji="0" lang="en-US" altLang="ja-JP" i="1">
                              <a:latin typeface="Cambria Math" panose="02040503050406030204" pitchFamily="18" charset="0"/>
                              <a:ea typeface="Cambria Math" panose="02040503050406030204" pitchFamily="18" charset="0"/>
                            </a:rPr>
                          </m:ctrlPr>
                        </m:sSubPr>
                        <m:e>
                          <m:r>
                            <m:rPr>
                              <m:sty m:val="p"/>
                            </m:rPr>
                            <a:rPr kumimoji="0" lang="en-US" altLang="ja-JP" i="1">
                              <a:latin typeface="Cambria Math" panose="02040503050406030204" pitchFamily="18" charset="0"/>
                              <a:ea typeface="Cambria Math" panose="02040503050406030204" pitchFamily="18" charset="0"/>
                            </a:rPr>
                            <m:t>L</m:t>
                          </m:r>
                        </m:e>
                        <m:sub>
                          <m:r>
                            <a:rPr kumimoji="0" lang="en-US" altLang="ja-JP" b="0" i="1" smtClean="0">
                              <a:latin typeface="Cambria Math" panose="02040503050406030204" pitchFamily="18" charset="0"/>
                              <a:ea typeface="Cambria Math" panose="02040503050406030204" pitchFamily="18" charset="0"/>
                            </a:rPr>
                            <m:t>3</m:t>
                          </m:r>
                        </m:sub>
                      </m:sSub>
                      <m:r>
                        <a:rPr kumimoji="0" lang="en-US" altLang="ja-JP" i="1">
                          <a:latin typeface="Cambria Math" panose="02040503050406030204" pitchFamily="18" charset="0"/>
                          <a:ea typeface="Cambria Math" panose="02040503050406030204" pitchFamily="18" charset="0"/>
                        </a:rPr>
                        <m:t>∗</m:t>
                      </m:r>
                      <m:r>
                        <a:rPr kumimoji="0" lang="en-US" altLang="ja-JP" b="0" i="1" smtClean="0">
                          <a:latin typeface="Cambria Math" panose="02040503050406030204" pitchFamily="18" charset="0"/>
                          <a:ea typeface="Cambria Math" panose="02040503050406030204" pitchFamily="18" charset="0"/>
                        </a:rPr>
                        <m:t>0</m:t>
                      </m:r>
                    </m:oMath>
                  </m:oMathPara>
                </a14:m>
                <a:endParaRPr kumimoji="0" lang="en-US" altLang="ja-JP" dirty="0">
                  <a:latin typeface="Arial" panose="020B0604020202020204" pitchFamily="34" charset="0"/>
                  <a:ea typeface="Cambria Math" panose="02040503050406030204" pitchFamily="18" charset="0"/>
                </a:endParaRPr>
              </a:p>
              <a:p>
                <a:pPr eaLnBrk="0" fontAlgn="base" hangingPunct="0">
                  <a:spcBef>
                    <a:spcPct val="0"/>
                  </a:spcBef>
                  <a:spcAft>
                    <a:spcPct val="0"/>
                  </a:spcAf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ja-JP"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4" name="Rectangle 3">
                <a:extLst>
                  <a:ext uri="{FF2B5EF4-FFF2-40B4-BE49-F238E27FC236}">
                    <a16:creationId xmlns:a16="http://schemas.microsoft.com/office/drawing/2014/main" id="{46A8C6B5-18FD-9BFF-46D2-4C84E0ABE6B6}"/>
                  </a:ext>
                </a:extLst>
              </p:cNvPr>
              <p:cNvSpPr>
                <a:spLocks noRot="1" noChangeAspect="1" noMove="1" noResize="1" noEditPoints="1" noAdjustHandles="1" noChangeArrowheads="1" noChangeShapeType="1" noTextEdit="1"/>
              </p:cNvSpPr>
              <p:nvPr/>
            </p:nvSpPr>
            <p:spPr bwMode="auto">
              <a:xfrm>
                <a:off x="297173" y="2732798"/>
                <a:ext cx="4439569" cy="6186309"/>
              </a:xfrm>
              <a:prstGeom prst="rect">
                <a:avLst/>
              </a:prstGeom>
              <a:blipFill>
                <a:blip r:embed="rId2"/>
                <a:stretch>
                  <a:fillRect l="-123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6034FA13-FE32-9960-3A4B-D20B4A87846C}"/>
              </a:ext>
            </a:extLst>
          </p:cNvPr>
          <p:cNvPicPr>
            <a:picLocks noChangeAspect="1"/>
          </p:cNvPicPr>
          <p:nvPr/>
        </p:nvPicPr>
        <p:blipFill>
          <a:blip r:embed="rId3"/>
          <a:stretch>
            <a:fillRect/>
          </a:stretch>
        </p:blipFill>
        <p:spPr>
          <a:xfrm>
            <a:off x="4529470" y="3149645"/>
            <a:ext cx="4614530" cy="2336699"/>
          </a:xfrm>
          <a:prstGeom prst="rect">
            <a:avLst/>
          </a:prstGeom>
        </p:spPr>
      </p:pic>
      <p:sp>
        <p:nvSpPr>
          <p:cNvPr id="8" name="コンテンツ プレースホルダー 7">
            <a:extLst>
              <a:ext uri="{FF2B5EF4-FFF2-40B4-BE49-F238E27FC236}">
                <a16:creationId xmlns:a16="http://schemas.microsoft.com/office/drawing/2014/main" id="{D3235E1B-8881-2BDF-314E-2B3609054A3A}"/>
              </a:ext>
            </a:extLst>
          </p:cNvPr>
          <p:cNvSpPr>
            <a:spLocks noGrp="1"/>
          </p:cNvSpPr>
          <p:nvPr>
            <p:ph idx="1"/>
          </p:nvPr>
        </p:nvSpPr>
        <p:spPr>
          <a:xfrm>
            <a:off x="8666233" y="-185340"/>
            <a:ext cx="477767" cy="370680"/>
          </a:xfrm>
        </p:spPr>
        <p:txBody>
          <a:bodyPr>
            <a:normAutofit lnSpcReduction="10000"/>
          </a:bodyPr>
          <a:lstStyle/>
          <a:p>
            <a:pPr marL="0" indent="0">
              <a:buNone/>
            </a:pPr>
            <a:endParaRPr lang="ja-JP" altLang="en-US"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C1FF2C56-9CC1-F225-28E0-C4E97A5565FC}"/>
                  </a:ext>
                </a:extLst>
              </p:cNvPr>
              <p:cNvSpPr txBox="1"/>
              <p:nvPr/>
            </p:nvSpPr>
            <p:spPr>
              <a:xfrm>
                <a:off x="4019010" y="5775604"/>
                <a:ext cx="4173928" cy="646331"/>
              </a:xfrm>
              <a:prstGeom prst="rect">
                <a:avLst/>
              </a:prstGeom>
              <a:noFill/>
            </p:spPr>
            <p:txBody>
              <a:bodyPr wrap="square" rtlCol="0">
                <a:spAutoFit/>
              </a:bodyPr>
              <a:lstStyle/>
              <a:p>
                <a:r>
                  <a:rPr lang="ja-JP" altLang="en-US" dirty="0"/>
                  <a:t>この場合、</a:t>
                </a:r>
                <a14:m>
                  <m:oMath xmlns:m="http://schemas.openxmlformats.org/officeDocument/2006/math">
                    <m:sSub>
                      <m:sSubPr>
                        <m:ctrlPr>
                          <a:rPr lang="en-US" altLang="ja-JP" i="1" smtClean="0">
                            <a:latin typeface="Cambria Math" panose="02040503050406030204" pitchFamily="18" charset="0"/>
                          </a:rPr>
                        </m:ctrlPr>
                      </m:sSubPr>
                      <m:e>
                        <m:r>
                          <m:rPr>
                            <m:sty m:val="p"/>
                          </m:rPr>
                          <a:rPr lang="en-US" altLang="ja-JP" b="0" i="1" smtClean="0">
                            <a:latin typeface="Cambria Math" panose="02040503050406030204" pitchFamily="18" charset="0"/>
                          </a:rPr>
                          <m:t>x</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m:rPr>
                            <m:sty m:val="p"/>
                          </m:rPr>
                          <a:rPr lang="en-US" altLang="ja-JP" b="0" i="1" smtClean="0">
                            <a:latin typeface="Cambria Math" panose="02040503050406030204" pitchFamily="18" charset="0"/>
                          </a:rPr>
                          <m:t>L</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0</m:t>
                        </m:r>
                        <m:r>
                          <a:rPr lang="en-US" altLang="ja-JP" b="0" i="1" smtClean="0">
                            <a:latin typeface="Cambria Math" panose="02040503050406030204" pitchFamily="18" charset="0"/>
                            <a:ea typeface="Cambria Math" panose="02040503050406030204" pitchFamily="18" charset="0"/>
                          </a:rPr>
                          <m:t>≤</m:t>
                        </m:r>
                        <m:r>
                          <m:rPr>
                            <m:sty m:val="p"/>
                          </m:rPr>
                          <a:rPr lang="en-US" altLang="ja-JP" i="1">
                            <a:latin typeface="Cambria Math" panose="02040503050406030204" pitchFamily="18" charset="0"/>
                          </a:rPr>
                          <m:t>x</m:t>
                        </m:r>
                      </m:e>
                      <m:sub>
                        <m:r>
                          <a:rPr lang="en-US" altLang="ja-JP" b="0" i="1" smtClean="0">
                            <a:latin typeface="Cambria Math" panose="02040503050406030204" pitchFamily="18" charset="0"/>
                          </a:rPr>
                          <m:t>2</m:t>
                        </m:r>
                      </m:sub>
                    </m:sSub>
                    <m:r>
                      <a:rPr lang="en-US" altLang="ja-JP" i="1" smtClean="0">
                        <a:latin typeface="Cambria Math" panose="02040503050406030204" pitchFamily="18" charset="0"/>
                        <a:ea typeface="Cambria Math" panose="02040503050406030204" pitchFamily="18" charset="0"/>
                      </a:rPr>
                      <m:t>≤</m:t>
                    </m:r>
                    <m:sSub>
                      <m:sSubPr>
                        <m:ctrlPr>
                          <a:rPr lang="en-US" altLang="ja-JP" i="1">
                            <a:latin typeface="Cambria Math" panose="02040503050406030204" pitchFamily="18" charset="0"/>
                          </a:rPr>
                        </m:ctrlPr>
                      </m:sSubPr>
                      <m:e>
                        <m:r>
                          <m:rPr>
                            <m:sty m:val="p"/>
                          </m:rPr>
                          <a:rPr lang="en-US" altLang="ja-JP" i="1">
                            <a:latin typeface="Cambria Math" panose="02040503050406030204" pitchFamily="18" charset="0"/>
                          </a:rPr>
                          <m:t>L</m:t>
                        </m:r>
                      </m:e>
                      <m:sub>
                        <m:r>
                          <a:rPr lang="en-US" altLang="ja-JP" b="0" i="1" smtClean="0">
                            <a:latin typeface="Cambria Math" panose="02040503050406030204" pitchFamily="18" charset="0"/>
                          </a:rPr>
                          <m:t>2</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m:rPr>
                            <m:sty m:val="p"/>
                          </m:rPr>
                          <a:rPr lang="en-US" altLang="ja-JP" i="1">
                            <a:latin typeface="Cambria Math" panose="02040503050406030204" pitchFamily="18" charset="0"/>
                          </a:rPr>
                          <m:t>x</m:t>
                        </m:r>
                      </m:e>
                      <m:sub>
                        <m:r>
                          <a:rPr lang="en-US" altLang="ja-JP" b="0" i="1" smtClean="0">
                            <a:latin typeface="Cambria Math" panose="02040503050406030204" pitchFamily="18" charset="0"/>
                          </a:rPr>
                          <m:t>3</m:t>
                        </m:r>
                      </m:sub>
                    </m:sSub>
                    <m:r>
                      <a:rPr lang="en-US" altLang="ja-JP" i="1">
                        <a:latin typeface="Cambria Math" panose="02040503050406030204" pitchFamily="18" charset="0"/>
                      </a:rPr>
                      <m:t>=</m:t>
                    </m:r>
                    <m:r>
                      <a:rPr lang="en-US" altLang="ja-JP" b="0" i="1" smtClean="0">
                        <a:latin typeface="Cambria Math" panose="02040503050406030204" pitchFamily="18" charset="0"/>
                      </a:rPr>
                      <m:t>0</m:t>
                    </m:r>
                  </m:oMath>
                </a14:m>
                <a:r>
                  <a:rPr kumimoji="1" lang="ja-JP" altLang="en-US" dirty="0"/>
                  <a:t>なので、</a:t>
                </a:r>
                <a14:m>
                  <m:oMath xmlns:m="http://schemas.openxmlformats.org/officeDocument/2006/math">
                    <m:r>
                      <a:rPr lang="en-US" altLang="ja-JP" i="1" dirty="0" smtClean="0">
                        <a:latin typeface="Cambria Math" panose="02040503050406030204" pitchFamily="18" charset="0"/>
                      </a:rPr>
                      <m:t>𝑥</m:t>
                    </m:r>
                    <m:r>
                      <a:rPr lang="ja-JP" altLang="en-US" i="1" dirty="0">
                        <a:latin typeface="Cambria Math" panose="02040503050406030204" pitchFamily="18" charset="0"/>
                      </a:rPr>
                      <m:t>は</m:t>
                    </m:r>
                    <m:sSub>
                      <m:sSubPr>
                        <m:ctrlPr>
                          <a:rPr lang="en-US" altLang="ja-JP" i="1" dirty="0" smtClean="0">
                            <a:latin typeface="Cambria Math" panose="02040503050406030204" pitchFamily="18" charset="0"/>
                          </a:rPr>
                        </m:ctrlPr>
                      </m:sSubPr>
                      <m:e>
                        <m:r>
                          <m:rPr>
                            <m:sty m:val="p"/>
                          </m:rPr>
                          <a:rPr lang="en-US" altLang="ja-JP" b="0" i="1" dirty="0" smtClean="0">
                            <a:latin typeface="Cambria Math" panose="02040503050406030204" pitchFamily="18" charset="0"/>
                          </a:rPr>
                          <m:t>L</m:t>
                        </m:r>
                      </m:e>
                      <m:sub>
                        <m:r>
                          <a:rPr lang="en-US" altLang="ja-JP" b="0" i="1" dirty="0" smtClean="0">
                            <a:latin typeface="Cambria Math" panose="02040503050406030204" pitchFamily="18" charset="0"/>
                          </a:rPr>
                          <m:t>2</m:t>
                        </m:r>
                      </m:sub>
                    </m:sSub>
                    <m:r>
                      <a:rPr lang="ja-JP" altLang="en-US" i="1" dirty="0" smtClean="0">
                        <a:latin typeface="Cambria Math" panose="02040503050406030204" pitchFamily="18" charset="0"/>
                      </a:rPr>
                      <m:t>の</m:t>
                    </m:r>
                    <m:r>
                      <a:rPr kumimoji="1" lang="ja-JP" altLang="en-US" i="1" dirty="0" smtClean="0">
                        <a:latin typeface="Cambria Math" panose="02040503050406030204" pitchFamily="18" charset="0"/>
                      </a:rPr>
                      <m:t>区間にある</m:t>
                    </m:r>
                  </m:oMath>
                </a14:m>
                <a:r>
                  <a:rPr kumimoji="1" lang="ja-JP" altLang="en-US"/>
                  <a:t>と言える</a:t>
                </a:r>
                <a:endParaRPr kumimoji="1" lang="ja-JP" altLang="en-US" dirty="0"/>
              </a:p>
            </p:txBody>
          </p:sp>
        </mc:Choice>
        <mc:Fallback xmlns="">
          <p:sp>
            <p:nvSpPr>
              <p:cNvPr id="9" name="テキスト ボックス 8">
                <a:extLst>
                  <a:ext uri="{FF2B5EF4-FFF2-40B4-BE49-F238E27FC236}">
                    <a16:creationId xmlns:a16="http://schemas.microsoft.com/office/drawing/2014/main" id="{C1FF2C56-9CC1-F225-28E0-C4E97A5565FC}"/>
                  </a:ext>
                </a:extLst>
              </p:cNvPr>
              <p:cNvSpPr txBox="1">
                <a:spLocks noRot="1" noChangeAspect="1" noMove="1" noResize="1" noEditPoints="1" noAdjustHandles="1" noChangeArrowheads="1" noChangeShapeType="1" noTextEdit="1"/>
              </p:cNvSpPr>
              <p:nvPr/>
            </p:nvSpPr>
            <p:spPr>
              <a:xfrm>
                <a:off x="4019010" y="5775604"/>
                <a:ext cx="4173928" cy="646331"/>
              </a:xfrm>
              <a:prstGeom prst="rect">
                <a:avLst/>
              </a:prstGeom>
              <a:blipFill>
                <a:blip r:embed="rId4"/>
                <a:stretch>
                  <a:fillRect l="-1168" t="-3774" b="-150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282426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1CF254-5FBC-E5D7-34AA-BAEFEEF7AEA1}"/>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60BE48E-9EA7-1AD7-AA73-E35262416413}"/>
              </a:ext>
            </a:extLst>
          </p:cNvPr>
          <p:cNvSpPr>
            <a:spLocks noGrp="1"/>
          </p:cNvSpPr>
          <p:nvPr>
            <p:ph idx="1"/>
          </p:nvPr>
        </p:nvSpPr>
        <p:spPr/>
        <p:txBody>
          <a:bodyPr/>
          <a:lstStyle/>
          <a:p>
            <a:pPr marL="0" lvl="0" indent="0" defTabSz="914400" eaLnBrk="0" fontAlgn="base" hangingPunct="0">
              <a:lnSpc>
                <a:spcPct val="100000"/>
              </a:lnSpc>
              <a:spcBef>
                <a:spcPct val="0"/>
              </a:spcBef>
              <a:spcAft>
                <a:spcPct val="0"/>
              </a:spcAft>
              <a:buFontTx/>
              <a:buChar char="•"/>
            </a:pPr>
            <a:r>
              <a:rPr kumimoji="0" lang="en-US" altLang="ja-JP" sz="2400" dirty="0">
                <a:latin typeface="Arial" panose="020B0604020202020204" pitchFamily="34" charset="0"/>
              </a:rPr>
              <a:t>Z2 W2</a:t>
            </a:r>
          </a:p>
          <a:p>
            <a:pPr marL="0" lvl="0" indent="0" defTabSz="914400" eaLnBrk="0" fontAlgn="base" hangingPunct="0">
              <a:lnSpc>
                <a:spcPct val="100000"/>
              </a:lnSpc>
              <a:spcBef>
                <a:spcPct val="0"/>
              </a:spcBef>
              <a:spcAft>
                <a:spcPct val="0"/>
              </a:spcAft>
            </a:pPr>
            <a:r>
              <a:rPr kumimoji="0" lang="ja-JP" altLang="ja-JP" sz="2400" dirty="0">
                <a:latin typeface="Arial" panose="020B0604020202020204" pitchFamily="34" charset="0"/>
              </a:rPr>
              <a:t>→ 「</a:t>
            </a:r>
            <a:r>
              <a:rPr kumimoji="0" lang="ja-JP" altLang="ja-JP" sz="2400" b="1" dirty="0">
                <a:latin typeface="Arial" panose="020B0604020202020204" pitchFamily="34" charset="0"/>
              </a:rPr>
              <a:t>どのマス目を使うか</a:t>
            </a:r>
            <a:r>
              <a:rPr kumimoji="0" lang="ja-JP" altLang="ja-JP" sz="2400" dirty="0">
                <a:latin typeface="Arial" panose="020B0604020202020204" pitchFamily="34" charset="0"/>
              </a:rPr>
              <a:t>」を決める0か1のスイッチ</a:t>
            </a:r>
            <a:br>
              <a:rPr kumimoji="0" lang="ja-JP" altLang="ja-JP" sz="2400" dirty="0">
                <a:latin typeface="Arial" panose="020B0604020202020204" pitchFamily="34" charset="0"/>
              </a:rPr>
            </a:br>
            <a:r>
              <a:rPr kumimoji="0" lang="ja-JP" altLang="ja-JP" sz="2400" dirty="0">
                <a:latin typeface="Arial" panose="020B0604020202020204" pitchFamily="34" charset="0"/>
              </a:rPr>
              <a:t>→ 1なら「このピースを使う」、0なら「使わない」</a:t>
            </a:r>
          </a:p>
          <a:p>
            <a:pPr marL="0" lvl="0" indent="0" defTabSz="914400" eaLnBrk="0" fontAlgn="base" hangingPunct="0">
              <a:lnSpc>
                <a:spcPct val="100000"/>
              </a:lnSpc>
              <a:spcBef>
                <a:spcPct val="0"/>
              </a:spcBef>
              <a:spcAft>
                <a:spcPct val="0"/>
              </a:spcAft>
              <a:buFontTx/>
              <a:buChar char="•"/>
            </a:pPr>
            <a:r>
              <a:rPr kumimoji="0" lang="en-US" altLang="ja-JP" sz="2400" dirty="0">
                <a:latin typeface="Arial" panose="020B0604020202020204" pitchFamily="34" charset="0"/>
              </a:rPr>
              <a:t>S,T</a:t>
            </a:r>
            <a:br>
              <a:rPr kumimoji="0" lang="ja-JP" altLang="ja-JP" sz="2400" dirty="0">
                <a:latin typeface="Arial" panose="020B0604020202020204" pitchFamily="34" charset="0"/>
              </a:rPr>
            </a:br>
            <a:r>
              <a:rPr kumimoji="0" lang="ja-JP" altLang="ja-JP" sz="2400" dirty="0">
                <a:latin typeface="Arial" panose="020B0604020202020204" pitchFamily="34" charset="0"/>
              </a:rPr>
              <a:t>→ 各マス目に対応する「</a:t>
            </a:r>
            <a:r>
              <a:rPr kumimoji="0" lang="ja-JP" altLang="ja-JP" sz="2400" b="1" dirty="0">
                <a:latin typeface="Arial" panose="020B0604020202020204" pitchFamily="34" charset="0"/>
              </a:rPr>
              <a:t>まっすぐな線の傾きと高さ</a:t>
            </a:r>
            <a:r>
              <a:rPr kumimoji="0" lang="ja-JP" altLang="ja-JP" sz="2400" dirty="0">
                <a:latin typeface="Arial" panose="020B0604020202020204" pitchFamily="34" charset="0"/>
              </a:rPr>
              <a:t>」をメモした係数</a:t>
            </a:r>
            <a:br>
              <a:rPr kumimoji="0" lang="ja-JP" altLang="ja-JP" sz="2400" dirty="0">
                <a:latin typeface="Arial" panose="020B0604020202020204" pitchFamily="34" charset="0"/>
              </a:rPr>
            </a:br>
            <a:r>
              <a:rPr kumimoji="0" lang="ja-JP" altLang="ja-JP" sz="2400" dirty="0">
                <a:latin typeface="Arial" panose="020B0604020202020204" pitchFamily="34" charset="0"/>
              </a:rPr>
              <a:t>→ これを使って、もとの難しい関数を折れ線で近似している</a:t>
            </a:r>
          </a:p>
          <a:p>
            <a:endParaRPr kumimoji="1" lang="ja-JP" altLang="en-US" dirty="0"/>
          </a:p>
        </p:txBody>
      </p:sp>
      <p:sp>
        <p:nvSpPr>
          <p:cNvPr id="4" name="スライド番号プレースホルダー 3">
            <a:extLst>
              <a:ext uri="{FF2B5EF4-FFF2-40B4-BE49-F238E27FC236}">
                <a16:creationId xmlns:a16="http://schemas.microsoft.com/office/drawing/2014/main" id="{1BC9F303-8A70-7326-4ADE-A903D92ABF86}"/>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989957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目的関数</a:t>
            </a:r>
            <a:endParaRPr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𝑀𝑖𝑛</m:t>
                      </m:r>
                      <m:r>
                        <a:rPr lang="en-US" altLang="ja-JP" b="0" i="1" smtClean="0">
                          <a:latin typeface="Cambria Math" panose="02040503050406030204" pitchFamily="18" charset="0"/>
                        </a:rPr>
                        <m:t> </m:t>
                      </m:r>
                      <m:nary>
                        <m:naryPr>
                          <m:chr m:val="∑"/>
                          <m:supHide m:val="on"/>
                          <m:ctrlPr>
                            <a:rPr lang="en-US" altLang="ja-JP" b="0" i="1" smtClean="0">
                              <a:latin typeface="Cambria Math" panose="02040503050406030204" pitchFamily="18" charset="0"/>
                            </a:rPr>
                          </m:ctrlPr>
                        </m:naryPr>
                        <m:sub>
                          <m:r>
                            <m:rPr>
                              <m:brk m:alnAt="7"/>
                            </m:rPr>
                            <a:rPr lang="en-US" altLang="ja-JP" b="0" i="1" smtClean="0">
                              <a:latin typeface="Cambria Math" panose="02040503050406030204" pitchFamily="18" charset="0"/>
                            </a:rPr>
                            <m:t>𝑡</m:t>
                          </m:r>
                        </m:sub>
                        <m:sup/>
                        <m:e>
                          <m:d>
                            <m:dPr>
                              <m:begChr m:val="{"/>
                              <m:endChr m:val="}"/>
                              <m:ctrlPr>
                                <a:rPr lang="en-US" altLang="ja-JP" i="1">
                                  <a:latin typeface="Cambria Math" panose="02040503050406030204" pitchFamily="18" charset="0"/>
                                  <a:ea typeface="Cambria Math" panose="02040503050406030204" pitchFamily="18" charset="0"/>
                                </a:rPr>
                              </m:ctrlPr>
                            </m:dPr>
                            <m:e>
                              <m:sSub>
                                <m:sSubPr>
                                  <m:ctrlPr>
                                    <a:rPr lang="en-US" altLang="ja-JP" i="1">
                                      <a:latin typeface="Cambria Math" panose="02040503050406030204" pitchFamily="18" charset="0"/>
                                      <a:ea typeface="Cambria Math" panose="02040503050406030204" pitchFamily="18" charset="0"/>
                                    </a:rPr>
                                  </m:ctrlPr>
                                </m:sSubPr>
                                <m:e>
                                  <m:r>
                                    <a:rPr lang="ja-JP" altLang="en-US" i="1">
                                      <a:latin typeface="Cambria Math" panose="02040503050406030204" pitchFamily="18" charset="0"/>
                                      <a:ea typeface="Cambria Math" panose="02040503050406030204" pitchFamily="18" charset="0"/>
                                    </a:rPr>
                                    <m:t>𝜆</m:t>
                                  </m:r>
                                </m:e>
                                <m:sub>
                                  <m:r>
                                    <a:rPr lang="en-US" altLang="ja-JP" i="1">
                                      <a:latin typeface="Cambria Math" panose="02040503050406030204" pitchFamily="18" charset="0"/>
                                      <a:ea typeface="Cambria Math" panose="02040503050406030204" pitchFamily="18" charset="0"/>
                                    </a:rPr>
                                    <m:t>𝑡</m:t>
                                  </m:r>
                                </m:sub>
                              </m:sSub>
                              <m:d>
                                <m:dPr>
                                  <m:ctrlPr>
                                    <a:rPr lang="en-US" altLang="ja-JP" i="1">
                                      <a:latin typeface="Cambria Math" panose="02040503050406030204" pitchFamily="18" charset="0"/>
                                      <a:ea typeface="Cambria Math" panose="02040503050406030204" pitchFamily="18" charset="0"/>
                                    </a:rPr>
                                  </m:ctrlPr>
                                </m:dPr>
                                <m:e>
                                  <m:sSubSup>
                                    <m:sSubSupPr>
                                      <m:ctrlPr>
                                        <a:rPr lang="en-US" altLang="ja-JP" i="1">
                                          <a:latin typeface="Cambria Math" panose="02040503050406030204" pitchFamily="18" charset="0"/>
                                          <a:ea typeface="Cambria Math" panose="02040503050406030204" pitchFamily="18" charset="0"/>
                                        </a:rPr>
                                      </m:ctrlPr>
                                    </m:sSubSupPr>
                                    <m:e>
                                      <m:r>
                                        <a:rPr lang="en-US" altLang="ja-JP" i="1">
                                          <a:latin typeface="Cambria Math" panose="02040503050406030204" pitchFamily="18" charset="0"/>
                                          <a:ea typeface="Cambria Math" panose="02040503050406030204" pitchFamily="18" charset="0"/>
                                        </a:rPr>
                                        <m:t>𝑃</m:t>
                                      </m:r>
                                    </m:e>
                                    <m:sub>
                                      <m:r>
                                        <a:rPr lang="en-US" altLang="ja-JP" i="1">
                                          <a:latin typeface="Cambria Math" panose="02040503050406030204" pitchFamily="18" charset="0"/>
                                          <a:ea typeface="Cambria Math" panose="02040503050406030204" pitchFamily="18" charset="0"/>
                                        </a:rPr>
                                        <m:t>𝑡</m:t>
                                      </m:r>
                                    </m:sub>
                                    <m:sup>
                                      <m:r>
                                        <a:rPr lang="en-US" altLang="ja-JP" i="1">
                                          <a:latin typeface="Cambria Math" panose="02040503050406030204" pitchFamily="18" charset="0"/>
                                          <a:ea typeface="Cambria Math" panose="02040503050406030204" pitchFamily="18" charset="0"/>
                                        </a:rPr>
                                        <m:t>𝑏𝑢𝑦</m:t>
                                      </m:r>
                                    </m:sup>
                                  </m:sSubSup>
                                  <m:r>
                                    <a:rPr lang="en-US" altLang="ja-JP" i="1">
                                      <a:latin typeface="Cambria Math" panose="02040503050406030204" pitchFamily="18" charset="0"/>
                                      <a:ea typeface="Cambria Math" panose="02040503050406030204" pitchFamily="18" charset="0"/>
                                    </a:rPr>
                                    <m:t>−</m:t>
                                  </m:r>
                                  <m:sSubSup>
                                    <m:sSubSupPr>
                                      <m:ctrlPr>
                                        <a:rPr lang="en-US" altLang="ja-JP" i="1">
                                          <a:latin typeface="Cambria Math" panose="02040503050406030204" pitchFamily="18" charset="0"/>
                                          <a:ea typeface="Cambria Math" panose="02040503050406030204" pitchFamily="18" charset="0"/>
                                        </a:rPr>
                                      </m:ctrlPr>
                                    </m:sSubSupPr>
                                    <m:e>
                                      <m:r>
                                        <a:rPr lang="en-US" altLang="ja-JP" i="1">
                                          <a:latin typeface="Cambria Math" panose="02040503050406030204" pitchFamily="18" charset="0"/>
                                          <a:ea typeface="Cambria Math" panose="02040503050406030204" pitchFamily="18" charset="0"/>
                                        </a:rPr>
                                        <m:t>𝑃</m:t>
                                      </m:r>
                                    </m:e>
                                    <m:sub>
                                      <m:r>
                                        <a:rPr lang="en-US" altLang="ja-JP" i="1">
                                          <a:latin typeface="Cambria Math" panose="02040503050406030204" pitchFamily="18" charset="0"/>
                                          <a:ea typeface="Cambria Math" panose="02040503050406030204" pitchFamily="18" charset="0"/>
                                        </a:rPr>
                                        <m:t>𝑡</m:t>
                                      </m:r>
                                    </m:sub>
                                    <m:sup>
                                      <m:r>
                                        <a:rPr lang="en-US" altLang="ja-JP" i="1">
                                          <a:latin typeface="Cambria Math" panose="02040503050406030204" pitchFamily="18" charset="0"/>
                                          <a:ea typeface="Cambria Math" panose="02040503050406030204" pitchFamily="18" charset="0"/>
                                        </a:rPr>
                                        <m:t>𝑠𝑒𝑙</m:t>
                                      </m:r>
                                    </m:sup>
                                  </m:sSubSup>
                                </m:e>
                              </m:d>
                            </m:e>
                          </m:d>
                          <m:r>
                            <a:rPr lang="en-US" altLang="ja-JP" i="1">
                              <a:latin typeface="Cambria Math" panose="02040503050406030204" pitchFamily="18" charset="0"/>
                              <a:ea typeface="Cambria Math" panose="02040503050406030204" pitchFamily="18" charset="0"/>
                            </a:rPr>
                            <m:t>−</m:t>
                          </m:r>
                        </m:e>
                      </m:nary>
                      <m:nary>
                        <m:naryPr>
                          <m:chr m:val="∑"/>
                          <m:ctrlPr>
                            <a:rPr lang="en-US" altLang="ja-JP" b="0" i="1" smtClean="0">
                              <a:latin typeface="Cambria Math" panose="02040503050406030204" pitchFamily="18" charset="0"/>
                            </a:rPr>
                          </m:ctrlPr>
                        </m:naryPr>
                        <m:sub>
                          <m:r>
                            <m:rPr>
                              <m:brk m:alnAt="23"/>
                            </m:rPr>
                            <a:rPr lang="en-US" altLang="ja-JP" b="0" i="1" smtClean="0">
                              <a:latin typeface="Cambria Math" panose="02040503050406030204" pitchFamily="18" charset="0"/>
                            </a:rPr>
                            <m:t>𝑏</m:t>
                          </m:r>
                        </m:sub>
                        <m:sup>
                          <m:r>
                            <a:rPr lang="en-US" altLang="ja-JP" b="0" i="1" smtClean="0">
                              <a:latin typeface="Cambria Math" panose="02040503050406030204" pitchFamily="18" charset="0"/>
                            </a:rPr>
                            <m:t>8</m:t>
                          </m:r>
                        </m:sup>
                        <m:e>
                          <m:r>
                            <a:rPr lang="en-US" altLang="ja-JP" b="0" i="1" smtClean="0">
                              <a:latin typeface="Cambria Math" panose="02040503050406030204" pitchFamily="18" charset="0"/>
                            </a:rPr>
                            <m:t>6</m:t>
                          </m:r>
                          <m:sSubSup>
                            <m:sSubSupPr>
                              <m:ctrlPr>
                                <a:rPr lang="en-US" altLang="ja-JP" b="0" i="1" smtClean="0">
                                  <a:latin typeface="Cambria Math" panose="02040503050406030204" pitchFamily="18" charset="0"/>
                                </a:rPr>
                              </m:ctrlPr>
                            </m:sSubSupPr>
                            <m:e>
                              <m:r>
                                <a:rPr lang="en-US" altLang="ja-JP" b="0" i="1" smtClean="0">
                                  <a:latin typeface="Cambria Math" panose="02040503050406030204" pitchFamily="18" charset="0"/>
                                </a:rPr>
                                <m:t>𝑅</m:t>
                              </m:r>
                            </m:e>
                            <m:sub>
                              <m:r>
                                <a:rPr lang="en-US" altLang="ja-JP" b="0" i="1" smtClean="0">
                                  <a:latin typeface="Cambria Math" panose="02040503050406030204" pitchFamily="18" charset="0"/>
                                </a:rPr>
                                <m:t>𝑏</m:t>
                              </m:r>
                            </m:sub>
                            <m:sup>
                              <m:r>
                                <a:rPr lang="en-US" altLang="ja-JP" b="0" i="1" smtClean="0">
                                  <a:latin typeface="Cambria Math" panose="02040503050406030204" pitchFamily="18" charset="0"/>
                                </a:rPr>
                                <m:t>𝑟</m:t>
                              </m:r>
                              <m:r>
                                <a:rPr lang="en-US" altLang="ja-JP" b="0" i="1" smtClean="0">
                                  <a:latin typeface="Cambria Math" panose="02040503050406030204" pitchFamily="18" charset="0"/>
                                </a:rPr>
                                <m:t>1</m:t>
                              </m:r>
                            </m:sup>
                          </m:sSubSup>
                          <m:sSubSup>
                            <m:sSubSupPr>
                              <m:ctrlPr>
                                <a:rPr lang="en-US" altLang="ja-JP" b="0" i="1" smtClean="0">
                                  <a:latin typeface="Cambria Math" panose="02040503050406030204" pitchFamily="18" charset="0"/>
                                </a:rPr>
                              </m:ctrlPr>
                            </m:sSubSupPr>
                            <m:e>
                              <m:r>
                                <m:rPr>
                                  <m:sty m:val="p"/>
                                </m:rPr>
                                <a:rPr lang="en-US" altLang="ja-JP" i="1">
                                  <a:latin typeface="Cambria Math" panose="02040503050406030204" pitchFamily="18" charset="0"/>
                                </a:rPr>
                                <m:t>Δ</m:t>
                              </m:r>
                              <m:r>
                                <a:rPr lang="en-US" altLang="ja-JP" b="0" i="1" smtClean="0">
                                  <a:latin typeface="Cambria Math" panose="02040503050406030204" pitchFamily="18" charset="0"/>
                                </a:rPr>
                                <m:t>𝑘𝑊</m:t>
                              </m:r>
                            </m:e>
                            <m:sub>
                              <m:r>
                                <a:rPr lang="en-US" altLang="ja-JP" b="0" i="1" smtClean="0">
                                  <a:latin typeface="Cambria Math" panose="02040503050406030204" pitchFamily="18" charset="0"/>
                                </a:rPr>
                                <m:t>𝑏</m:t>
                              </m:r>
                            </m:sub>
                            <m:sup>
                              <m:r>
                                <a:rPr lang="en-US" altLang="ja-JP" b="0" i="1" smtClean="0">
                                  <a:latin typeface="Cambria Math" panose="02040503050406030204" pitchFamily="18" charset="0"/>
                                </a:rPr>
                                <m:t>𝑟</m:t>
                              </m:r>
                              <m:r>
                                <a:rPr lang="en-US" altLang="ja-JP" b="0" i="1" smtClean="0">
                                  <a:latin typeface="Cambria Math" panose="02040503050406030204" pitchFamily="18" charset="0"/>
                                </a:rPr>
                                <m:t>1</m:t>
                              </m:r>
                            </m:sup>
                          </m:sSubSup>
                        </m:e>
                      </m:nary>
                      <m:r>
                        <a:rPr lang="en-US" altLang="ja-JP" b="0" i="1" smtClean="0">
                          <a:latin typeface="Cambria Math" panose="02040503050406030204" pitchFamily="18" charset="0"/>
                        </a:rPr>
                        <m:t>−</m:t>
                      </m:r>
                      <m:nary>
                        <m:naryPr>
                          <m:chr m:val="∑"/>
                          <m:ctrlPr>
                            <a:rPr lang="en-US" altLang="ja-JP" i="1">
                              <a:latin typeface="Cambria Math" panose="02040503050406030204" pitchFamily="18" charset="0"/>
                            </a:rPr>
                          </m:ctrlPr>
                        </m:naryPr>
                        <m:sub>
                          <m:r>
                            <m:rPr>
                              <m:brk m:alnAt="23"/>
                            </m:rPr>
                            <a:rPr lang="en-US" altLang="ja-JP" i="1">
                              <a:latin typeface="Cambria Math" panose="02040503050406030204" pitchFamily="18" charset="0"/>
                            </a:rPr>
                            <m:t>𝑏</m:t>
                          </m:r>
                        </m:sub>
                        <m:sup>
                          <m:r>
                            <a:rPr lang="en-US" altLang="ja-JP" i="1">
                              <a:latin typeface="Cambria Math" panose="02040503050406030204" pitchFamily="18" charset="0"/>
                            </a:rPr>
                            <m:t>8</m:t>
                          </m:r>
                        </m:sup>
                        <m:e>
                          <m:r>
                            <a:rPr lang="en-US" altLang="ja-JP" i="1">
                              <a:latin typeface="Cambria Math" panose="02040503050406030204" pitchFamily="18" charset="0"/>
                            </a:rPr>
                            <m:t>6</m:t>
                          </m:r>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𝑅</m:t>
                              </m:r>
                            </m:e>
                            <m:sub>
                              <m:r>
                                <a:rPr lang="en-US" altLang="ja-JP" i="1">
                                  <a:latin typeface="Cambria Math" panose="02040503050406030204" pitchFamily="18" charset="0"/>
                                </a:rPr>
                                <m:t>𝑏</m:t>
                              </m:r>
                            </m:sub>
                            <m:sup>
                              <m:r>
                                <a:rPr lang="en-US" altLang="ja-JP" i="1">
                                  <a:latin typeface="Cambria Math" panose="02040503050406030204" pitchFamily="18" charset="0"/>
                                </a:rPr>
                                <m:t>𝑟</m:t>
                              </m:r>
                              <m:r>
                                <a:rPr lang="en-US" altLang="ja-JP" b="0" i="1" smtClean="0">
                                  <a:latin typeface="Cambria Math" panose="02040503050406030204" pitchFamily="18" charset="0"/>
                                </a:rPr>
                                <m:t>2</m:t>
                              </m:r>
                            </m:sup>
                          </m:sSubSup>
                          <m:sSubSup>
                            <m:sSubSupPr>
                              <m:ctrlPr>
                                <a:rPr lang="en-US" altLang="ja-JP" i="1">
                                  <a:latin typeface="Cambria Math" panose="02040503050406030204" pitchFamily="18" charset="0"/>
                                </a:rPr>
                              </m:ctrlPr>
                            </m:sSubSupPr>
                            <m:e>
                              <m:r>
                                <m:rPr>
                                  <m:sty m:val="p"/>
                                </m:rPr>
                                <a:rPr lang="en-US" altLang="ja-JP" i="1">
                                  <a:latin typeface="Cambria Math" panose="02040503050406030204" pitchFamily="18" charset="0"/>
                                </a:rPr>
                                <m:t>Δ</m:t>
                              </m:r>
                              <m:r>
                                <a:rPr lang="en-US" altLang="ja-JP" i="1">
                                  <a:latin typeface="Cambria Math" panose="02040503050406030204" pitchFamily="18" charset="0"/>
                                </a:rPr>
                                <m:t>𝑘𝑊</m:t>
                              </m:r>
                            </m:e>
                            <m:sub>
                              <m:r>
                                <a:rPr lang="en-US" altLang="ja-JP" i="1">
                                  <a:latin typeface="Cambria Math" panose="02040503050406030204" pitchFamily="18" charset="0"/>
                                </a:rPr>
                                <m:t>𝑏</m:t>
                              </m:r>
                            </m:sub>
                            <m:sup>
                              <m:r>
                                <a:rPr lang="en-US" altLang="ja-JP" i="1">
                                  <a:latin typeface="Cambria Math" panose="02040503050406030204" pitchFamily="18" charset="0"/>
                                </a:rPr>
                                <m:t>𝑟</m:t>
                              </m:r>
                              <m:r>
                                <a:rPr lang="en-US" altLang="ja-JP" b="0" i="1" smtClean="0">
                                  <a:latin typeface="Cambria Math" panose="02040503050406030204" pitchFamily="18" charset="0"/>
                                </a:rPr>
                                <m:t>2</m:t>
                              </m:r>
                            </m:sup>
                          </m:sSubSup>
                        </m:e>
                      </m:nary>
                      <m:r>
                        <a:rPr lang="en-US" altLang="ja-JP" b="0" i="1" smtClean="0">
                          <a:latin typeface="Cambria Math" panose="02040503050406030204" pitchFamily="18" charset="0"/>
                        </a:rPr>
                        <m:t>+</m:t>
                      </m:r>
                      <m:f>
                        <m:fPr>
                          <m:ctrlPr>
                            <a:rPr lang="en-US" altLang="ja-JP"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2</m:t>
                          </m:r>
                        </m:den>
                      </m:f>
                      <m:nary>
                        <m:naryPr>
                          <m:chr m:val="∑"/>
                          <m:ctrlPr>
                            <a:rPr lang="en-US" altLang="ja-JP" i="1" smtClean="0">
                              <a:latin typeface="Cambria Math" panose="02040503050406030204" pitchFamily="18" charset="0"/>
                            </a:rPr>
                          </m:ctrlPr>
                        </m:naryPr>
                        <m:sub>
                          <m:r>
                            <m:rPr>
                              <m:brk m:alnAt="23"/>
                            </m:rPr>
                            <a:rPr lang="en-US" altLang="ja-JP" b="0" i="1" smtClean="0">
                              <a:latin typeface="Cambria Math" panose="02040503050406030204" pitchFamily="18" charset="0"/>
                            </a:rPr>
                            <m:t>𝑖</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10</m:t>
                          </m:r>
                        </m:sup>
                        <m:e>
                          <m:nary>
                            <m:naryPr>
                              <m:chr m:val="∑"/>
                              <m:ctrlPr>
                                <a:rPr lang="en-US" altLang="ja-JP" i="1" smtClean="0">
                                  <a:latin typeface="Cambria Math" panose="02040503050406030204" pitchFamily="18" charset="0"/>
                                </a:rPr>
                              </m:ctrlPr>
                            </m:naryPr>
                            <m:sub>
                              <m:r>
                                <m:rPr>
                                  <m:brk m:alnAt="23"/>
                                </m:rPr>
                                <a:rPr lang="en-US" altLang="ja-JP" b="0" i="1" smtClean="0">
                                  <a:latin typeface="Cambria Math" panose="02040503050406030204" pitchFamily="18" charset="0"/>
                                </a:rPr>
                                <m:t>𝑗</m:t>
                              </m:r>
                              <m:r>
                                <a:rPr lang="en-US" altLang="ja-JP" b="0" i="1" smtClean="0">
                                  <a:latin typeface="Cambria Math" panose="02040503050406030204" pitchFamily="18" charset="0"/>
                                </a:rPr>
                                <m:t>=1</m:t>
                              </m:r>
                            </m:sub>
                            <m:sup>
                              <m:r>
                                <a:rPr lang="en-US" altLang="ja-JP" b="0" i="1" smtClean="0">
                                  <a:latin typeface="Cambria Math" panose="02040503050406030204" pitchFamily="18" charset="0"/>
                                </a:rPr>
                                <m:t>10</m:t>
                              </m:r>
                            </m:sup>
                            <m:e>
                              <m:nary>
                                <m:naryPr>
                                  <m:chr m:val="∑"/>
                                  <m:ctrlPr>
                                    <a:rPr lang="en-US" altLang="ja-JP" i="1" smtClean="0">
                                      <a:latin typeface="Cambria Math" panose="02040503050406030204" pitchFamily="18" charset="0"/>
                                    </a:rPr>
                                  </m:ctrlPr>
                                </m:naryPr>
                                <m:sub>
                                  <m:r>
                                    <m:rPr>
                                      <m:brk m:alnAt="23"/>
                                    </m:rPr>
                                    <a:rPr lang="en-US" altLang="ja-JP" b="0" i="1" smtClean="0">
                                      <a:latin typeface="Cambria Math" panose="02040503050406030204" pitchFamily="18" charset="0"/>
                                    </a:rPr>
                                    <m:t>𝑡</m:t>
                                  </m:r>
                                </m:sub>
                                <m:sup/>
                                <m:e>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𝑆</m:t>
                                          </m:r>
                                        </m:e>
                                        <m:sub>
                                          <m:r>
                                            <a:rPr lang="en-US" altLang="ja-JP" b="0" i="1" smtClean="0">
                                              <a:latin typeface="Cambria Math" panose="02040503050406030204" pitchFamily="18" charset="0"/>
                                            </a:rPr>
                                            <m:t>𝑖𝑗</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r>
                                            <a:rPr lang="en-US" altLang="ja-JP" b="0" i="1" smtClean="0">
                                              <a:latin typeface="Cambria Math" panose="02040503050406030204" pitchFamily="18" charset="0"/>
                                            </a:rPr>
                                            <m:t>2</m:t>
                                          </m:r>
                                        </m:e>
                                        <m:sub>
                                          <m:r>
                                            <a:rPr lang="en-US" altLang="ja-JP" b="0" i="1" smtClean="0">
                                              <a:latin typeface="Cambria Math" panose="02040503050406030204" pitchFamily="18" charset="0"/>
                                            </a:rPr>
                                            <m:t>𝑖𝑗𝑡</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𝑇</m:t>
                                          </m:r>
                                        </m:e>
                                        <m:sub>
                                          <m:r>
                                            <a:rPr lang="en-US" altLang="ja-JP" i="1">
                                              <a:latin typeface="Cambria Math" panose="02040503050406030204" pitchFamily="18" charset="0"/>
                                            </a:rPr>
                                            <m:t>𝑖𝑗</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𝑦</m:t>
                                          </m:r>
                                          <m:r>
                                            <a:rPr lang="en-US" altLang="ja-JP" i="1">
                                              <a:latin typeface="Cambria Math" panose="02040503050406030204" pitchFamily="18" charset="0"/>
                                            </a:rPr>
                                            <m:t>2</m:t>
                                          </m:r>
                                        </m:e>
                                        <m:sub>
                                          <m:r>
                                            <a:rPr lang="en-US" altLang="ja-JP" i="1">
                                              <a:latin typeface="Cambria Math" panose="02040503050406030204" pitchFamily="18" charset="0"/>
                                            </a:rPr>
                                            <m:t>𝑖𝑗𝑡</m:t>
                                          </m:r>
                                        </m:sub>
                                      </m:sSub>
                                    </m:e>
                                  </m:d>
                                </m:e>
                              </m:nary>
                            </m:e>
                          </m:nary>
                        </m:e>
                      </m:nary>
                    </m:oMath>
                  </m:oMathPara>
                </a14:m>
                <a:endParaRPr lang="en-US" altLang="ja-JP" i="1" dirty="0">
                  <a:latin typeface="Cambria Math" panose="02040503050406030204" pitchFamily="18" charset="0"/>
                </a:endParaRPr>
              </a:p>
              <a:p>
                <a:pPr marL="0" indent="0">
                  <a:buNone/>
                </a:pPr>
                <a:endParaRPr lang="en-US" altLang="ja-JP" i="1" dirty="0">
                  <a:latin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F0A8A6DD-328A-B7F8-C1BB-13AC0B980B01}"/>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5" name="テキスト ボックス 4">
            <a:extLst>
              <a:ext uri="{FF2B5EF4-FFF2-40B4-BE49-F238E27FC236}">
                <a16:creationId xmlns:a16="http://schemas.microsoft.com/office/drawing/2014/main" id="{321B9B93-D8D9-DE76-DA61-E5CD30C5BCDF}"/>
              </a:ext>
            </a:extLst>
          </p:cNvPr>
          <p:cNvSpPr txBox="1"/>
          <p:nvPr/>
        </p:nvSpPr>
        <p:spPr>
          <a:xfrm>
            <a:off x="1456660" y="3582155"/>
            <a:ext cx="6671931" cy="3139321"/>
          </a:xfrm>
          <a:prstGeom prst="rect">
            <a:avLst/>
          </a:prstGeom>
          <a:noFill/>
        </p:spPr>
        <p:txBody>
          <a:bodyPr wrap="square" rtlCol="0">
            <a:spAutoFit/>
          </a:bodyPr>
          <a:lstStyle/>
          <a:p>
            <a:r>
              <a:rPr lang="en-US" altLang="ja-JP" dirty="0" err="1">
                <a:latin typeface="Cambria Math" panose="02040503050406030204" pitchFamily="18" charset="0"/>
                <a:ea typeface="Cambria Math" panose="02040503050406030204" pitchFamily="18" charset="0"/>
              </a:rPr>
              <a:t>λ</a:t>
            </a:r>
            <a:r>
              <a:rPr kumimoji="1" lang="en-US" altLang="ja-JP" dirty="0" err="1">
                <a:latin typeface="Cambria Math" panose="02040503050406030204" pitchFamily="18" charset="0"/>
                <a:ea typeface="Cambria Math" panose="02040503050406030204" pitchFamily="18" charset="0"/>
              </a:rPr>
              <a:t>t</a:t>
            </a:r>
            <a:r>
              <a:rPr kumimoji="1" lang="en-US" altLang="ja-JP" dirty="0"/>
              <a:t>:</a:t>
            </a:r>
            <a:r>
              <a:rPr kumimoji="1" lang="ja-JP" altLang="en-US" dirty="0"/>
              <a:t>時刻ｔでのスポット市場の電力価格</a:t>
            </a:r>
            <a:r>
              <a:rPr kumimoji="1" lang="en-US" altLang="ja-JP" dirty="0"/>
              <a:t>[</a:t>
            </a:r>
            <a:r>
              <a:rPr kumimoji="1" lang="ja-JP" altLang="en-US" dirty="0"/>
              <a:t>円</a:t>
            </a:r>
            <a:r>
              <a:rPr kumimoji="1" lang="en-US" altLang="ja-JP" dirty="0"/>
              <a:t>/kWh]</a:t>
            </a:r>
          </a:p>
          <a:p>
            <a:r>
              <a:rPr kumimoji="1" lang="en-US" altLang="ja-JP" dirty="0" err="1">
                <a:latin typeface="Cambria Math" panose="02040503050406030204" pitchFamily="18" charset="0"/>
                <a:ea typeface="Cambria Math" panose="02040503050406030204" pitchFamily="18" charset="0"/>
              </a:rPr>
              <a:t>Ptbuy</a:t>
            </a:r>
            <a:r>
              <a:rPr kumimoji="1" lang="en-US" altLang="ja-JP" dirty="0"/>
              <a:t>:</a:t>
            </a:r>
            <a:r>
              <a:rPr kumimoji="1" lang="ja-JP" altLang="en-US" dirty="0"/>
              <a:t>スポット市場からの買い電力量</a:t>
            </a:r>
            <a:r>
              <a:rPr kumimoji="1" lang="en-US" altLang="ja-JP" dirty="0"/>
              <a:t>[kWh]</a:t>
            </a:r>
          </a:p>
          <a:p>
            <a:r>
              <a:rPr kumimoji="1" lang="en-US" altLang="ja-JP" dirty="0" err="1">
                <a:latin typeface="Cambria Math" panose="02040503050406030204" pitchFamily="18" charset="0"/>
                <a:ea typeface="Cambria Math" panose="02040503050406030204" pitchFamily="18" charset="0"/>
              </a:rPr>
              <a:t>Ptsel</a:t>
            </a:r>
            <a:r>
              <a:rPr kumimoji="1" lang="en-US" altLang="ja-JP" dirty="0"/>
              <a:t>:</a:t>
            </a:r>
            <a:r>
              <a:rPr kumimoji="1" lang="ja-JP" altLang="en-US" dirty="0"/>
              <a:t>スポット市場への売り電力量</a:t>
            </a:r>
            <a:r>
              <a:rPr kumimoji="1" lang="en-US" altLang="ja-JP" dirty="0"/>
              <a:t>[kWh]</a:t>
            </a:r>
          </a:p>
          <a:p>
            <a:r>
              <a:rPr kumimoji="1" lang="en-US" altLang="ja-JP" dirty="0">
                <a:latin typeface="Cambria Math" panose="02040503050406030204" pitchFamily="18" charset="0"/>
                <a:ea typeface="Cambria Math" panose="02040503050406030204" pitchFamily="18" charset="0"/>
              </a:rPr>
              <a:t>Rr1b</a:t>
            </a:r>
            <a:r>
              <a:rPr kumimoji="1" lang="en-US" altLang="ja-JP" dirty="0"/>
              <a:t>:</a:t>
            </a:r>
            <a:r>
              <a:rPr kumimoji="1" lang="ja-JP" altLang="en-US" dirty="0"/>
              <a:t>ブロック</a:t>
            </a:r>
            <a:r>
              <a:rPr kumimoji="1" lang="en-US" altLang="ja-JP" dirty="0"/>
              <a:t>b</a:t>
            </a:r>
            <a:r>
              <a:rPr kumimoji="1" lang="ja-JP" altLang="en-US" dirty="0"/>
              <a:t>での１次調整市場の電力売り価格</a:t>
            </a:r>
            <a:r>
              <a:rPr kumimoji="1" lang="en-US" altLang="ja-JP" dirty="0"/>
              <a:t>[</a:t>
            </a:r>
            <a:r>
              <a:rPr kumimoji="1" lang="ja-JP" altLang="en-US" dirty="0"/>
              <a:t>円</a:t>
            </a:r>
            <a:r>
              <a:rPr kumimoji="1" lang="en-US" altLang="ja-JP" dirty="0"/>
              <a:t>/kW*30</a:t>
            </a:r>
            <a:r>
              <a:rPr kumimoji="1" lang="ja-JP" altLang="en-US" dirty="0"/>
              <a:t>分</a:t>
            </a:r>
            <a:r>
              <a:rPr kumimoji="1" lang="en-US" altLang="ja-JP" dirty="0"/>
              <a:t>]</a:t>
            </a:r>
          </a:p>
          <a:p>
            <a:r>
              <a:rPr kumimoji="1" lang="en-US" altLang="ja-JP" dirty="0">
                <a:latin typeface="Cambria Math" panose="02040503050406030204" pitchFamily="18" charset="0"/>
                <a:ea typeface="Cambria Math" panose="02040503050406030204" pitchFamily="18" charset="0"/>
              </a:rPr>
              <a:t>Rr2b</a:t>
            </a:r>
            <a:r>
              <a:rPr kumimoji="1" lang="en-US" altLang="ja-JP" dirty="0"/>
              <a:t>:</a:t>
            </a:r>
            <a:r>
              <a:rPr lang="ja-JP" altLang="en-US" dirty="0"/>
              <a:t>ブロック</a:t>
            </a:r>
            <a:r>
              <a:rPr lang="en-US" altLang="ja-JP" dirty="0"/>
              <a:t>b</a:t>
            </a:r>
            <a:r>
              <a:rPr lang="ja-JP" altLang="en-US" dirty="0"/>
              <a:t>で</a:t>
            </a:r>
            <a:r>
              <a:rPr kumimoji="1" lang="ja-JP" altLang="en-US" dirty="0"/>
              <a:t>の</a:t>
            </a:r>
            <a:r>
              <a:rPr lang="ja-JP" altLang="en-US" dirty="0"/>
              <a:t>２</a:t>
            </a:r>
            <a:r>
              <a:rPr kumimoji="1" lang="ja-JP" altLang="en-US" dirty="0"/>
              <a:t>次調整市場の電力売り価格</a:t>
            </a:r>
            <a:r>
              <a:rPr kumimoji="1" lang="en-US" altLang="ja-JP" dirty="0"/>
              <a:t>[</a:t>
            </a:r>
            <a:r>
              <a:rPr kumimoji="1" lang="ja-JP" altLang="en-US" dirty="0"/>
              <a:t>円</a:t>
            </a:r>
            <a:r>
              <a:rPr kumimoji="1" lang="en-US" altLang="ja-JP" dirty="0"/>
              <a:t>/kW*30</a:t>
            </a:r>
            <a:r>
              <a:rPr kumimoji="1" lang="ja-JP" altLang="en-US" dirty="0"/>
              <a:t>分</a:t>
            </a:r>
            <a:r>
              <a:rPr kumimoji="1" lang="en-US" altLang="ja-JP" dirty="0"/>
              <a:t>]</a:t>
            </a:r>
          </a:p>
          <a:p>
            <a:r>
              <a:rPr kumimoji="1" lang="en-US" altLang="ja-JP" dirty="0">
                <a:latin typeface="Cambria Math" panose="02040503050406030204" pitchFamily="18" charset="0"/>
                <a:ea typeface="Cambria Math" panose="02040503050406030204" pitchFamily="18" charset="0"/>
              </a:rPr>
              <a:t>ΔkWr</a:t>
            </a:r>
            <a:r>
              <a:rPr lang="en-US" altLang="ja-JP" dirty="0">
                <a:latin typeface="Cambria Math" panose="02040503050406030204" pitchFamily="18" charset="0"/>
                <a:ea typeface="Cambria Math" panose="02040503050406030204" pitchFamily="18" charset="0"/>
              </a:rPr>
              <a:t>1b</a:t>
            </a:r>
            <a:r>
              <a:rPr lang="en-US" altLang="ja-JP" dirty="0"/>
              <a:t>:</a:t>
            </a:r>
            <a:r>
              <a:rPr lang="ja-JP" altLang="en-US" dirty="0"/>
              <a:t>ブロック</a:t>
            </a:r>
            <a:r>
              <a:rPr lang="en-US" altLang="ja-JP" dirty="0"/>
              <a:t>b</a:t>
            </a:r>
            <a:r>
              <a:rPr lang="ja-JP" altLang="en-US" dirty="0"/>
              <a:t>での１次調整市場の売り電力</a:t>
            </a:r>
            <a:r>
              <a:rPr lang="en-US" altLang="ja-JP" dirty="0"/>
              <a:t>[kW*30</a:t>
            </a:r>
            <a:r>
              <a:rPr lang="ja-JP" altLang="en-US" dirty="0"/>
              <a:t>分</a:t>
            </a:r>
            <a:r>
              <a:rPr lang="en-US" altLang="ja-JP" dirty="0"/>
              <a:t>]</a:t>
            </a:r>
          </a:p>
          <a:p>
            <a:r>
              <a:rPr lang="en-US" altLang="ja-JP" dirty="0">
                <a:latin typeface="Cambria Math" panose="02040503050406030204" pitchFamily="18" charset="0"/>
                <a:ea typeface="Cambria Math" panose="02040503050406030204" pitchFamily="18" charset="0"/>
              </a:rPr>
              <a:t>ΔkWr2b</a:t>
            </a:r>
            <a:r>
              <a:rPr lang="en-US" altLang="ja-JP" dirty="0"/>
              <a:t>:</a:t>
            </a:r>
            <a:r>
              <a:rPr lang="ja-JP" altLang="en-US" dirty="0"/>
              <a:t>ブロック</a:t>
            </a:r>
            <a:r>
              <a:rPr lang="en-US" altLang="ja-JP" dirty="0"/>
              <a:t>b</a:t>
            </a:r>
            <a:r>
              <a:rPr lang="ja-JP" altLang="en-US" dirty="0"/>
              <a:t>での２次調整市場の売り電力</a:t>
            </a:r>
            <a:r>
              <a:rPr lang="en-US" altLang="ja-JP" dirty="0"/>
              <a:t>[kW*30</a:t>
            </a:r>
            <a:r>
              <a:rPr lang="ja-JP" altLang="en-US" dirty="0"/>
              <a:t>分</a:t>
            </a:r>
            <a:r>
              <a:rPr lang="en-US" altLang="ja-JP" dirty="0"/>
              <a:t>]</a:t>
            </a:r>
          </a:p>
          <a:p>
            <a:r>
              <a:rPr lang="en-US" altLang="ja-JP" dirty="0">
                <a:latin typeface="Cambria Math" panose="02040503050406030204" pitchFamily="18" charset="0"/>
                <a:ea typeface="Cambria Math" panose="02040503050406030204" pitchFamily="18" charset="0"/>
              </a:rPr>
              <a:t>Sij</a:t>
            </a:r>
            <a:r>
              <a:rPr lang="en-US" altLang="ja-JP" dirty="0"/>
              <a:t>:x2</a:t>
            </a:r>
            <a:r>
              <a:rPr lang="ja-JP" altLang="en-US" dirty="0"/>
              <a:t>が変化するときの劣化の</a:t>
            </a:r>
            <a:r>
              <a:rPr lang="en-US" altLang="ja-JP" dirty="0"/>
              <a:t>σ</a:t>
            </a:r>
            <a:r>
              <a:rPr lang="ja-JP" altLang="en-US" dirty="0"/>
              <a:t>の係数</a:t>
            </a:r>
            <a:endParaRPr lang="en-US" altLang="ja-JP" dirty="0"/>
          </a:p>
          <a:p>
            <a:r>
              <a:rPr lang="en-US" altLang="ja-JP" dirty="0">
                <a:latin typeface="Cambria Math" panose="02040503050406030204" pitchFamily="18" charset="0"/>
                <a:ea typeface="Cambria Math" panose="02040503050406030204" pitchFamily="18" charset="0"/>
              </a:rPr>
              <a:t>Tij</a:t>
            </a:r>
            <a:r>
              <a:rPr lang="en-US" altLang="ja-JP" dirty="0"/>
              <a:t>:y2</a:t>
            </a:r>
            <a:r>
              <a:rPr lang="ja-JP" altLang="en-US" dirty="0"/>
              <a:t>が変化するときの劣化の</a:t>
            </a:r>
            <a:r>
              <a:rPr lang="en-US" altLang="ja-JP" dirty="0"/>
              <a:t>δ</a:t>
            </a:r>
            <a:r>
              <a:rPr lang="ja-JP" altLang="en-US" dirty="0"/>
              <a:t>の係数</a:t>
            </a:r>
            <a:endParaRPr lang="en-US" altLang="ja-JP" dirty="0"/>
          </a:p>
          <a:p>
            <a:r>
              <a:rPr lang="en-US" altLang="ja-JP" dirty="0">
                <a:latin typeface="Cambria Math" panose="02040503050406030204" pitchFamily="18" charset="0"/>
                <a:ea typeface="Cambria Math" panose="02040503050406030204" pitchFamily="18" charset="0"/>
              </a:rPr>
              <a:t>x2ijt</a:t>
            </a:r>
            <a:r>
              <a:rPr lang="en-US" altLang="ja-JP" dirty="0"/>
              <a:t>:</a:t>
            </a:r>
            <a:r>
              <a:rPr lang="ja-JP" altLang="en-US" dirty="0"/>
              <a:t>時刻</a:t>
            </a:r>
            <a:r>
              <a:rPr lang="en-US" altLang="ja-JP" dirty="0"/>
              <a:t>t</a:t>
            </a:r>
            <a:r>
              <a:rPr lang="ja-JP" altLang="en-US" dirty="0"/>
              <a:t>でのピースワイズ構造の</a:t>
            </a:r>
            <a:r>
              <a:rPr lang="en-US" altLang="ja-JP" dirty="0"/>
              <a:t>σ</a:t>
            </a:r>
            <a:r>
              <a:rPr lang="ja-JP" altLang="en-US" dirty="0"/>
              <a:t>の変化</a:t>
            </a:r>
            <a:endParaRPr lang="en-US" altLang="ja-JP" dirty="0"/>
          </a:p>
          <a:p>
            <a:r>
              <a:rPr lang="en-US" altLang="ja-JP" dirty="0">
                <a:latin typeface="Cambria Math" panose="02040503050406030204" pitchFamily="18" charset="0"/>
                <a:ea typeface="Cambria Math" panose="02040503050406030204" pitchFamily="18" charset="0"/>
              </a:rPr>
              <a:t>y</a:t>
            </a:r>
            <a:r>
              <a:rPr kumimoji="1" lang="en-US" altLang="ja-JP" dirty="0">
                <a:latin typeface="Cambria Math" panose="02040503050406030204" pitchFamily="18" charset="0"/>
                <a:ea typeface="Cambria Math" panose="02040503050406030204" pitchFamily="18" charset="0"/>
              </a:rPr>
              <a:t>2ijt</a:t>
            </a:r>
            <a:r>
              <a:rPr kumimoji="1" lang="en-US" altLang="ja-JP" dirty="0"/>
              <a:t>:</a:t>
            </a:r>
            <a:r>
              <a:rPr lang="ja-JP" altLang="en-US" dirty="0"/>
              <a:t>時刻</a:t>
            </a:r>
            <a:r>
              <a:rPr lang="en-US" altLang="ja-JP" dirty="0"/>
              <a:t>t</a:t>
            </a:r>
            <a:r>
              <a:rPr lang="ja-JP" altLang="en-US" dirty="0"/>
              <a:t>でのピースワイズ構造の</a:t>
            </a:r>
            <a:r>
              <a:rPr lang="en-US" altLang="ja-JP" dirty="0"/>
              <a:t>δ</a:t>
            </a:r>
            <a:r>
              <a:rPr lang="ja-JP" altLang="en-US" dirty="0"/>
              <a:t>の変化</a:t>
            </a:r>
            <a:endParaRPr lang="en-US" altLang="ja-JP"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DC04D-F773-50C0-F6C9-DABA6AE14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4A446-1452-B4CB-65D8-EE39A596DA6B}"/>
              </a:ext>
            </a:extLst>
          </p:cNvPr>
          <p:cNvSpPr>
            <a:spLocks noGrp="1"/>
          </p:cNvSpPr>
          <p:nvPr>
            <p:ph type="title"/>
          </p:nvPr>
        </p:nvSpPr>
        <p:spPr/>
        <p:txBody>
          <a:bodyPr>
            <a:normAutofit/>
          </a:bodyPr>
          <a:lstStyle/>
          <a:p>
            <a:r>
              <a:rPr lang="ja-JP" altLang="en-US" dirty="0"/>
              <a:t>制約</a:t>
            </a:r>
            <a:br>
              <a:rPr lang="en-US" altLang="ja-JP" dirty="0"/>
            </a:br>
            <a:endParaRPr dirty="0"/>
          </a:p>
        </p:txBody>
      </p:sp>
      <p:sp>
        <p:nvSpPr>
          <p:cNvPr id="3" name="スライド番号プレースホルダー 2">
            <a:extLst>
              <a:ext uri="{FF2B5EF4-FFF2-40B4-BE49-F238E27FC236}">
                <a16:creationId xmlns:a16="http://schemas.microsoft.com/office/drawing/2014/main" id="{192BC9F5-60F0-8A5C-600C-DAD863230763}"/>
              </a:ext>
            </a:extLst>
          </p:cNvPr>
          <p:cNvSpPr>
            <a:spLocks noGrp="1"/>
          </p:cNvSpPr>
          <p:nvPr>
            <p:ph type="sldNum" sz="quarter" idx="12"/>
          </p:nvPr>
        </p:nvSpPr>
        <p:spPr/>
        <p:txBody>
          <a:bodyPr/>
          <a:lstStyle/>
          <a:p>
            <a:fld id="{C1FF6DA9-008F-8B48-92A6-B652298478BF}" type="slidenum">
              <a:rPr lang="en-US" smtClean="0"/>
              <a:t>12</a:t>
            </a:fld>
            <a:endParaRPr lang="en-US"/>
          </a:p>
        </p:txBody>
      </p:sp>
      <p:pic>
        <p:nvPicPr>
          <p:cNvPr id="8" name="図 7">
            <a:extLst>
              <a:ext uri="{FF2B5EF4-FFF2-40B4-BE49-F238E27FC236}">
                <a16:creationId xmlns:a16="http://schemas.microsoft.com/office/drawing/2014/main" id="{E4F9AC14-4F38-DC2C-70FD-DDE6CF8097FC}"/>
              </a:ext>
            </a:extLst>
          </p:cNvPr>
          <p:cNvPicPr>
            <a:picLocks noChangeAspect="1"/>
          </p:cNvPicPr>
          <p:nvPr/>
        </p:nvPicPr>
        <p:blipFill>
          <a:blip r:embed="rId2"/>
          <a:stretch>
            <a:fillRect/>
          </a:stretch>
        </p:blipFill>
        <p:spPr>
          <a:xfrm>
            <a:off x="1400959" y="3061674"/>
            <a:ext cx="3128511" cy="1437424"/>
          </a:xfrm>
          <a:prstGeom prst="rect">
            <a:avLst/>
          </a:prstGeom>
        </p:spPr>
      </p:pic>
      <p:pic>
        <p:nvPicPr>
          <p:cNvPr id="7" name="図 6">
            <a:extLst>
              <a:ext uri="{FF2B5EF4-FFF2-40B4-BE49-F238E27FC236}">
                <a16:creationId xmlns:a16="http://schemas.microsoft.com/office/drawing/2014/main" id="{19904263-2974-E295-62C9-4EC575E11519}"/>
              </a:ext>
            </a:extLst>
          </p:cNvPr>
          <p:cNvPicPr>
            <a:picLocks noChangeAspect="1"/>
          </p:cNvPicPr>
          <p:nvPr/>
        </p:nvPicPr>
        <p:blipFill>
          <a:blip r:embed="rId3"/>
          <a:stretch>
            <a:fillRect/>
          </a:stretch>
        </p:blipFill>
        <p:spPr>
          <a:xfrm>
            <a:off x="1400959" y="1767402"/>
            <a:ext cx="3359888" cy="1708809"/>
          </a:xfrm>
          <a:prstGeom prst="rect">
            <a:avLst/>
          </a:prstGeom>
        </p:spPr>
      </p:pic>
      <p:sp>
        <p:nvSpPr>
          <p:cNvPr id="11" name="テキスト ボックス 10">
            <a:extLst>
              <a:ext uri="{FF2B5EF4-FFF2-40B4-BE49-F238E27FC236}">
                <a16:creationId xmlns:a16="http://schemas.microsoft.com/office/drawing/2014/main" id="{CF685208-28DE-AF1D-3293-4C519E255D78}"/>
              </a:ext>
            </a:extLst>
          </p:cNvPr>
          <p:cNvSpPr txBox="1"/>
          <p:nvPr/>
        </p:nvSpPr>
        <p:spPr>
          <a:xfrm>
            <a:off x="409353" y="4313199"/>
            <a:ext cx="7155712" cy="2769989"/>
          </a:xfrm>
          <a:prstGeom prst="rect">
            <a:avLst/>
          </a:prstGeom>
          <a:noFill/>
        </p:spPr>
        <p:txBody>
          <a:bodyPr wrap="square" rtlCol="0">
            <a:spAutoFit/>
          </a:bodyPr>
          <a:lstStyle/>
          <a:p>
            <a:r>
              <a:rPr lang="en-US" altLang="ja-JP" sz="1200" dirty="0" err="1">
                <a:latin typeface="Cambria Math" panose="02040503050406030204" pitchFamily="18" charset="0"/>
                <a:ea typeface="Cambria Math" panose="02040503050406030204" pitchFamily="18" charset="0"/>
              </a:rPr>
              <a:t>Qr</a:t>
            </a:r>
            <a:r>
              <a:rPr lang="en-US" altLang="ja-JP" sz="1200" dirty="0"/>
              <a:t>:</a:t>
            </a:r>
            <a:r>
              <a:rPr lang="ja-JP" altLang="en-US" sz="1200" dirty="0"/>
              <a:t>需給調整市場におけるバッテリー電力量</a:t>
            </a:r>
            <a:r>
              <a:rPr lang="en-US" altLang="ja-JP" sz="1200" dirty="0"/>
              <a:t>[kWh]</a:t>
            </a:r>
          </a:p>
          <a:p>
            <a:r>
              <a:rPr lang="en-US" altLang="ja-JP" sz="1200" dirty="0">
                <a:latin typeface="Cambria Math" panose="02040503050406030204" pitchFamily="18" charset="0"/>
                <a:ea typeface="Cambria Math" panose="02040503050406030204" pitchFamily="18" charset="0"/>
              </a:rPr>
              <a:t>Qr2</a:t>
            </a:r>
            <a:r>
              <a:rPr lang="en-US" altLang="ja-JP" sz="1200" dirty="0"/>
              <a:t>:</a:t>
            </a:r>
            <a:r>
              <a:rPr lang="ja-JP" altLang="en-US" sz="1200" dirty="0"/>
              <a:t>２次需給調整市場におけるバッテリー電力量</a:t>
            </a:r>
            <a:r>
              <a:rPr lang="en-US" altLang="ja-JP" sz="1200" dirty="0"/>
              <a:t>[kWh]</a:t>
            </a:r>
          </a:p>
          <a:p>
            <a:r>
              <a:rPr kumimoji="1" lang="en-US" altLang="ja-JP" sz="1200" dirty="0">
                <a:latin typeface="Cambria Math" panose="02040503050406030204" pitchFamily="18" charset="0"/>
                <a:ea typeface="Cambria Math" panose="02040503050406030204" pitchFamily="18" charset="0"/>
              </a:rPr>
              <a:t>Qs</a:t>
            </a:r>
            <a:r>
              <a:rPr kumimoji="1" lang="en-US" altLang="ja-JP" sz="1200" dirty="0"/>
              <a:t>:</a:t>
            </a:r>
            <a:r>
              <a:rPr kumimoji="1" lang="ja-JP" altLang="en-US" sz="1200" dirty="0"/>
              <a:t>スポット市場におけるバッテリー電力量</a:t>
            </a:r>
            <a:r>
              <a:rPr kumimoji="1" lang="en-US" altLang="ja-JP" sz="1200" dirty="0"/>
              <a:t>[kWh]</a:t>
            </a:r>
          </a:p>
          <a:p>
            <a:r>
              <a:rPr lang="en-US" altLang="ja-JP" sz="1200" dirty="0" err="1">
                <a:latin typeface="Cambria Math" panose="02040503050406030204" pitchFamily="18" charset="0"/>
                <a:ea typeface="Cambria Math" panose="02040503050406030204" pitchFamily="18" charset="0"/>
              </a:rPr>
              <a:t>ΔkWh</a:t>
            </a:r>
            <a:r>
              <a:rPr lang="en-US" altLang="ja-JP" sz="1200" dirty="0"/>
              <a:t>:</a:t>
            </a:r>
            <a:r>
              <a:rPr lang="ja-JP" altLang="en-US" sz="1200" dirty="0"/>
              <a:t>バッテリーの実際の充電量を </a:t>
            </a:r>
            <a:r>
              <a:rPr lang="en-US" altLang="ja-JP" sz="1200" dirty="0" err="1"/>
              <a:t>Wh</a:t>
            </a:r>
            <a:r>
              <a:rPr lang="en-US" altLang="ja-JP" sz="1200" dirty="0"/>
              <a:t> </a:t>
            </a:r>
            <a:r>
              <a:rPr lang="ja-JP" altLang="en-US" sz="1200" dirty="0"/>
              <a:t>換算した値</a:t>
            </a:r>
            <a:endParaRPr lang="en-US" altLang="ja-JP" sz="1200" dirty="0"/>
          </a:p>
          <a:p>
            <a:r>
              <a:rPr lang="en-US" altLang="ja-JP" sz="1200" dirty="0" err="1">
                <a:latin typeface="Cambria Math" panose="02040503050406030204" pitchFamily="18" charset="0"/>
                <a:ea typeface="Cambria Math" panose="02040503050406030204" pitchFamily="18" charset="0"/>
              </a:rPr>
              <a:t>ηpcs</a:t>
            </a:r>
            <a:r>
              <a:rPr lang="en-US" altLang="ja-JP" sz="1200" dirty="0"/>
              <a:t>:</a:t>
            </a:r>
            <a:r>
              <a:rPr lang="ja-JP" altLang="en-US" sz="1200" dirty="0"/>
              <a:t>パワーコンディショナ（</a:t>
            </a:r>
            <a:r>
              <a:rPr lang="en-US" altLang="ja-JP" sz="1200" dirty="0"/>
              <a:t>PCS</a:t>
            </a:r>
            <a:r>
              <a:rPr lang="ja-JP" altLang="en-US" sz="1200" dirty="0"/>
              <a:t>）の変換効率</a:t>
            </a:r>
            <a:endParaRPr lang="en-US" altLang="ja-JP" sz="1200" dirty="0"/>
          </a:p>
          <a:p>
            <a:r>
              <a:rPr lang="en-US" altLang="ja-JP" sz="1200" dirty="0" err="1">
                <a:latin typeface="Cambria Math" panose="02040503050406030204" pitchFamily="18" charset="0"/>
                <a:ea typeface="Cambria Math" panose="02040503050406030204" pitchFamily="18" charset="0"/>
              </a:rPr>
              <a:t>ηbat</a:t>
            </a:r>
            <a:r>
              <a:rPr lang="en-US" altLang="ja-JP" sz="1200" dirty="0"/>
              <a:t>:</a:t>
            </a:r>
            <a:r>
              <a:rPr lang="ja-JP" altLang="en-US" sz="1200" dirty="0"/>
              <a:t>充電時のロス</a:t>
            </a:r>
            <a:endParaRPr lang="en-US" altLang="ja-JP" sz="1200" dirty="0"/>
          </a:p>
          <a:p>
            <a:r>
              <a:rPr lang="en-US" altLang="ja-JP" sz="1200" dirty="0">
                <a:latin typeface="Cambria Math" panose="02040503050406030204" pitchFamily="18" charset="0"/>
                <a:ea typeface="Cambria Math" panose="02040503050406030204" pitchFamily="18" charset="0"/>
              </a:rPr>
              <a:t>α</a:t>
            </a:r>
            <a:r>
              <a:rPr lang="en-US" altLang="ja-JP" sz="1200" dirty="0"/>
              <a:t>:</a:t>
            </a:r>
            <a:r>
              <a:rPr lang="ja-JP" altLang="en-US" sz="1200" dirty="0"/>
              <a:t>放電側へ割り振られる比率　　　　　　　　　　　　　　　　　　</a:t>
            </a:r>
            <a:endParaRPr lang="en-US" altLang="ja-JP" sz="1200" dirty="0">
              <a:highlight>
                <a:srgbClr val="FFFF00"/>
              </a:highlight>
            </a:endParaRPr>
          </a:p>
          <a:p>
            <a:r>
              <a:rPr lang="en-US" altLang="ja-JP" sz="1200" dirty="0">
                <a:latin typeface="Cambria Math" panose="02040503050406030204" pitchFamily="18" charset="0"/>
                <a:ea typeface="Cambria Math" panose="02040503050406030204" pitchFamily="18" charset="0"/>
              </a:rPr>
              <a:t>k0~k2</a:t>
            </a:r>
            <a:r>
              <a:rPr lang="en-US" altLang="ja-JP" sz="1200" dirty="0"/>
              <a:t>:</a:t>
            </a:r>
            <a:r>
              <a:rPr lang="ja-JP" altLang="en-US" sz="1200" dirty="0"/>
              <a:t>バッテリーのそれぞれの電力量の割合</a:t>
            </a:r>
            <a:endParaRPr lang="en-US" altLang="ja-JP" sz="1200" dirty="0"/>
          </a:p>
          <a:p>
            <a:r>
              <a:rPr lang="en-US" altLang="ja-JP" sz="1200" dirty="0" err="1">
                <a:latin typeface="Cambria Math" panose="02040503050406030204" pitchFamily="18" charset="0"/>
                <a:ea typeface="Cambria Math" panose="02040503050406030204" pitchFamily="18" charset="0"/>
              </a:rPr>
              <a:t>B_const</a:t>
            </a:r>
            <a:r>
              <a:rPr lang="en-US" altLang="ja-JP" sz="1200" dirty="0"/>
              <a:t>:</a:t>
            </a:r>
            <a:r>
              <a:rPr lang="ja-JP" altLang="en-US" sz="1200" dirty="0"/>
              <a:t>バッテリー容量</a:t>
            </a:r>
            <a:endParaRPr lang="en-US" altLang="ja-JP" sz="1200" dirty="0"/>
          </a:p>
          <a:p>
            <a:r>
              <a:rPr lang="en-US" altLang="ja-JP" sz="1200" dirty="0">
                <a:latin typeface="Cambria Math" panose="02040503050406030204" pitchFamily="18" charset="0"/>
                <a:ea typeface="Cambria Math" panose="02040503050406030204" pitchFamily="18" charset="0"/>
              </a:rPr>
              <a:t>W2(</a:t>
            </a:r>
            <a:r>
              <a:rPr lang="en-US" altLang="ja-JP" sz="1200" dirty="0" err="1">
                <a:latin typeface="Cambria Math" panose="02040503050406030204" pitchFamily="18" charset="0"/>
                <a:ea typeface="Cambria Math" panose="02040503050406030204" pitchFamily="18" charset="0"/>
              </a:rPr>
              <a:t>I,j,t</a:t>
            </a:r>
            <a:r>
              <a:rPr lang="en-US" altLang="ja-JP" sz="1200" dirty="0">
                <a:latin typeface="Cambria Math" panose="02040503050406030204" pitchFamily="18" charset="0"/>
                <a:ea typeface="Cambria Math" panose="02040503050406030204" pitchFamily="18" charset="0"/>
              </a:rPr>
              <a:t>)</a:t>
            </a:r>
            <a:r>
              <a:rPr lang="en-US" altLang="ja-JP" sz="1200" dirty="0"/>
              <a:t>:Z2 </a:t>
            </a:r>
            <a:r>
              <a:rPr lang="ja-JP" altLang="en-US" sz="1200" dirty="0"/>
              <a:t>と </a:t>
            </a:r>
            <a:r>
              <a:rPr lang="en-US" altLang="ja-JP" sz="1200" dirty="0"/>
              <a:t>U </a:t>
            </a:r>
            <a:r>
              <a:rPr lang="ja-JP" altLang="en-US" sz="1200" dirty="0"/>
              <a:t>の </a:t>
            </a:r>
            <a:r>
              <a:rPr lang="en-US" altLang="ja-JP" sz="1200" dirty="0"/>
              <a:t>AND </a:t>
            </a:r>
            <a:r>
              <a:rPr lang="ja-JP" altLang="en-US" sz="1200" dirty="0"/>
              <a:t>を表すバイナリ（論理積）</a:t>
            </a:r>
            <a:endParaRPr lang="en-US" altLang="ja-JP" sz="1200" dirty="0"/>
          </a:p>
          <a:p>
            <a:r>
              <a:rPr lang="en-US" altLang="ja-JP" sz="1200" dirty="0">
                <a:latin typeface="Cambria Math" panose="02040503050406030204" pitchFamily="18" charset="0"/>
                <a:ea typeface="Cambria Math" panose="02040503050406030204" pitchFamily="18" charset="0"/>
              </a:rPr>
              <a:t>Z2(</a:t>
            </a:r>
            <a:r>
              <a:rPr lang="en-US" altLang="ja-JP" sz="1200" dirty="0" err="1">
                <a:latin typeface="Cambria Math" panose="02040503050406030204" pitchFamily="18" charset="0"/>
                <a:ea typeface="Cambria Math" panose="02040503050406030204" pitchFamily="18" charset="0"/>
              </a:rPr>
              <a:t>I,t</a:t>
            </a:r>
            <a:r>
              <a:rPr lang="en-US" altLang="ja-JP" sz="1200" dirty="0">
                <a:latin typeface="Cambria Math" panose="02040503050406030204" pitchFamily="18" charset="0"/>
                <a:ea typeface="Cambria Math" panose="02040503050406030204" pitchFamily="18" charset="0"/>
              </a:rPr>
              <a:t>)</a:t>
            </a:r>
            <a:r>
              <a:rPr lang="en-US" altLang="ja-JP" sz="1200" dirty="0"/>
              <a:t>:</a:t>
            </a:r>
            <a:r>
              <a:rPr lang="ja-JP" altLang="en-US" sz="1200" dirty="0"/>
              <a:t>時刻 </a:t>
            </a:r>
            <a:r>
              <a:rPr lang="en-US" altLang="ja-JP" sz="1200" dirty="0"/>
              <a:t>t </a:t>
            </a:r>
            <a:r>
              <a:rPr lang="ja-JP" altLang="en-US" sz="1200" dirty="0"/>
              <a:t>における</a:t>
            </a:r>
            <a:r>
              <a:rPr lang="en-US" altLang="ja-JP" sz="1200" dirty="0"/>
              <a:t>σ</a:t>
            </a:r>
            <a:r>
              <a:rPr lang="ja-JP" altLang="en-US" sz="1200" dirty="0"/>
              <a:t>のピースワイズ区間 </a:t>
            </a:r>
            <a:r>
              <a:rPr lang="en-US" altLang="ja-JP" sz="1200" dirty="0"/>
              <a:t>i </a:t>
            </a:r>
            <a:r>
              <a:rPr lang="ja-JP" altLang="en-US" sz="1200" dirty="0"/>
              <a:t>を選択するためのバイナリ変数</a:t>
            </a:r>
            <a:endParaRPr lang="en-US" altLang="ja-JP" sz="1200" dirty="0"/>
          </a:p>
          <a:p>
            <a:r>
              <a:rPr lang="en-US" altLang="ja-JP" sz="1200" dirty="0">
                <a:latin typeface="Cambria Math" panose="02040503050406030204" pitchFamily="18" charset="0"/>
                <a:ea typeface="Cambria Math" panose="02040503050406030204" pitchFamily="18" charset="0"/>
              </a:rPr>
              <a:t>U(</a:t>
            </a:r>
            <a:r>
              <a:rPr lang="en-US" altLang="ja-JP" sz="1200" dirty="0" err="1">
                <a:latin typeface="Cambria Math" panose="02040503050406030204" pitchFamily="18" charset="0"/>
                <a:ea typeface="Cambria Math" panose="02040503050406030204" pitchFamily="18" charset="0"/>
              </a:rPr>
              <a:t>j,t</a:t>
            </a:r>
            <a:r>
              <a:rPr lang="en-US" altLang="ja-JP" sz="1200" dirty="0">
                <a:latin typeface="Cambria Math" panose="02040503050406030204" pitchFamily="18" charset="0"/>
                <a:ea typeface="Cambria Math" panose="02040503050406030204" pitchFamily="18" charset="0"/>
              </a:rPr>
              <a:t>)</a:t>
            </a:r>
            <a:r>
              <a:rPr lang="en-US" altLang="ja-JP" sz="1200" dirty="0"/>
              <a:t>:</a:t>
            </a:r>
            <a:r>
              <a:rPr lang="ja-JP" altLang="en-US" sz="1200" dirty="0"/>
              <a:t>時刻 </a:t>
            </a:r>
            <a:r>
              <a:rPr lang="en-US" altLang="ja-JP" sz="1200" dirty="0"/>
              <a:t>t </a:t>
            </a:r>
            <a:r>
              <a:rPr lang="ja-JP" altLang="en-US" sz="1200" dirty="0"/>
              <a:t>における</a:t>
            </a:r>
            <a:r>
              <a:rPr lang="en-US" altLang="ja-JP" sz="1200" dirty="0"/>
              <a:t>δ</a:t>
            </a:r>
            <a:r>
              <a:rPr lang="ja-JP" altLang="en-US" sz="1200" dirty="0"/>
              <a:t>のピースワイズ区間 </a:t>
            </a:r>
            <a:r>
              <a:rPr lang="en-US" altLang="ja-JP" sz="1200" dirty="0"/>
              <a:t>j</a:t>
            </a:r>
            <a:r>
              <a:rPr lang="ja-JP" altLang="en-US" sz="1200" dirty="0"/>
              <a:t>の選択を示すバイナリ</a:t>
            </a:r>
            <a:endParaRPr lang="en-US" altLang="ja-JP" sz="1200" dirty="0"/>
          </a:p>
          <a:p>
            <a:r>
              <a:rPr lang="en-US" altLang="ja-JP" sz="1200" dirty="0">
                <a:latin typeface="Cambria Math" panose="02040503050406030204" pitchFamily="18" charset="0"/>
                <a:ea typeface="Cambria Math" panose="02040503050406030204" pitchFamily="18" charset="0"/>
              </a:rPr>
              <a:t>Z3</a:t>
            </a:r>
            <a:r>
              <a:rPr lang="en-US" altLang="ja-JP" sz="1200" dirty="0"/>
              <a:t>:Z2 </a:t>
            </a:r>
            <a:r>
              <a:rPr lang="ja-JP" altLang="en-US" sz="1200" dirty="0"/>
              <a:t>の補助変数。</a:t>
            </a:r>
            <a:endParaRPr lang="en-US" altLang="ja-JP" sz="1200" dirty="0"/>
          </a:p>
          <a:p>
            <a:endParaRPr kumimoji="1" lang="en-US" altLang="ja-JP" sz="1200" dirty="0"/>
          </a:p>
        </p:txBody>
      </p:sp>
      <p:pic>
        <p:nvPicPr>
          <p:cNvPr id="13" name="図 12">
            <a:extLst>
              <a:ext uri="{FF2B5EF4-FFF2-40B4-BE49-F238E27FC236}">
                <a16:creationId xmlns:a16="http://schemas.microsoft.com/office/drawing/2014/main" id="{FD99AA40-E7C6-0DFD-2299-0A59F3A40E01}"/>
              </a:ext>
            </a:extLst>
          </p:cNvPr>
          <p:cNvPicPr>
            <a:picLocks noChangeAspect="1"/>
          </p:cNvPicPr>
          <p:nvPr/>
        </p:nvPicPr>
        <p:blipFill>
          <a:blip r:embed="rId4"/>
          <a:stretch>
            <a:fillRect/>
          </a:stretch>
        </p:blipFill>
        <p:spPr>
          <a:xfrm>
            <a:off x="1400959" y="713608"/>
            <a:ext cx="5283570" cy="1435875"/>
          </a:xfrm>
          <a:prstGeom prst="rect">
            <a:avLst/>
          </a:prstGeom>
        </p:spPr>
      </p:pic>
      <p:pic>
        <p:nvPicPr>
          <p:cNvPr id="5" name="図 4">
            <a:extLst>
              <a:ext uri="{FF2B5EF4-FFF2-40B4-BE49-F238E27FC236}">
                <a16:creationId xmlns:a16="http://schemas.microsoft.com/office/drawing/2014/main" id="{8C45EF86-D7CF-6B3C-0E39-92AAEACC5F05}"/>
              </a:ext>
            </a:extLst>
          </p:cNvPr>
          <p:cNvPicPr>
            <a:picLocks noChangeAspect="1"/>
          </p:cNvPicPr>
          <p:nvPr/>
        </p:nvPicPr>
        <p:blipFill>
          <a:blip r:embed="rId5"/>
          <a:stretch>
            <a:fillRect/>
          </a:stretch>
        </p:blipFill>
        <p:spPr>
          <a:xfrm>
            <a:off x="5896222" y="1431545"/>
            <a:ext cx="3121231" cy="461902"/>
          </a:xfrm>
          <a:prstGeom prst="rect">
            <a:avLst/>
          </a:prstGeom>
        </p:spPr>
      </p:pic>
    </p:spTree>
    <p:extLst>
      <p:ext uri="{BB962C8B-B14F-4D97-AF65-F5344CB8AC3E}">
        <p14:creationId xmlns:p14="http://schemas.microsoft.com/office/powerpoint/2010/main" val="1974470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C5E254-F1F0-728F-4781-C8B314ED12C9}"/>
              </a:ext>
            </a:extLst>
          </p:cNvPr>
          <p:cNvSpPr>
            <a:spLocks noGrp="1"/>
          </p:cNvSpPr>
          <p:nvPr>
            <p:ph type="title"/>
          </p:nvPr>
        </p:nvSpPr>
        <p:spPr/>
        <p:txBody>
          <a:bodyPr/>
          <a:lstStyle/>
          <a:p>
            <a:r>
              <a:rPr lang="ja-JP" altLang="en-US" dirty="0"/>
              <a:t>制約</a:t>
            </a:r>
            <a:endParaRPr kumimoji="1" lang="ja-JP" altLang="en-US" dirty="0"/>
          </a:p>
        </p:txBody>
      </p:sp>
      <p:sp>
        <p:nvSpPr>
          <p:cNvPr id="4" name="スライド番号プレースホルダー 3">
            <a:extLst>
              <a:ext uri="{FF2B5EF4-FFF2-40B4-BE49-F238E27FC236}">
                <a16:creationId xmlns:a16="http://schemas.microsoft.com/office/drawing/2014/main" id="{A2DD4429-BF6B-F98C-18B8-258794BEFD36}"/>
              </a:ext>
            </a:extLst>
          </p:cNvPr>
          <p:cNvSpPr>
            <a:spLocks noGrp="1"/>
          </p:cNvSpPr>
          <p:nvPr>
            <p:ph type="sldNum" sz="quarter" idx="12"/>
          </p:nvPr>
        </p:nvSpPr>
        <p:spPr/>
        <p:txBody>
          <a:bodyPr/>
          <a:lstStyle/>
          <a:p>
            <a:fld id="{C1FF6DA9-008F-8B48-92A6-B652298478BF}" type="slidenum">
              <a:rPr lang="en-US" smtClean="0"/>
              <a:t>13</a:t>
            </a:fld>
            <a:endParaRPr lang="en-US"/>
          </a:p>
        </p:txBody>
      </p:sp>
      <p:pic>
        <p:nvPicPr>
          <p:cNvPr id="10" name="図 9">
            <a:extLst>
              <a:ext uri="{FF2B5EF4-FFF2-40B4-BE49-F238E27FC236}">
                <a16:creationId xmlns:a16="http://schemas.microsoft.com/office/drawing/2014/main" id="{1D8BCA7D-F56D-BA48-B534-946188F146AA}"/>
              </a:ext>
            </a:extLst>
          </p:cNvPr>
          <p:cNvPicPr>
            <a:picLocks noChangeAspect="1"/>
          </p:cNvPicPr>
          <p:nvPr/>
        </p:nvPicPr>
        <p:blipFill>
          <a:blip r:embed="rId2"/>
          <a:stretch>
            <a:fillRect/>
          </a:stretch>
        </p:blipFill>
        <p:spPr>
          <a:xfrm>
            <a:off x="628650" y="1250273"/>
            <a:ext cx="6390158" cy="717132"/>
          </a:xfrm>
          <a:prstGeom prst="rect">
            <a:avLst/>
          </a:prstGeom>
        </p:spPr>
      </p:pic>
      <p:pic>
        <p:nvPicPr>
          <p:cNvPr id="14" name="コンテンツ プレースホルダー 13">
            <a:extLst>
              <a:ext uri="{FF2B5EF4-FFF2-40B4-BE49-F238E27FC236}">
                <a16:creationId xmlns:a16="http://schemas.microsoft.com/office/drawing/2014/main" id="{9725DE67-D318-97DD-7405-91D83EAB0044}"/>
              </a:ext>
            </a:extLst>
          </p:cNvPr>
          <p:cNvPicPr>
            <a:picLocks noGrp="1" noChangeAspect="1"/>
          </p:cNvPicPr>
          <p:nvPr>
            <p:ph idx="1"/>
          </p:nvPr>
        </p:nvPicPr>
        <p:blipFill>
          <a:blip r:embed="rId3"/>
          <a:stretch>
            <a:fillRect/>
          </a:stretch>
        </p:blipFill>
        <p:spPr>
          <a:xfrm>
            <a:off x="628650" y="1690689"/>
            <a:ext cx="6390158" cy="1036851"/>
          </a:xfrm>
        </p:spPr>
      </p:pic>
      <p:pic>
        <p:nvPicPr>
          <p:cNvPr id="21" name="コンテンツ プレースホルダー 4">
            <a:extLst>
              <a:ext uri="{FF2B5EF4-FFF2-40B4-BE49-F238E27FC236}">
                <a16:creationId xmlns:a16="http://schemas.microsoft.com/office/drawing/2014/main" id="{2EE6CDCD-A335-2D7D-A681-B1836DB8A184}"/>
              </a:ext>
            </a:extLst>
          </p:cNvPr>
          <p:cNvPicPr>
            <a:picLocks noChangeAspect="1"/>
          </p:cNvPicPr>
          <p:nvPr/>
        </p:nvPicPr>
        <p:blipFill>
          <a:blip r:embed="rId4"/>
          <a:stretch>
            <a:fillRect/>
          </a:stretch>
        </p:blipFill>
        <p:spPr>
          <a:xfrm>
            <a:off x="628650" y="2486050"/>
            <a:ext cx="5128030" cy="1463505"/>
          </a:xfrm>
          <a:prstGeom prst="rect">
            <a:avLst/>
          </a:prstGeom>
        </p:spPr>
      </p:pic>
      <p:pic>
        <p:nvPicPr>
          <p:cNvPr id="22" name="図 21">
            <a:extLst>
              <a:ext uri="{FF2B5EF4-FFF2-40B4-BE49-F238E27FC236}">
                <a16:creationId xmlns:a16="http://schemas.microsoft.com/office/drawing/2014/main" id="{91B9D15D-FC22-FC25-DB17-A0D2CAD15997}"/>
              </a:ext>
            </a:extLst>
          </p:cNvPr>
          <p:cNvPicPr>
            <a:picLocks noChangeAspect="1"/>
          </p:cNvPicPr>
          <p:nvPr/>
        </p:nvPicPr>
        <p:blipFill>
          <a:blip r:embed="rId5"/>
          <a:stretch>
            <a:fillRect/>
          </a:stretch>
        </p:blipFill>
        <p:spPr>
          <a:xfrm>
            <a:off x="672793" y="4379219"/>
            <a:ext cx="4232548" cy="1576183"/>
          </a:xfrm>
          <a:prstGeom prst="rect">
            <a:avLst/>
          </a:prstGeom>
        </p:spPr>
      </p:pic>
      <p:pic>
        <p:nvPicPr>
          <p:cNvPr id="23" name="図 22">
            <a:extLst>
              <a:ext uri="{FF2B5EF4-FFF2-40B4-BE49-F238E27FC236}">
                <a16:creationId xmlns:a16="http://schemas.microsoft.com/office/drawing/2014/main" id="{2FFD4F48-FDAC-241F-5481-5F0C7A97B229}"/>
              </a:ext>
            </a:extLst>
          </p:cNvPr>
          <p:cNvPicPr>
            <a:picLocks noChangeAspect="1"/>
          </p:cNvPicPr>
          <p:nvPr/>
        </p:nvPicPr>
        <p:blipFill>
          <a:blip r:embed="rId6"/>
          <a:stretch>
            <a:fillRect/>
          </a:stretch>
        </p:blipFill>
        <p:spPr>
          <a:xfrm>
            <a:off x="793533" y="3591377"/>
            <a:ext cx="2548758" cy="980292"/>
          </a:xfrm>
          <a:prstGeom prst="rect">
            <a:avLst/>
          </a:prstGeom>
        </p:spPr>
      </p:pic>
    </p:spTree>
    <p:extLst>
      <p:ext uri="{BB962C8B-B14F-4D97-AF65-F5344CB8AC3E}">
        <p14:creationId xmlns:p14="http://schemas.microsoft.com/office/powerpoint/2010/main" val="3321471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AB6AD9-5BB5-FACD-5683-95300C27DE4A}"/>
              </a:ext>
            </a:extLst>
          </p:cNvPr>
          <p:cNvSpPr>
            <a:spLocks noGrp="1"/>
          </p:cNvSpPr>
          <p:nvPr>
            <p:ph type="title"/>
          </p:nvPr>
        </p:nvSpPr>
        <p:spPr/>
        <p:txBody>
          <a:bodyPr/>
          <a:lstStyle/>
          <a:p>
            <a:r>
              <a:rPr kumimoji="1" lang="ja-JP" altLang="en-US" dirty="0"/>
              <a:t>制約</a:t>
            </a:r>
          </a:p>
        </p:txBody>
      </p:sp>
      <p:sp>
        <p:nvSpPr>
          <p:cNvPr id="3" name="スライド番号プレースホルダー 2">
            <a:extLst>
              <a:ext uri="{FF2B5EF4-FFF2-40B4-BE49-F238E27FC236}">
                <a16:creationId xmlns:a16="http://schemas.microsoft.com/office/drawing/2014/main" id="{C94CDF6D-DDF8-DB95-2B32-0988C33D1357}"/>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9" name="図 8">
            <a:extLst>
              <a:ext uri="{FF2B5EF4-FFF2-40B4-BE49-F238E27FC236}">
                <a16:creationId xmlns:a16="http://schemas.microsoft.com/office/drawing/2014/main" id="{C2E1B1F4-381F-C601-FFC0-9AE1229FBD7A}"/>
              </a:ext>
            </a:extLst>
          </p:cNvPr>
          <p:cNvPicPr>
            <a:picLocks noChangeAspect="1"/>
          </p:cNvPicPr>
          <p:nvPr/>
        </p:nvPicPr>
        <p:blipFill>
          <a:blip r:embed="rId2"/>
          <a:stretch>
            <a:fillRect/>
          </a:stretch>
        </p:blipFill>
        <p:spPr>
          <a:xfrm>
            <a:off x="1375828" y="2662590"/>
            <a:ext cx="4963576" cy="1294357"/>
          </a:xfrm>
          <a:prstGeom prst="rect">
            <a:avLst/>
          </a:prstGeom>
        </p:spPr>
      </p:pic>
      <p:sp>
        <p:nvSpPr>
          <p:cNvPr id="10" name="テキスト ボックス 9">
            <a:extLst>
              <a:ext uri="{FF2B5EF4-FFF2-40B4-BE49-F238E27FC236}">
                <a16:creationId xmlns:a16="http://schemas.microsoft.com/office/drawing/2014/main" id="{3C4992F2-A9E5-59D2-E01A-6641E766A3DF}"/>
              </a:ext>
            </a:extLst>
          </p:cNvPr>
          <p:cNvSpPr txBox="1"/>
          <p:nvPr/>
        </p:nvSpPr>
        <p:spPr>
          <a:xfrm>
            <a:off x="628650" y="4546775"/>
            <a:ext cx="7638164" cy="2308324"/>
          </a:xfrm>
          <a:prstGeom prst="rect">
            <a:avLst/>
          </a:prstGeom>
          <a:noFill/>
        </p:spPr>
        <p:txBody>
          <a:bodyPr wrap="square" rtlCol="0">
            <a:spAutoFit/>
          </a:bodyPr>
          <a:lstStyle/>
          <a:p>
            <a:r>
              <a:rPr kumimoji="1" lang="en-US" altLang="ja-JP" dirty="0">
                <a:latin typeface="Cambria Math" panose="02040503050406030204" pitchFamily="18" charset="0"/>
                <a:ea typeface="Cambria Math" panose="02040503050406030204" pitchFamily="18" charset="0"/>
              </a:rPr>
              <a:t>L</a:t>
            </a:r>
            <a:r>
              <a:rPr kumimoji="1" lang="en-US" altLang="ja-JP" dirty="0"/>
              <a:t>:</a:t>
            </a:r>
            <a:r>
              <a:rPr lang="ja-JP" altLang="en-US" dirty="0"/>
              <a:t>ピースワイズの幅</a:t>
            </a:r>
            <a:r>
              <a:rPr lang="en-US" altLang="ja-JP" dirty="0"/>
              <a:t>(0.1)</a:t>
            </a:r>
          </a:p>
          <a:p>
            <a:r>
              <a:rPr kumimoji="1" lang="en-US" altLang="ja-JP" dirty="0">
                <a:latin typeface="Cambria Math" panose="02040503050406030204" pitchFamily="18" charset="0"/>
                <a:ea typeface="Cambria Math" panose="02040503050406030204" pitchFamily="18" charset="0"/>
              </a:rPr>
              <a:t>A</a:t>
            </a:r>
            <a:r>
              <a:rPr kumimoji="1" lang="en-US" altLang="ja-JP" dirty="0"/>
              <a:t>:</a:t>
            </a:r>
            <a:r>
              <a:rPr lang="ja-JP" altLang="en-US" dirty="0"/>
              <a:t>区間選択 </a:t>
            </a:r>
            <a:r>
              <a:rPr lang="en-US" altLang="ja-JP" dirty="0"/>
              <a:t>× </a:t>
            </a:r>
            <a:r>
              <a:rPr lang="ja-JP" altLang="en-US" dirty="0"/>
              <a:t>ピースワイズ選択を階段式に構築するためのバイナリ</a:t>
            </a:r>
            <a:endParaRPr lang="en-US" altLang="ja-JP" dirty="0"/>
          </a:p>
          <a:p>
            <a:r>
              <a:rPr lang="en-US" altLang="ja-JP" dirty="0">
                <a:latin typeface="Cambria Math" panose="02040503050406030204" pitchFamily="18" charset="0"/>
                <a:ea typeface="Cambria Math" panose="02040503050406030204" pitchFamily="18" charset="0"/>
              </a:rPr>
              <a:t>x2</a:t>
            </a:r>
            <a:r>
              <a:rPr lang="en-US" altLang="ja-JP" dirty="0"/>
              <a:t>:</a:t>
            </a:r>
            <a:r>
              <a:rPr lang="ja-JP" altLang="en-US" dirty="0"/>
              <a:t>区間 </a:t>
            </a:r>
            <a:r>
              <a:rPr lang="en-US" altLang="ja-JP" dirty="0" err="1"/>
              <a:t>i</a:t>
            </a:r>
            <a:r>
              <a:rPr lang="en-US" altLang="ja-JP" dirty="0"/>
              <a:t> ×</a:t>
            </a:r>
            <a:r>
              <a:rPr lang="ja-JP" altLang="en-US" dirty="0"/>
              <a:t>ピースワイズ</a:t>
            </a:r>
            <a:r>
              <a:rPr lang="en-US" altLang="ja-JP" dirty="0"/>
              <a:t>j </a:t>
            </a:r>
            <a:r>
              <a:rPr lang="ja-JP" altLang="en-US" dirty="0"/>
              <a:t>における充電量を表す連続変数</a:t>
            </a:r>
            <a:endParaRPr lang="en-US" altLang="ja-JP" dirty="0"/>
          </a:p>
          <a:p>
            <a:r>
              <a:rPr lang="en-US" altLang="ja-JP" dirty="0">
                <a:latin typeface="Cambria Math" panose="02040503050406030204" pitchFamily="18" charset="0"/>
                <a:ea typeface="Cambria Math" panose="02040503050406030204" pitchFamily="18" charset="0"/>
              </a:rPr>
              <a:t>y2(</a:t>
            </a:r>
            <a:r>
              <a:rPr lang="en-US" altLang="ja-JP" dirty="0" err="1">
                <a:latin typeface="Cambria Math" panose="02040503050406030204" pitchFamily="18" charset="0"/>
                <a:ea typeface="Cambria Math" panose="02040503050406030204" pitchFamily="18" charset="0"/>
              </a:rPr>
              <a:t>i,j,t</a:t>
            </a:r>
            <a:r>
              <a:rPr lang="en-US" altLang="ja-JP" dirty="0">
                <a:latin typeface="Cambria Math" panose="02040503050406030204" pitchFamily="18" charset="0"/>
                <a:ea typeface="Cambria Math" panose="02040503050406030204" pitchFamily="18" charset="0"/>
              </a:rPr>
              <a:t>)</a:t>
            </a:r>
            <a:r>
              <a:rPr lang="en-US" altLang="ja-JP" dirty="0"/>
              <a:t>:</a:t>
            </a:r>
            <a:r>
              <a:rPr lang="ja-JP" altLang="en-US" dirty="0"/>
              <a:t>放電量を「ピースワイズ階段」で表すための重み</a:t>
            </a:r>
            <a:endParaRPr lang="en-US" altLang="ja-JP" dirty="0"/>
          </a:p>
          <a:p>
            <a:r>
              <a:rPr lang="en-US" altLang="ja-JP" dirty="0">
                <a:latin typeface="Cambria Math" panose="02040503050406030204" pitchFamily="18" charset="0"/>
                <a:ea typeface="Cambria Math" panose="02040503050406030204" pitchFamily="18" charset="0"/>
              </a:rPr>
              <a:t>Qs</a:t>
            </a:r>
            <a:r>
              <a:rPr lang="ja-JP" altLang="en-US" dirty="0"/>
              <a:t>：充電側の </a:t>
            </a:r>
            <a:r>
              <a:rPr lang="en-US" altLang="ja-JP" dirty="0"/>
              <a:t>SOC</a:t>
            </a:r>
          </a:p>
          <a:p>
            <a:r>
              <a:rPr lang="en-US" altLang="ja-JP" dirty="0" err="1">
                <a:latin typeface="Cambria Math" panose="02040503050406030204" pitchFamily="18" charset="0"/>
                <a:ea typeface="Cambria Math" panose="02040503050406030204" pitchFamily="18" charset="0"/>
              </a:rPr>
              <a:t>Qr</a:t>
            </a:r>
            <a:r>
              <a:rPr lang="ja-JP" altLang="en-US" dirty="0"/>
              <a:t>：放電側の </a:t>
            </a:r>
            <a:r>
              <a:rPr lang="en-US" altLang="ja-JP" dirty="0"/>
              <a:t>SOC</a:t>
            </a:r>
          </a:p>
          <a:p>
            <a:r>
              <a:rPr lang="en-US" altLang="ja-JP" dirty="0">
                <a:latin typeface="Cambria Math" panose="02040503050406030204" pitchFamily="18" charset="0"/>
                <a:ea typeface="Cambria Math" panose="02040503050406030204" pitchFamily="18" charset="0"/>
              </a:rPr>
              <a:t>Qr2</a:t>
            </a:r>
            <a:r>
              <a:rPr lang="ja-JP" altLang="en-US" dirty="0"/>
              <a:t>：二つ目の放電方式の </a:t>
            </a:r>
            <a:r>
              <a:rPr lang="en-US" altLang="ja-JP" dirty="0"/>
              <a:t>SOC</a:t>
            </a:r>
          </a:p>
          <a:p>
            <a:endParaRPr kumimoji="1" lang="en-US" altLang="ja-JP" dirty="0"/>
          </a:p>
        </p:txBody>
      </p:sp>
      <p:pic>
        <p:nvPicPr>
          <p:cNvPr id="20" name="図 19">
            <a:extLst>
              <a:ext uri="{FF2B5EF4-FFF2-40B4-BE49-F238E27FC236}">
                <a16:creationId xmlns:a16="http://schemas.microsoft.com/office/drawing/2014/main" id="{CBD1CFE4-545F-FD69-B02F-0A3908BCE525}"/>
              </a:ext>
            </a:extLst>
          </p:cNvPr>
          <p:cNvPicPr>
            <a:picLocks noChangeAspect="1"/>
          </p:cNvPicPr>
          <p:nvPr/>
        </p:nvPicPr>
        <p:blipFill>
          <a:blip r:embed="rId3"/>
          <a:stretch>
            <a:fillRect/>
          </a:stretch>
        </p:blipFill>
        <p:spPr>
          <a:xfrm>
            <a:off x="838573" y="1114514"/>
            <a:ext cx="5290908" cy="1786540"/>
          </a:xfrm>
          <a:prstGeom prst="rect">
            <a:avLst/>
          </a:prstGeom>
        </p:spPr>
      </p:pic>
    </p:spTree>
    <p:extLst>
      <p:ext uri="{BB962C8B-B14F-4D97-AF65-F5344CB8AC3E}">
        <p14:creationId xmlns:p14="http://schemas.microsoft.com/office/powerpoint/2010/main" val="303872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61E74B-C1F9-75E2-FCC3-EE161EA58EB9}"/>
              </a:ext>
            </a:extLst>
          </p:cNvPr>
          <p:cNvSpPr>
            <a:spLocks noGrp="1"/>
          </p:cNvSpPr>
          <p:nvPr>
            <p:ph type="title"/>
          </p:nvPr>
        </p:nvSpPr>
        <p:spPr>
          <a:xfrm>
            <a:off x="315310" y="365126"/>
            <a:ext cx="8828690" cy="1325563"/>
          </a:xfrm>
        </p:spPr>
        <p:txBody>
          <a:bodyPr>
            <a:normAutofit/>
          </a:bodyPr>
          <a:lstStyle/>
          <a:p>
            <a:r>
              <a:rPr lang="ja-JP" altLang="en-US" b="1" dirty="0"/>
              <a:t>ピースワイズ表現と記号対応</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194505E7-B627-62E7-4894-9373A616703A}"/>
                  </a:ext>
                </a:extLst>
              </p:cNvPr>
              <p:cNvSpPr>
                <a:spLocks noGrp="1"/>
              </p:cNvSpPr>
              <p:nvPr>
                <p:ph idx="1"/>
              </p:nvPr>
            </p:nvSpPr>
            <p:spPr>
              <a:xfrm>
                <a:off x="628650" y="1507183"/>
                <a:ext cx="7886700" cy="4669780"/>
              </a:xfrm>
            </p:spPr>
            <p:txBody>
              <a:bodyPr>
                <a:normAutofit fontScale="85000" lnSpcReduction="20000"/>
              </a:bodyPr>
              <a:lstStyle/>
              <a:p>
                <a:r>
                  <a:rPr lang="ja-JP" altLang="en-US" dirty="0"/>
                  <a:t>本研究では、ある非線形な関数</a:t>
                </a:r>
                <a:br>
                  <a:rPr lang="ja-JP" altLang="en-US" dirty="0"/>
                </a:br>
                <a14:m>
                  <m:oMath xmlns:m="http://schemas.openxmlformats.org/officeDocument/2006/math">
                    <m:r>
                      <a:rPr lang="ja-JP" altLang="en-US" i="1">
                        <a:latin typeface="Cambria Math" panose="02040503050406030204" pitchFamily="18" charset="0"/>
                      </a:rPr>
                      <m:t>𝑓</m:t>
                    </m:r>
                    <m:d>
                      <m:dPr>
                        <m:sepChr m:val=","/>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m:rPr>
                                <m:nor/>
                              </m:rPr>
                              <a:rPr lang="en-US" altLang="ja-JP" i="1"/>
                              <m:t>SOC</m:t>
                            </m:r>
                          </m:e>
                          <m:sub>
                            <m:r>
                              <a:rPr lang="ja-JP" altLang="en-US" i="1">
                                <a:latin typeface="Cambria Math" panose="02040503050406030204" pitchFamily="18" charset="0"/>
                              </a:rPr>
                              <m:t>𝑡</m:t>
                            </m:r>
                          </m:sub>
                        </m:sSub>
                      </m:e>
                      <m:mo separator="true">,</m:mo>
                      <m:e>
                        <m:sSub>
                          <m:sSubPr>
                            <m:ctrlPr>
                              <a:rPr lang="ja-JP" altLang="en-US" i="1">
                                <a:latin typeface="Cambria Math" panose="02040503050406030204" pitchFamily="18" charset="0"/>
                              </a:rPr>
                            </m:ctrlPr>
                          </m:sSubPr>
                          <m:e>
                            <m:r>
                              <a:rPr lang="ja-JP" altLang="en-US" i="1">
                                <a:latin typeface="Cambria Math" panose="02040503050406030204" pitchFamily="18" charset="0"/>
                              </a:rPr>
                              <m:t>𝑃</m:t>
                            </m:r>
                          </m:e>
                          <m:sub>
                            <m:r>
                              <a:rPr lang="ja-JP" altLang="en-US" i="1">
                                <a:latin typeface="Cambria Math" panose="02040503050406030204" pitchFamily="18" charset="0"/>
                              </a:rPr>
                              <m:t>𝑡</m:t>
                            </m:r>
                          </m:sub>
                        </m:sSub>
                      </m:e>
                    </m:d>
                  </m:oMath>
                </a14:m>
                <a:r>
                  <a:rPr lang="ja-JP" altLang="en-US" dirty="0"/>
                  <a:t>（例：電池劣化コストや損失など）を</a:t>
                </a:r>
                <a:br>
                  <a:rPr lang="ja-JP" altLang="en-US" dirty="0"/>
                </a:br>
                <a:r>
                  <a:rPr lang="ja-JP" altLang="en-US" b="1" dirty="0"/>
                  <a:t>二次元ピースワイズ線形</a:t>
                </a:r>
                <a:r>
                  <a:rPr lang="ja-JP" altLang="en-US" dirty="0"/>
                  <a:t>で近似している。</a:t>
                </a:r>
              </a:p>
              <a:p>
                <a:pPr lvl="1"/>
                <a14:m>
                  <m:oMath xmlns:m="http://schemas.openxmlformats.org/officeDocument/2006/math">
                    <m:r>
                      <a:rPr lang="ja-JP" altLang="en-US" i="1">
                        <a:latin typeface="Cambria Math" panose="02040503050406030204" pitchFamily="18" charset="0"/>
                      </a:rPr>
                      <m:t>𝑖</m:t>
                    </m:r>
                    <m:r>
                      <a:rPr lang="en-US" altLang="ja-JP">
                        <a:latin typeface="Cambria Math" panose="02040503050406030204" pitchFamily="18" charset="0"/>
                      </a:rPr>
                      <m:t>,</m:t>
                    </m:r>
                    <m:r>
                      <a:rPr lang="ja-JP" altLang="en-US" i="1">
                        <a:latin typeface="Cambria Math" panose="02040503050406030204" pitchFamily="18" charset="0"/>
                      </a:rPr>
                      <m:t>𝑗</m:t>
                    </m:r>
                  </m:oMath>
                </a14:m>
                <a:endParaRPr lang="ja-JP" altLang="en-US" dirty="0"/>
              </a:p>
              <a:p>
                <a:pPr lvl="2"/>
                <a14:m>
                  <m:oMath xmlns:m="http://schemas.openxmlformats.org/officeDocument/2006/math">
                    <m:r>
                      <m:rPr>
                        <m:nor/>
                      </m:rPr>
                      <a:rPr lang="en-US" altLang="ja-JP" b="0"/>
                      <m:t>SOC</m:t>
                    </m:r>
                  </m:oMath>
                </a14:m>
                <a:r>
                  <a:rPr lang="ja-JP" altLang="en-US" dirty="0"/>
                  <a:t>軸・電力軸を分割した </a:t>
                </a:r>
                <a:r>
                  <a:rPr lang="ja-JP" altLang="en-US" b="1" dirty="0"/>
                  <a:t>区間（グリッド）の番号</a:t>
                </a:r>
                <a:endParaRPr lang="ja-JP" altLang="en-US" dirty="0"/>
              </a:p>
              <a:p>
                <a:pPr lvl="2"/>
                <a:r>
                  <a:rPr lang="ja-JP" altLang="en-US" dirty="0"/>
                  <a:t>例：</a:t>
                </a:r>
                <a14:m>
                  <m:oMath xmlns:m="http://schemas.openxmlformats.org/officeDocument/2006/math">
                    <m:r>
                      <a:rPr lang="ja-JP" altLang="en-US" i="1">
                        <a:latin typeface="Cambria Math" panose="02040503050406030204" pitchFamily="18" charset="0"/>
                      </a:rPr>
                      <m:t>𝑖</m:t>
                    </m:r>
                    <m:r>
                      <a:rPr lang="en-US" altLang="ja-JP">
                        <a:latin typeface="Cambria Math" panose="02040503050406030204" pitchFamily="18" charset="0"/>
                      </a:rPr>
                      <m:t>=1,…,10</m:t>
                    </m:r>
                  </m:oMath>
                </a14:m>
                <a:r>
                  <a:rPr lang="ja-JP" altLang="en-US" dirty="0"/>
                  <a:t>、</a:t>
                </a:r>
                <a14:m>
                  <m:oMath xmlns:m="http://schemas.openxmlformats.org/officeDocument/2006/math">
                    <m:r>
                      <a:rPr lang="ja-JP" altLang="en-US" i="1">
                        <a:latin typeface="Cambria Math" panose="02040503050406030204" pitchFamily="18" charset="0"/>
                      </a:rPr>
                      <m:t>𝑗</m:t>
                    </m:r>
                    <m:r>
                      <a:rPr lang="en-US" altLang="ja-JP">
                        <a:latin typeface="Cambria Math" panose="02040503050406030204" pitchFamily="18" charset="0"/>
                      </a:rPr>
                      <m:t>=1,…,10</m:t>
                    </m:r>
                  </m:oMath>
                </a14:m>
                <a:endParaRPr lang="ja-JP" altLang="en-US" dirty="0"/>
              </a:p>
              <a:p>
                <a:pPr lvl="1"/>
                <a14:m>
                  <m:oMath xmlns:m="http://schemas.openxmlformats.org/officeDocument/2006/math">
                    <m:r>
                      <a:rPr lang="ja-JP" altLang="en-US" i="1">
                        <a:latin typeface="Cambria Math" panose="02040503050406030204" pitchFamily="18" charset="0"/>
                      </a:rPr>
                      <m:t>𝑥</m:t>
                    </m:r>
                    <m:sSub>
                      <m:sSubPr>
                        <m:ctrlPr>
                          <a:rPr lang="ja-JP" altLang="en-US" i="1">
                            <a:latin typeface="Cambria Math" panose="02040503050406030204" pitchFamily="18" charset="0"/>
                          </a:rPr>
                        </m:ctrlPr>
                      </m:sSubPr>
                      <m:e>
                        <m:r>
                          <a:rPr lang="en-US" altLang="ja-JP">
                            <a:latin typeface="Cambria Math" panose="02040503050406030204" pitchFamily="18" charset="0"/>
                          </a:rPr>
                          <m:t>2</m:t>
                        </m:r>
                      </m:e>
                      <m:sub>
                        <m:r>
                          <a:rPr lang="ja-JP" altLang="en-US" i="1">
                            <a:latin typeface="Cambria Math" panose="02040503050406030204" pitchFamily="18" charset="0"/>
                          </a:rPr>
                          <m:t>𝑖</m:t>
                        </m:r>
                        <m:r>
                          <a:rPr lang="en-US" altLang="ja-JP">
                            <a:latin typeface="Cambria Math" panose="02040503050406030204" pitchFamily="18" charset="0"/>
                          </a:rPr>
                          <m:t>,</m:t>
                        </m:r>
                        <m:r>
                          <a:rPr lang="ja-JP" altLang="en-US" i="1">
                            <a:latin typeface="Cambria Math" panose="02040503050406030204" pitchFamily="18" charset="0"/>
                          </a:rPr>
                          <m:t>𝑗</m:t>
                        </m:r>
                        <m:r>
                          <a:rPr lang="en-US" altLang="ja-JP">
                            <a:latin typeface="Cambria Math" panose="02040503050406030204" pitchFamily="18" charset="0"/>
                          </a:rPr>
                          <m:t>,</m:t>
                        </m:r>
                        <m:r>
                          <a:rPr lang="ja-JP" altLang="en-US" i="1">
                            <a:latin typeface="Cambria Math" panose="02040503050406030204" pitchFamily="18" charset="0"/>
                          </a:rPr>
                          <m:t>𝑡</m:t>
                        </m:r>
                      </m:sub>
                    </m:sSub>
                  </m:oMath>
                </a14:m>
                <a:endParaRPr lang="ja-JP" altLang="en-US" dirty="0"/>
              </a:p>
              <a:p>
                <a:pPr lvl="2"/>
                <a:r>
                  <a:rPr lang="ja-JP" altLang="en-US" dirty="0"/>
                  <a:t>時刻 </a:t>
                </a:r>
                <a14:m>
                  <m:oMath xmlns:m="http://schemas.openxmlformats.org/officeDocument/2006/math">
                    <m:r>
                      <a:rPr lang="ja-JP" altLang="en-US" i="1">
                        <a:latin typeface="Cambria Math" panose="02040503050406030204" pitchFamily="18" charset="0"/>
                      </a:rPr>
                      <m:t>𝑡</m:t>
                    </m:r>
                  </m:oMath>
                </a14:m>
                <a:r>
                  <a:rPr lang="ja-JP" altLang="en-US" dirty="0"/>
                  <a:t>における </a:t>
                </a:r>
                <a:r>
                  <a:rPr lang="ja-JP" altLang="en-US" b="1" dirty="0"/>
                  <a:t>グリッド </a:t>
                </a:r>
                <a14:m>
                  <m:oMath xmlns:m="http://schemas.openxmlformats.org/officeDocument/2006/math">
                    <m:d>
                      <m:dPr>
                        <m:sepChr m:val=","/>
                        <m:ctrlPr>
                          <a:rPr lang="ja-JP" altLang="en-US" i="1">
                            <a:latin typeface="Cambria Math" panose="02040503050406030204" pitchFamily="18" charset="0"/>
                          </a:rPr>
                        </m:ctrlPr>
                      </m:dPr>
                      <m:e>
                        <m:r>
                          <a:rPr lang="ja-JP" altLang="en-US" i="1">
                            <a:latin typeface="Cambria Math" panose="02040503050406030204" pitchFamily="18" charset="0"/>
                          </a:rPr>
                          <m:t>𝑖</m:t>
                        </m:r>
                      </m:e>
                      <m:mo separator="true">,</m:mo>
                      <m:e>
                        <m:r>
                          <a:rPr lang="ja-JP" altLang="en-US" i="1">
                            <a:latin typeface="Cambria Math" panose="02040503050406030204" pitchFamily="18" charset="0"/>
                          </a:rPr>
                          <m:t>𝑗</m:t>
                        </m:r>
                      </m:e>
                    </m:d>
                  </m:oMath>
                </a14:m>
                <a:r>
                  <a:rPr lang="ja-JP" altLang="en-US" b="1" dirty="0"/>
                  <a:t>の“面積（重み）”を表す連続変数</a:t>
                </a:r>
                <a:endParaRPr lang="ja-JP" altLang="en-US" dirty="0"/>
              </a:p>
              <a:p>
                <a:pPr lvl="2"/>
                <a14:m>
                  <m:oMath xmlns:m="http://schemas.openxmlformats.org/officeDocument/2006/math">
                    <m:r>
                      <m:rPr>
                        <m:nor/>
                      </m:rPr>
                      <a:rPr lang="en-US" altLang="ja-JP" b="0"/>
                      <m:t>SOC</m:t>
                    </m:r>
                  </m:oMath>
                </a14:m>
                <a:r>
                  <a:rPr lang="ja-JP" altLang="en-US" dirty="0"/>
                  <a:t>の位置をピースワイズな形で表現する役割</a:t>
                </a:r>
              </a:p>
              <a:p>
                <a:pPr lvl="1"/>
                <a14:m>
                  <m:oMath xmlns:m="http://schemas.openxmlformats.org/officeDocument/2006/math">
                    <m:r>
                      <a:rPr lang="ja-JP" altLang="en-US" i="1">
                        <a:latin typeface="Cambria Math" panose="02040503050406030204" pitchFamily="18" charset="0"/>
                      </a:rPr>
                      <m:t>𝑦</m:t>
                    </m:r>
                    <m:sSub>
                      <m:sSubPr>
                        <m:ctrlPr>
                          <a:rPr lang="ja-JP" altLang="en-US" i="1">
                            <a:latin typeface="Cambria Math" panose="02040503050406030204" pitchFamily="18" charset="0"/>
                          </a:rPr>
                        </m:ctrlPr>
                      </m:sSubPr>
                      <m:e>
                        <m:r>
                          <a:rPr lang="en-US" altLang="ja-JP">
                            <a:latin typeface="Cambria Math" panose="02040503050406030204" pitchFamily="18" charset="0"/>
                          </a:rPr>
                          <m:t>2</m:t>
                        </m:r>
                      </m:e>
                      <m:sub>
                        <m:r>
                          <a:rPr lang="ja-JP" altLang="en-US" i="1">
                            <a:latin typeface="Cambria Math" panose="02040503050406030204" pitchFamily="18" charset="0"/>
                          </a:rPr>
                          <m:t>𝑖</m:t>
                        </m:r>
                        <m:r>
                          <a:rPr lang="en-US" altLang="ja-JP">
                            <a:latin typeface="Cambria Math" panose="02040503050406030204" pitchFamily="18" charset="0"/>
                          </a:rPr>
                          <m:t>,</m:t>
                        </m:r>
                        <m:r>
                          <a:rPr lang="ja-JP" altLang="en-US" i="1">
                            <a:latin typeface="Cambria Math" panose="02040503050406030204" pitchFamily="18" charset="0"/>
                          </a:rPr>
                          <m:t>𝑗</m:t>
                        </m:r>
                        <m:r>
                          <a:rPr lang="en-US" altLang="ja-JP">
                            <a:latin typeface="Cambria Math" panose="02040503050406030204" pitchFamily="18" charset="0"/>
                          </a:rPr>
                          <m:t>,</m:t>
                        </m:r>
                        <m:r>
                          <a:rPr lang="ja-JP" altLang="en-US" i="1">
                            <a:latin typeface="Cambria Math" panose="02040503050406030204" pitchFamily="18" charset="0"/>
                          </a:rPr>
                          <m:t>𝑡</m:t>
                        </m:r>
                      </m:sub>
                    </m:sSub>
                  </m:oMath>
                </a14:m>
                <a:endParaRPr lang="ja-JP" altLang="en-US" dirty="0"/>
              </a:p>
              <a:p>
                <a:pPr lvl="2"/>
                <a:r>
                  <a:rPr lang="ja-JP" altLang="en-US" dirty="0"/>
                  <a:t>時刻 </a:t>
                </a:r>
                <a14:m>
                  <m:oMath xmlns:m="http://schemas.openxmlformats.org/officeDocument/2006/math">
                    <m:r>
                      <a:rPr lang="ja-JP" altLang="en-US" i="1">
                        <a:latin typeface="Cambria Math" panose="02040503050406030204" pitchFamily="18" charset="0"/>
                      </a:rPr>
                      <m:t>𝑡</m:t>
                    </m:r>
                  </m:oMath>
                </a14:m>
                <a:r>
                  <a:rPr lang="ja-JP" altLang="en-US" dirty="0"/>
                  <a:t>における </a:t>
                </a:r>
                <a:r>
                  <a:rPr lang="ja-JP" altLang="en-US" b="1" dirty="0"/>
                  <a:t>グリッド </a:t>
                </a:r>
                <a14:m>
                  <m:oMath xmlns:m="http://schemas.openxmlformats.org/officeDocument/2006/math">
                    <m:d>
                      <m:dPr>
                        <m:sepChr m:val=","/>
                        <m:ctrlPr>
                          <a:rPr lang="ja-JP" altLang="en-US" i="1">
                            <a:latin typeface="Cambria Math" panose="02040503050406030204" pitchFamily="18" charset="0"/>
                          </a:rPr>
                        </m:ctrlPr>
                      </m:dPr>
                      <m:e>
                        <m:r>
                          <a:rPr lang="ja-JP" altLang="en-US" i="1">
                            <a:latin typeface="Cambria Math" panose="02040503050406030204" pitchFamily="18" charset="0"/>
                          </a:rPr>
                          <m:t>𝑖</m:t>
                        </m:r>
                      </m:e>
                      <m:mo separator="true">,</m:mo>
                      <m:e>
                        <m:r>
                          <a:rPr lang="ja-JP" altLang="en-US" i="1">
                            <a:latin typeface="Cambria Math" panose="02040503050406030204" pitchFamily="18" charset="0"/>
                          </a:rPr>
                          <m:t>𝑗</m:t>
                        </m:r>
                      </m:e>
                    </m:d>
                  </m:oMath>
                </a14:m>
                <a:r>
                  <a:rPr lang="ja-JP" altLang="en-US" b="1" dirty="0"/>
                  <a:t>の“高さ（重み）”を表す連続変数</a:t>
                </a:r>
                <a:endParaRPr lang="ja-JP" altLang="en-US" dirty="0"/>
              </a:p>
              <a:p>
                <a:pPr lvl="2"/>
                <a:r>
                  <a:rPr lang="ja-JP" altLang="en-US" dirty="0"/>
                  <a:t>電力（充放電量）やその二乗などを、区間ごとに表現する役割</a:t>
                </a:r>
              </a:p>
              <a:p>
                <a:pPr lvl="1"/>
                <a14:m>
                  <m:oMath xmlns:m="http://schemas.openxmlformats.org/officeDocument/2006/math">
                    <m:r>
                      <a:rPr lang="ja-JP" altLang="en-US" i="1">
                        <a:latin typeface="Cambria Math" panose="02040503050406030204" pitchFamily="18" charset="0"/>
                      </a:rPr>
                      <m:t>𝑍</m:t>
                    </m:r>
                    <m:sSub>
                      <m:sSubPr>
                        <m:ctrlPr>
                          <a:rPr lang="ja-JP" altLang="en-US" i="1">
                            <a:latin typeface="Cambria Math" panose="02040503050406030204" pitchFamily="18" charset="0"/>
                          </a:rPr>
                        </m:ctrlPr>
                      </m:sSubPr>
                      <m:e>
                        <m:r>
                          <a:rPr lang="en-US" altLang="ja-JP">
                            <a:latin typeface="Cambria Math" panose="02040503050406030204" pitchFamily="18" charset="0"/>
                          </a:rPr>
                          <m:t>2</m:t>
                        </m:r>
                      </m:e>
                      <m:sub>
                        <m:r>
                          <a:rPr lang="ja-JP" altLang="en-US" i="1">
                            <a:latin typeface="Cambria Math" panose="02040503050406030204" pitchFamily="18" charset="0"/>
                          </a:rPr>
                          <m:t>𝑖</m:t>
                        </m:r>
                        <m:r>
                          <a:rPr lang="en-US" altLang="ja-JP">
                            <a:latin typeface="Cambria Math" panose="02040503050406030204" pitchFamily="18" charset="0"/>
                          </a:rPr>
                          <m:t>,</m:t>
                        </m:r>
                        <m:r>
                          <a:rPr lang="ja-JP" altLang="en-US" i="1">
                            <a:latin typeface="Cambria Math" panose="02040503050406030204" pitchFamily="18" charset="0"/>
                          </a:rPr>
                          <m:t>𝑡</m:t>
                        </m:r>
                      </m:sub>
                    </m:sSub>
                    <m:r>
                      <a:rPr lang="en-US" altLang="ja-JP">
                        <a:latin typeface="Cambria Math" panose="02040503050406030204" pitchFamily="18" charset="0"/>
                      </a:rPr>
                      <m:t>,</m:t>
                    </m:r>
                    <m:r>
                      <m:rPr>
                        <m:nor/>
                      </m:rPr>
                      <a:rPr lang="ja-JP" altLang="en-US" i="1"/>
                      <m:t> </m:t>
                    </m:r>
                    <m:r>
                      <a:rPr lang="ja-JP" altLang="en-US" i="1">
                        <a:latin typeface="Cambria Math" panose="02040503050406030204" pitchFamily="18" charset="0"/>
                      </a:rPr>
                      <m:t>𝑊</m:t>
                    </m:r>
                    <m:sSub>
                      <m:sSubPr>
                        <m:ctrlPr>
                          <a:rPr lang="ja-JP" altLang="en-US" i="1">
                            <a:latin typeface="Cambria Math" panose="02040503050406030204" pitchFamily="18" charset="0"/>
                          </a:rPr>
                        </m:ctrlPr>
                      </m:sSubPr>
                      <m:e>
                        <m:r>
                          <a:rPr lang="en-US" altLang="ja-JP">
                            <a:latin typeface="Cambria Math" panose="02040503050406030204" pitchFamily="18" charset="0"/>
                          </a:rPr>
                          <m:t>2</m:t>
                        </m:r>
                      </m:e>
                      <m:sub>
                        <m:r>
                          <a:rPr lang="ja-JP" altLang="en-US" i="1">
                            <a:latin typeface="Cambria Math" panose="02040503050406030204" pitchFamily="18" charset="0"/>
                          </a:rPr>
                          <m:t>𝑖</m:t>
                        </m:r>
                        <m:r>
                          <a:rPr lang="en-US" altLang="ja-JP">
                            <a:latin typeface="Cambria Math" panose="02040503050406030204" pitchFamily="18" charset="0"/>
                          </a:rPr>
                          <m:t>,</m:t>
                        </m:r>
                        <m:r>
                          <a:rPr lang="ja-JP" altLang="en-US" i="1">
                            <a:latin typeface="Cambria Math" panose="02040503050406030204" pitchFamily="18" charset="0"/>
                          </a:rPr>
                          <m:t>𝑗</m:t>
                        </m:r>
                        <m:r>
                          <a:rPr lang="en-US" altLang="ja-JP">
                            <a:latin typeface="Cambria Math" panose="02040503050406030204" pitchFamily="18" charset="0"/>
                          </a:rPr>
                          <m:t>,</m:t>
                        </m:r>
                        <m:r>
                          <a:rPr lang="ja-JP" altLang="en-US" i="1">
                            <a:latin typeface="Cambria Math" panose="02040503050406030204" pitchFamily="18" charset="0"/>
                          </a:rPr>
                          <m:t>𝑡</m:t>
                        </m:r>
                      </m:sub>
                    </m:sSub>
                  </m:oMath>
                </a14:m>
                <a:endParaRPr lang="ja-JP" altLang="en-US" dirty="0"/>
              </a:p>
              <a:p>
                <a:pPr lvl="2"/>
                <a:r>
                  <a:rPr lang="ja-JP" altLang="en-US" dirty="0"/>
                  <a:t>どの区間 </a:t>
                </a:r>
                <a14:m>
                  <m:oMath xmlns:m="http://schemas.openxmlformats.org/officeDocument/2006/math">
                    <m:d>
                      <m:dPr>
                        <m:sepChr m:val=","/>
                        <m:ctrlPr>
                          <a:rPr lang="ja-JP" altLang="en-US" i="1">
                            <a:latin typeface="Cambria Math" panose="02040503050406030204" pitchFamily="18" charset="0"/>
                          </a:rPr>
                        </m:ctrlPr>
                      </m:dPr>
                      <m:e>
                        <m:r>
                          <a:rPr lang="ja-JP" altLang="en-US" i="1">
                            <a:latin typeface="Cambria Math" panose="02040503050406030204" pitchFamily="18" charset="0"/>
                          </a:rPr>
                          <m:t>𝑖</m:t>
                        </m:r>
                      </m:e>
                      <m:mo separator="true">,</m:mo>
                      <m:e>
                        <m:r>
                          <a:rPr lang="ja-JP" altLang="en-US" i="1">
                            <a:latin typeface="Cambria Math" panose="02040503050406030204" pitchFamily="18" charset="0"/>
                          </a:rPr>
                          <m:t>𝑗</m:t>
                        </m:r>
                      </m:e>
                    </m:d>
                  </m:oMath>
                </a14:m>
                <a:r>
                  <a:rPr lang="ja-JP" altLang="en-US" dirty="0"/>
                  <a:t>を </a:t>
                </a:r>
                <a:r>
                  <a:rPr lang="ja-JP" altLang="en-US" b="1" dirty="0"/>
                  <a:t>有効なピースとして選んでいるかを表す </a:t>
                </a:r>
                <a:r>
                  <a:rPr lang="en-US" altLang="ja-JP" b="1" dirty="0"/>
                  <a:t>0–1 </a:t>
                </a:r>
                <a:r>
                  <a:rPr lang="ja-JP" altLang="en-US" b="1" dirty="0"/>
                  <a:t>変数</a:t>
                </a:r>
                <a:endParaRPr lang="ja-JP" altLang="en-US" dirty="0"/>
              </a:p>
              <a:p>
                <a:pPr lvl="2"/>
                <a:r>
                  <a:rPr lang="ja-JP" altLang="en-US" dirty="0"/>
                  <a:t>「どのマスが使われているか」を示すフラグ</a:t>
                </a:r>
              </a:p>
              <a:p>
                <a:pPr lvl="1"/>
                <a14:m>
                  <m:oMath xmlns:m="http://schemas.openxmlformats.org/officeDocument/2006/math">
                    <m:r>
                      <a:rPr lang="ja-JP" altLang="en-US" i="1">
                        <a:latin typeface="Cambria Math" panose="02040503050406030204" pitchFamily="18" charset="0"/>
                      </a:rPr>
                      <m:t>𝐿</m:t>
                    </m:r>
                    <m:d>
                      <m:dPr>
                        <m:begChr m:val="["/>
                        <m:endChr m:val="]"/>
                        <m:ctrlPr>
                          <a:rPr lang="ja-JP" altLang="en-US" i="1">
                            <a:latin typeface="Cambria Math" panose="02040503050406030204" pitchFamily="18" charset="0"/>
                          </a:rPr>
                        </m:ctrlPr>
                      </m:dPr>
                      <m:e>
                        <m:r>
                          <a:rPr lang="ja-JP" altLang="en-US" i="1">
                            <a:latin typeface="Cambria Math" panose="02040503050406030204" pitchFamily="18" charset="0"/>
                          </a:rPr>
                          <m:t>𝑖</m:t>
                        </m:r>
                      </m:e>
                    </m:d>
                  </m:oMath>
                </a14:m>
                <a:endParaRPr lang="ja-JP" altLang="en-US" dirty="0"/>
              </a:p>
              <a:p>
                <a:pPr lvl="2"/>
                <a:r>
                  <a:rPr lang="ja-JP" altLang="en-US" dirty="0"/>
                  <a:t>各 </a:t>
                </a:r>
                <a14:m>
                  <m:oMath xmlns:m="http://schemas.openxmlformats.org/officeDocument/2006/math">
                    <m:r>
                      <m:rPr>
                        <m:nor/>
                      </m:rPr>
                      <a:rPr lang="en-US" altLang="ja-JP" b="0"/>
                      <m:t>SOC</m:t>
                    </m:r>
                  </m:oMath>
                </a14:m>
                <a:r>
                  <a:rPr lang="ja-JP" altLang="en-US" dirty="0"/>
                  <a:t>区間の </a:t>
                </a:r>
                <a:r>
                  <a:rPr lang="ja-JP" altLang="en-US" b="1" dirty="0"/>
                  <a:t>長さ（区間幅）</a:t>
                </a:r>
                <a:r>
                  <a:rPr lang="ja-JP" altLang="en-US" dirty="0"/>
                  <a:t> を表すパラメータ</a:t>
                </a:r>
              </a:p>
              <a:p>
                <a:pPr lvl="1"/>
                <a14:m>
                  <m:oMath xmlns:m="http://schemas.openxmlformats.org/officeDocument/2006/math">
                    <m:sSub>
                      <m:sSubPr>
                        <m:ctrlPr>
                          <a:rPr lang="ja-JP" altLang="en-US" i="1">
                            <a:latin typeface="Cambria Math" panose="02040503050406030204" pitchFamily="18" charset="0"/>
                          </a:rPr>
                        </m:ctrlPr>
                      </m:sSubPr>
                      <m:e>
                        <m:r>
                          <a:rPr lang="ja-JP" altLang="en-US" i="1">
                            <a:latin typeface="Cambria Math" panose="02040503050406030204" pitchFamily="18" charset="0"/>
                          </a:rPr>
                          <m:t>𝑆</m:t>
                        </m:r>
                      </m:e>
                      <m:sub>
                        <m:r>
                          <a:rPr lang="en-US" altLang="ja-JP">
                            <a:latin typeface="Cambria Math" panose="02040503050406030204" pitchFamily="18" charset="0"/>
                          </a:rPr>
                          <m:t>10</m:t>
                        </m:r>
                      </m:sub>
                    </m:sSub>
                    <m:d>
                      <m:dPr>
                        <m:begChr m:val="["/>
                        <m:endChr m:val="]"/>
                        <m:sepChr m:val=","/>
                        <m:ctrlPr>
                          <a:rPr lang="ja-JP" altLang="en-US" i="1">
                            <a:latin typeface="Cambria Math" panose="02040503050406030204" pitchFamily="18" charset="0"/>
                          </a:rPr>
                        </m:ctrlPr>
                      </m:dPr>
                      <m:e>
                        <m:r>
                          <a:rPr lang="ja-JP" altLang="en-US" i="1">
                            <a:latin typeface="Cambria Math" panose="02040503050406030204" pitchFamily="18" charset="0"/>
                          </a:rPr>
                          <m:t>𝑖</m:t>
                        </m:r>
                      </m:e>
                      <m:mo separator="true">,</m:mo>
                      <m:e>
                        <m:r>
                          <a:rPr lang="ja-JP" altLang="en-US" i="1">
                            <a:latin typeface="Cambria Math" panose="02040503050406030204" pitchFamily="18" charset="0"/>
                          </a:rPr>
                          <m:t>𝑗</m:t>
                        </m:r>
                      </m:e>
                    </m:d>
                    <m:r>
                      <a:rPr lang="en-US" altLang="ja-JP">
                        <a:latin typeface="Cambria Math" panose="02040503050406030204" pitchFamily="18" charset="0"/>
                      </a:rPr>
                      <m:t>,</m:t>
                    </m:r>
                    <m:r>
                      <m:rPr>
                        <m:nor/>
                      </m:rPr>
                      <a:rPr lang="ja-JP" altLang="en-US" i="1"/>
                      <m:t> </m:t>
                    </m:r>
                    <m:sSub>
                      <m:sSubPr>
                        <m:ctrlPr>
                          <a:rPr lang="ja-JP" altLang="en-US" i="1">
                            <a:latin typeface="Cambria Math" panose="02040503050406030204" pitchFamily="18" charset="0"/>
                          </a:rPr>
                        </m:ctrlPr>
                      </m:sSubPr>
                      <m:e>
                        <m:r>
                          <a:rPr lang="ja-JP" altLang="en-US" i="1">
                            <a:latin typeface="Cambria Math" panose="02040503050406030204" pitchFamily="18" charset="0"/>
                          </a:rPr>
                          <m:t>𝑇</m:t>
                        </m:r>
                      </m:e>
                      <m:sub>
                        <m:r>
                          <a:rPr lang="en-US" altLang="ja-JP">
                            <a:latin typeface="Cambria Math" panose="02040503050406030204" pitchFamily="18" charset="0"/>
                          </a:rPr>
                          <m:t>10</m:t>
                        </m:r>
                      </m:sub>
                    </m:sSub>
                    <m:d>
                      <m:dPr>
                        <m:begChr m:val="["/>
                        <m:endChr m:val="]"/>
                        <m:sepChr m:val=","/>
                        <m:ctrlPr>
                          <a:rPr lang="ja-JP" altLang="en-US" i="1">
                            <a:latin typeface="Cambria Math" panose="02040503050406030204" pitchFamily="18" charset="0"/>
                          </a:rPr>
                        </m:ctrlPr>
                      </m:dPr>
                      <m:e>
                        <m:r>
                          <a:rPr lang="ja-JP" altLang="en-US" i="1">
                            <a:latin typeface="Cambria Math" panose="02040503050406030204" pitchFamily="18" charset="0"/>
                          </a:rPr>
                          <m:t>𝑖</m:t>
                        </m:r>
                      </m:e>
                      <m:mo separator="true">,</m:mo>
                      <m:e>
                        <m:r>
                          <a:rPr lang="ja-JP" altLang="en-US" i="1">
                            <a:latin typeface="Cambria Math" panose="02040503050406030204" pitchFamily="18" charset="0"/>
                          </a:rPr>
                          <m:t>𝑗</m:t>
                        </m:r>
                      </m:e>
                    </m:d>
                  </m:oMath>
                </a14:m>
                <a:endParaRPr lang="ja-JP" altLang="en-US" dirty="0"/>
              </a:p>
              <a:p>
                <a:pPr lvl="2"/>
                <a:r>
                  <a:rPr lang="ja-JP" altLang="en-US" dirty="0"/>
                  <a:t>各グリッド </a:t>
                </a:r>
                <a14:m>
                  <m:oMath xmlns:m="http://schemas.openxmlformats.org/officeDocument/2006/math">
                    <m:d>
                      <m:dPr>
                        <m:sepChr m:val=","/>
                        <m:ctrlPr>
                          <a:rPr lang="ja-JP" altLang="en-US" i="1">
                            <a:latin typeface="Cambria Math" panose="02040503050406030204" pitchFamily="18" charset="0"/>
                          </a:rPr>
                        </m:ctrlPr>
                      </m:dPr>
                      <m:e>
                        <m:r>
                          <a:rPr lang="ja-JP" altLang="en-US" i="1">
                            <a:latin typeface="Cambria Math" panose="02040503050406030204" pitchFamily="18" charset="0"/>
                          </a:rPr>
                          <m:t>𝑖</m:t>
                        </m:r>
                      </m:e>
                      <m:mo separator="true">,</m:mo>
                      <m:e>
                        <m:r>
                          <a:rPr lang="ja-JP" altLang="en-US" i="1">
                            <a:latin typeface="Cambria Math" panose="02040503050406030204" pitchFamily="18" charset="0"/>
                          </a:rPr>
                          <m:t>𝑗</m:t>
                        </m:r>
                      </m:e>
                    </m:d>
                  </m:oMath>
                </a14:m>
                <a:r>
                  <a:rPr lang="ja-JP" altLang="en-US" dirty="0"/>
                  <a:t>に対応する </a:t>
                </a:r>
                <a:r>
                  <a:rPr lang="ja-JP" altLang="en-US" b="1" dirty="0"/>
                  <a:t>ピースワイズ近似の傾き・切片を表す係数行列</a:t>
                </a:r>
                <a:endParaRPr lang="ja-JP" altLang="en-US" dirty="0"/>
              </a:p>
              <a:p>
                <a:pPr lvl="2"/>
                <a:r>
                  <a:rPr lang="ja-JP" altLang="en-US" dirty="0"/>
                  <a:t>目的関数中で</a:t>
                </a:r>
              </a:p>
              <a:p>
                <a:pPr lvl="2"/>
                <a:r>
                  <a:rPr lang="ja-JP" altLang="en-US" dirty="0"/>
                  <a:t>の形で、元の非線形関数を近似</a:t>
                </a:r>
              </a:p>
              <a:p>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194505E7-B627-62E7-4894-9373A616703A}"/>
                  </a:ext>
                </a:extLst>
              </p:cNvPr>
              <p:cNvSpPr>
                <a:spLocks noGrp="1" noRot="1" noChangeAspect="1" noMove="1" noResize="1" noEditPoints="1" noAdjustHandles="1" noChangeArrowheads="1" noChangeShapeType="1" noTextEdit="1"/>
              </p:cNvSpPr>
              <p:nvPr>
                <p:ph idx="1"/>
              </p:nvPr>
            </p:nvSpPr>
            <p:spPr>
              <a:xfrm>
                <a:off x="628650" y="1507183"/>
                <a:ext cx="7886700" cy="4669780"/>
              </a:xfrm>
              <a:blipFill>
                <a:blip r:embed="rId2"/>
                <a:stretch>
                  <a:fillRect l="-464" t="-1958"/>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1A317109-76A6-0849-2FDE-3232D224631B}"/>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1260901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結果</a:t>
            </a:r>
            <a:endParaRPr dirty="0"/>
          </a:p>
        </p:txBody>
      </p:sp>
      <p:sp>
        <p:nvSpPr>
          <p:cNvPr id="3" name="Content Placeholder 2"/>
          <p:cNvSpPr>
            <a:spLocks noGrp="1"/>
          </p:cNvSpPr>
          <p:nvPr>
            <p:ph idx="1"/>
          </p:nvPr>
        </p:nvSpPr>
        <p:spPr/>
        <p:txBody>
          <a:bodyPr/>
          <a:lstStyle/>
          <a:p>
            <a:r>
              <a:rPr lang="en-US" altLang="ja-JP" dirty="0"/>
              <a:t>1</a:t>
            </a:r>
            <a:r>
              <a:rPr lang="ja-JP" altLang="en-US" dirty="0"/>
              <a:t>日で</a:t>
            </a:r>
            <a:r>
              <a:rPr lang="en-US" altLang="ja-JP" dirty="0"/>
              <a:t>15</a:t>
            </a:r>
            <a:r>
              <a:rPr lang="ja-JP" altLang="en-US" dirty="0"/>
              <a:t>万円から</a:t>
            </a:r>
            <a:r>
              <a:rPr lang="en-US" altLang="ja-JP" dirty="0"/>
              <a:t>25</a:t>
            </a:r>
            <a:r>
              <a:rPr lang="ja-JP" altLang="en-US" dirty="0"/>
              <a:t>万ほどの利益を見込める</a:t>
            </a:r>
            <a:endParaRPr lang="en-US" altLang="ja-JP" dirty="0"/>
          </a:p>
          <a:p>
            <a:r>
              <a:rPr lang="ja-JP" altLang="en-US" dirty="0"/>
              <a:t>高価格時に放電・低価格時に充電</a:t>
            </a:r>
            <a:endParaRPr lang="en-US" altLang="ja-JP" dirty="0"/>
          </a:p>
          <a:p>
            <a:endParaRPr lang="en-US" altLang="ja-JP" dirty="0"/>
          </a:p>
          <a:p>
            <a:endParaRPr lang="ja-JP" altLang="en-US" dirty="0"/>
          </a:p>
        </p:txBody>
      </p:sp>
      <p:sp>
        <p:nvSpPr>
          <p:cNvPr id="4" name="スライド番号プレースホルダー 3">
            <a:extLst>
              <a:ext uri="{FF2B5EF4-FFF2-40B4-BE49-F238E27FC236}">
                <a16:creationId xmlns:a16="http://schemas.microsoft.com/office/drawing/2014/main" id="{82312CFB-0930-E93A-B6C8-8BD4E45DA5D5}"/>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11" name="テキスト ボックス 10">
            <a:extLst>
              <a:ext uri="{FF2B5EF4-FFF2-40B4-BE49-F238E27FC236}">
                <a16:creationId xmlns:a16="http://schemas.microsoft.com/office/drawing/2014/main" id="{E31888BD-F8B7-57FB-8AC8-5DB5359BC555}"/>
              </a:ext>
            </a:extLst>
          </p:cNvPr>
          <p:cNvSpPr txBox="1"/>
          <p:nvPr/>
        </p:nvSpPr>
        <p:spPr>
          <a:xfrm>
            <a:off x="287630" y="5715298"/>
            <a:ext cx="4000591" cy="923330"/>
          </a:xfrm>
          <a:prstGeom prst="rect">
            <a:avLst/>
          </a:prstGeom>
          <a:noFill/>
        </p:spPr>
        <p:txBody>
          <a:bodyPr wrap="square">
            <a:spAutoFit/>
          </a:bodyPr>
          <a:lstStyle/>
          <a:p>
            <a:r>
              <a:rPr kumimoji="1" lang="ja-JP" altLang="en-US" dirty="0"/>
              <a:t>図　ある</a:t>
            </a:r>
            <a:r>
              <a:rPr kumimoji="1" lang="en-US" altLang="ja-JP" dirty="0"/>
              <a:t>5</a:t>
            </a:r>
            <a:r>
              <a:rPr kumimoji="1" lang="ja-JP" altLang="en-US" dirty="0"/>
              <a:t>月の一日におけるバッテリー残量と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sp>
        <p:nvSpPr>
          <p:cNvPr id="13" name="テキスト ボックス 12">
            <a:extLst>
              <a:ext uri="{FF2B5EF4-FFF2-40B4-BE49-F238E27FC236}">
                <a16:creationId xmlns:a16="http://schemas.microsoft.com/office/drawing/2014/main" id="{9C29BBA0-85BF-C456-F0A8-9A6D9B7AA3E8}"/>
              </a:ext>
            </a:extLst>
          </p:cNvPr>
          <p:cNvSpPr txBox="1"/>
          <p:nvPr/>
        </p:nvSpPr>
        <p:spPr>
          <a:xfrm>
            <a:off x="4669746" y="5713986"/>
            <a:ext cx="4000591" cy="923330"/>
          </a:xfrm>
          <a:prstGeom prst="rect">
            <a:avLst/>
          </a:prstGeom>
          <a:noFill/>
        </p:spPr>
        <p:txBody>
          <a:bodyPr wrap="square">
            <a:spAutoFit/>
          </a:bodyPr>
          <a:lstStyle/>
          <a:p>
            <a:r>
              <a:rPr kumimoji="1" lang="ja-JP" altLang="en-US" dirty="0"/>
              <a:t>図　</a:t>
            </a:r>
            <a:r>
              <a:rPr lang="ja-JP" altLang="en-US" dirty="0"/>
              <a:t>ある</a:t>
            </a:r>
            <a:r>
              <a:rPr lang="en-US" altLang="ja-JP" dirty="0"/>
              <a:t>6</a:t>
            </a:r>
            <a:r>
              <a:rPr lang="ja-JP" altLang="en-US" dirty="0"/>
              <a:t>月の一日</a:t>
            </a:r>
            <a:r>
              <a:rPr kumimoji="1" lang="ja-JP" altLang="en-US" dirty="0"/>
              <a:t>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pic>
        <p:nvPicPr>
          <p:cNvPr id="1026" name="Picture 2">
            <a:extLst>
              <a:ext uri="{FF2B5EF4-FFF2-40B4-BE49-F238E27FC236}">
                <a16:creationId xmlns:a16="http://schemas.microsoft.com/office/drawing/2014/main" id="{21D5960E-736D-0A8C-9558-CED1442AC6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8" y="3313687"/>
            <a:ext cx="4572001" cy="22653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FC81A8C-65A6-155D-9826-5BC1D052F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13687"/>
            <a:ext cx="4572001" cy="22653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DB1A-4E85-5F93-500E-E9FF4BB31949}"/>
              </a:ext>
            </a:extLst>
          </p:cNvPr>
          <p:cNvSpPr>
            <a:spLocks noGrp="1"/>
          </p:cNvSpPr>
          <p:nvPr>
            <p:ph type="title"/>
          </p:nvPr>
        </p:nvSpPr>
        <p:spPr/>
        <p:txBody>
          <a:bodyPr/>
          <a:lstStyle/>
          <a:p>
            <a:r>
              <a:rPr kumimoji="1" lang="en-US" altLang="ja-JP" dirty="0"/>
              <a:t>1124</a:t>
            </a:r>
            <a:r>
              <a:rPr kumimoji="1" lang="ja-JP" altLang="en-US" dirty="0"/>
              <a:t>　</a:t>
            </a:r>
            <a:r>
              <a:rPr kumimoji="1" lang="en-US" altLang="ja-JP" dirty="0"/>
              <a:t>5</a:t>
            </a:r>
            <a:r>
              <a:rPr kumimoji="1" lang="ja-JP" altLang="en-US" dirty="0"/>
              <a:t>月のデータ</a:t>
            </a:r>
          </a:p>
        </p:txBody>
      </p:sp>
      <p:pic>
        <p:nvPicPr>
          <p:cNvPr id="6" name="コンテンツ プレースホルダー 5">
            <a:extLst>
              <a:ext uri="{FF2B5EF4-FFF2-40B4-BE49-F238E27FC236}">
                <a16:creationId xmlns:a16="http://schemas.microsoft.com/office/drawing/2014/main" id="{79F32555-59E5-56A0-8C73-63BB0E3D3867}"/>
              </a:ext>
            </a:extLst>
          </p:cNvPr>
          <p:cNvPicPr>
            <a:picLocks noGrp="1" noChangeAspect="1"/>
          </p:cNvPicPr>
          <p:nvPr>
            <p:ph idx="1"/>
          </p:nvPr>
        </p:nvPicPr>
        <p:blipFill>
          <a:blip r:embed="rId2"/>
          <a:stretch>
            <a:fillRect/>
          </a:stretch>
        </p:blipFill>
        <p:spPr>
          <a:xfrm>
            <a:off x="945885" y="1447252"/>
            <a:ext cx="7252229" cy="4351338"/>
          </a:xfrm>
        </p:spPr>
      </p:pic>
      <p:sp>
        <p:nvSpPr>
          <p:cNvPr id="4" name="スライド番号プレースホルダー 3">
            <a:extLst>
              <a:ext uri="{FF2B5EF4-FFF2-40B4-BE49-F238E27FC236}">
                <a16:creationId xmlns:a16="http://schemas.microsoft.com/office/drawing/2014/main" id="{5D352FFF-9864-C27D-C59A-2DE61A9456C9}"/>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7" name="テキスト ボックス 6">
            <a:extLst>
              <a:ext uri="{FF2B5EF4-FFF2-40B4-BE49-F238E27FC236}">
                <a16:creationId xmlns:a16="http://schemas.microsoft.com/office/drawing/2014/main" id="{6A18D658-6D87-C498-5F65-FDDCB3176F0C}"/>
              </a:ext>
            </a:extLst>
          </p:cNvPr>
          <p:cNvSpPr txBox="1"/>
          <p:nvPr/>
        </p:nvSpPr>
        <p:spPr>
          <a:xfrm>
            <a:off x="1141424" y="5798589"/>
            <a:ext cx="6552148" cy="646331"/>
          </a:xfrm>
          <a:prstGeom prst="rect">
            <a:avLst/>
          </a:prstGeom>
          <a:noFill/>
        </p:spPr>
        <p:txBody>
          <a:bodyPr wrap="square" rtlCol="0">
            <a:spAutoFit/>
          </a:bodyPr>
          <a:lstStyle/>
          <a:p>
            <a:r>
              <a:rPr kumimoji="1" lang="ja-JP" altLang="en-US" dirty="0"/>
              <a:t>図　</a:t>
            </a:r>
            <a:r>
              <a:rPr kumimoji="1" lang="en-US" altLang="ja-JP" dirty="0"/>
              <a:t>5</a:t>
            </a:r>
            <a:r>
              <a:rPr kumimoji="1" lang="ja-JP" altLang="en-US" dirty="0"/>
              <a:t>月におけるバッテリー残量と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spTree>
    <p:extLst>
      <p:ext uri="{BB962C8B-B14F-4D97-AF65-F5344CB8AC3E}">
        <p14:creationId xmlns:p14="http://schemas.microsoft.com/office/powerpoint/2010/main" val="1859497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155CFD-63B4-5F0E-B39F-AF01BB233C81}"/>
              </a:ext>
            </a:extLst>
          </p:cNvPr>
          <p:cNvSpPr>
            <a:spLocks noGrp="1"/>
          </p:cNvSpPr>
          <p:nvPr>
            <p:ph type="title"/>
          </p:nvPr>
        </p:nvSpPr>
        <p:spPr/>
        <p:txBody>
          <a:bodyPr/>
          <a:lstStyle/>
          <a:p>
            <a:r>
              <a:rPr kumimoji="1" lang="en-US" altLang="ja-JP" dirty="0"/>
              <a:t>1124</a:t>
            </a:r>
            <a:r>
              <a:rPr kumimoji="1" lang="ja-JP" altLang="en-US" dirty="0"/>
              <a:t>　</a:t>
            </a:r>
            <a:r>
              <a:rPr kumimoji="1" lang="en-US" altLang="ja-JP" dirty="0"/>
              <a:t>6</a:t>
            </a:r>
            <a:r>
              <a:rPr kumimoji="1" lang="ja-JP" altLang="en-US" dirty="0"/>
              <a:t>月のデータ</a:t>
            </a:r>
          </a:p>
        </p:txBody>
      </p:sp>
      <p:pic>
        <p:nvPicPr>
          <p:cNvPr id="8" name="コンテンツ プレースホルダー 7">
            <a:extLst>
              <a:ext uri="{FF2B5EF4-FFF2-40B4-BE49-F238E27FC236}">
                <a16:creationId xmlns:a16="http://schemas.microsoft.com/office/drawing/2014/main" id="{94AD4EFA-B7F3-1E11-1AB4-5DCF263B4DDC}"/>
              </a:ext>
            </a:extLst>
          </p:cNvPr>
          <p:cNvPicPr>
            <a:picLocks noGrp="1" noChangeAspect="1"/>
          </p:cNvPicPr>
          <p:nvPr>
            <p:ph idx="1"/>
          </p:nvPr>
        </p:nvPicPr>
        <p:blipFill>
          <a:blip r:embed="rId2"/>
          <a:stretch>
            <a:fillRect/>
          </a:stretch>
        </p:blipFill>
        <p:spPr>
          <a:xfrm>
            <a:off x="945885" y="1825625"/>
            <a:ext cx="7252229" cy="4351338"/>
          </a:xfrm>
        </p:spPr>
      </p:pic>
      <p:sp>
        <p:nvSpPr>
          <p:cNvPr id="4" name="スライド番号プレースホルダー 3">
            <a:extLst>
              <a:ext uri="{FF2B5EF4-FFF2-40B4-BE49-F238E27FC236}">
                <a16:creationId xmlns:a16="http://schemas.microsoft.com/office/drawing/2014/main" id="{DFF33B97-50DA-FC89-4755-884B77241420}"/>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6" name="テキスト ボックス 5">
            <a:extLst>
              <a:ext uri="{FF2B5EF4-FFF2-40B4-BE49-F238E27FC236}">
                <a16:creationId xmlns:a16="http://schemas.microsoft.com/office/drawing/2014/main" id="{96056C5F-ADCF-3511-7F3A-AE7F072CC336}"/>
              </a:ext>
            </a:extLst>
          </p:cNvPr>
          <p:cNvSpPr txBox="1"/>
          <p:nvPr/>
        </p:nvSpPr>
        <p:spPr>
          <a:xfrm>
            <a:off x="1039341" y="6075145"/>
            <a:ext cx="7476009" cy="646331"/>
          </a:xfrm>
          <a:prstGeom prst="rect">
            <a:avLst/>
          </a:prstGeom>
          <a:noFill/>
        </p:spPr>
        <p:txBody>
          <a:bodyPr wrap="square">
            <a:spAutoFit/>
          </a:bodyPr>
          <a:lstStyle/>
          <a:p>
            <a:r>
              <a:rPr kumimoji="1" lang="ja-JP" altLang="en-US" dirty="0"/>
              <a:t>図　</a:t>
            </a:r>
            <a:r>
              <a:rPr lang="en-US" altLang="ja-JP" dirty="0"/>
              <a:t>6</a:t>
            </a:r>
            <a:r>
              <a:rPr kumimoji="1" lang="ja-JP" altLang="en-US" dirty="0"/>
              <a:t>月におけるバッテリー残量と</a:t>
            </a:r>
            <a:r>
              <a:rPr lang="ja-JP" altLang="en-US" dirty="0"/>
              <a:t>時間単位当たりの電力単位当たりの価格</a:t>
            </a:r>
            <a:r>
              <a:rPr lang="en-US" altLang="ja-JP" dirty="0"/>
              <a:t>[</a:t>
            </a:r>
            <a:r>
              <a:rPr lang="ja-JP" altLang="en-US" dirty="0"/>
              <a:t>円</a:t>
            </a:r>
            <a:r>
              <a:rPr lang="en-US" altLang="ja-JP" dirty="0"/>
              <a:t>/t*kWh]</a:t>
            </a:r>
            <a:r>
              <a:rPr lang="ja-JP" altLang="en-US" dirty="0"/>
              <a:t>の比較</a:t>
            </a:r>
            <a:endParaRPr kumimoji="1" lang="ja-JP" altLang="en-US" dirty="0"/>
          </a:p>
        </p:txBody>
      </p:sp>
    </p:spTree>
    <p:extLst>
      <p:ext uri="{BB962C8B-B14F-4D97-AF65-F5344CB8AC3E}">
        <p14:creationId xmlns:p14="http://schemas.microsoft.com/office/powerpoint/2010/main" val="3395653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E390D3-CD1A-0F1A-836B-39F8A116AD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2B8379-0CBE-5701-7111-6FDBFD9E42F4}"/>
              </a:ext>
            </a:extLst>
          </p:cNvPr>
          <p:cNvSpPr>
            <a:spLocks noGrp="1"/>
          </p:cNvSpPr>
          <p:nvPr>
            <p:ph type="title"/>
          </p:nvPr>
        </p:nvSpPr>
        <p:spPr/>
        <p:txBody>
          <a:bodyPr/>
          <a:lstStyle/>
          <a:p>
            <a:r>
              <a:rPr lang="ja-JP" altLang="en-US" dirty="0"/>
              <a:t>目的関数値のグラフ</a:t>
            </a:r>
            <a:endParaRPr kumimoji="1" lang="ja-JP" altLang="en-US" dirty="0"/>
          </a:p>
        </p:txBody>
      </p:sp>
      <p:sp>
        <p:nvSpPr>
          <p:cNvPr id="4" name="スライド番号プレースホルダー 3">
            <a:extLst>
              <a:ext uri="{FF2B5EF4-FFF2-40B4-BE49-F238E27FC236}">
                <a16:creationId xmlns:a16="http://schemas.microsoft.com/office/drawing/2014/main" id="{E4B8B787-402C-91BE-4C19-C76AE515965E}"/>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3" name="テキスト ボックス 2">
            <a:extLst>
              <a:ext uri="{FF2B5EF4-FFF2-40B4-BE49-F238E27FC236}">
                <a16:creationId xmlns:a16="http://schemas.microsoft.com/office/drawing/2014/main" id="{A51ED264-5E17-B243-3FDC-9F56B5ED145C}"/>
              </a:ext>
            </a:extLst>
          </p:cNvPr>
          <p:cNvSpPr txBox="1"/>
          <p:nvPr/>
        </p:nvSpPr>
        <p:spPr>
          <a:xfrm>
            <a:off x="964850" y="5464549"/>
            <a:ext cx="4395426" cy="646331"/>
          </a:xfrm>
          <a:prstGeom prst="rect">
            <a:avLst/>
          </a:prstGeom>
          <a:noFill/>
        </p:spPr>
        <p:txBody>
          <a:bodyPr wrap="square" rtlCol="0">
            <a:spAutoFit/>
          </a:bodyPr>
          <a:lstStyle/>
          <a:p>
            <a:r>
              <a:rPr kumimoji="1" lang="ja-JP" altLang="en-US" dirty="0"/>
              <a:t>図　</a:t>
            </a:r>
            <a:r>
              <a:rPr lang="en-US" altLang="ja-JP" dirty="0"/>
              <a:t>5</a:t>
            </a:r>
            <a:r>
              <a:rPr kumimoji="1" lang="ja-JP" altLang="en-US" dirty="0"/>
              <a:t>月における時間ごとの目的関数値の割合</a:t>
            </a:r>
          </a:p>
        </p:txBody>
      </p:sp>
      <p:pic>
        <p:nvPicPr>
          <p:cNvPr id="4098" name="Picture 2">
            <a:extLst>
              <a:ext uri="{FF2B5EF4-FFF2-40B4-BE49-F238E27FC236}">
                <a16:creationId xmlns:a16="http://schemas.microsoft.com/office/drawing/2014/main" id="{31061F15-501B-36E3-C0BF-E0F2CA02179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2538038"/>
            <a:ext cx="7886700" cy="2926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633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D80F10-F81D-39C7-50FD-552EAE43B5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4A21BD-B134-2257-123C-53D9960E7467}"/>
              </a:ext>
            </a:extLst>
          </p:cNvPr>
          <p:cNvSpPr>
            <a:spLocks noGrp="1"/>
          </p:cNvSpPr>
          <p:nvPr>
            <p:ph type="title"/>
          </p:nvPr>
        </p:nvSpPr>
        <p:spPr/>
        <p:txBody>
          <a:bodyPr/>
          <a:lstStyle/>
          <a:p>
            <a:r>
              <a:rPr lang="ja-JP" altLang="en-US" dirty="0"/>
              <a:t>目的関数値のグラフ</a:t>
            </a:r>
            <a:endParaRPr kumimoji="1" lang="ja-JP" altLang="en-US" dirty="0"/>
          </a:p>
        </p:txBody>
      </p:sp>
      <p:sp>
        <p:nvSpPr>
          <p:cNvPr id="4" name="スライド番号プレースホルダー 3">
            <a:extLst>
              <a:ext uri="{FF2B5EF4-FFF2-40B4-BE49-F238E27FC236}">
                <a16:creationId xmlns:a16="http://schemas.microsoft.com/office/drawing/2014/main" id="{3E928222-5A29-94BD-6BEE-C138E5157677}"/>
              </a:ext>
            </a:extLst>
          </p:cNvPr>
          <p:cNvSpPr>
            <a:spLocks noGrp="1"/>
          </p:cNvSpPr>
          <p:nvPr>
            <p:ph type="sldNum" sz="quarter" idx="12"/>
          </p:nvPr>
        </p:nvSpPr>
        <p:spPr/>
        <p:txBody>
          <a:bodyPr/>
          <a:lstStyle/>
          <a:p>
            <a:fld id="{C1FF6DA9-008F-8B48-92A6-B652298478BF}" type="slidenum">
              <a:rPr lang="en-US" smtClean="0"/>
              <a:t>20</a:t>
            </a:fld>
            <a:endParaRPr lang="en-US"/>
          </a:p>
        </p:txBody>
      </p:sp>
      <p:pic>
        <p:nvPicPr>
          <p:cNvPr id="2050" name="Picture 2">
            <a:extLst>
              <a:ext uri="{FF2B5EF4-FFF2-40B4-BE49-F238E27FC236}">
                <a16:creationId xmlns:a16="http://schemas.microsoft.com/office/drawing/2014/main" id="{37FF8D4B-278D-BCEA-0ABA-97494271E0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2538038"/>
            <a:ext cx="7886700" cy="2926511"/>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4A8702B1-95B5-8A0F-3364-ACC08CBD5778}"/>
              </a:ext>
            </a:extLst>
          </p:cNvPr>
          <p:cNvSpPr txBox="1"/>
          <p:nvPr/>
        </p:nvSpPr>
        <p:spPr>
          <a:xfrm>
            <a:off x="964850" y="5464549"/>
            <a:ext cx="4395426" cy="646331"/>
          </a:xfrm>
          <a:prstGeom prst="rect">
            <a:avLst/>
          </a:prstGeom>
          <a:noFill/>
        </p:spPr>
        <p:txBody>
          <a:bodyPr wrap="square" rtlCol="0">
            <a:spAutoFit/>
          </a:bodyPr>
          <a:lstStyle/>
          <a:p>
            <a:r>
              <a:rPr kumimoji="1" lang="ja-JP" altLang="en-US" dirty="0"/>
              <a:t>図　</a:t>
            </a:r>
            <a:r>
              <a:rPr kumimoji="1" lang="en-US" altLang="ja-JP" dirty="0"/>
              <a:t>6</a:t>
            </a:r>
            <a:r>
              <a:rPr kumimoji="1" lang="ja-JP" altLang="en-US" dirty="0"/>
              <a:t>月における時間ごとの目的関数値の割合</a:t>
            </a:r>
          </a:p>
        </p:txBody>
      </p:sp>
    </p:spTree>
    <p:extLst>
      <p:ext uri="{BB962C8B-B14F-4D97-AF65-F5344CB8AC3E}">
        <p14:creationId xmlns:p14="http://schemas.microsoft.com/office/powerpoint/2010/main" val="3347056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考察</a:t>
            </a:r>
            <a:br>
              <a:rPr lang="en-US" altLang="ja-JP" dirty="0"/>
            </a:br>
            <a:endParaRPr dirty="0"/>
          </a:p>
        </p:txBody>
      </p:sp>
      <p:sp>
        <p:nvSpPr>
          <p:cNvPr id="3" name="Content Placeholder 2"/>
          <p:cNvSpPr>
            <a:spLocks noGrp="1"/>
          </p:cNvSpPr>
          <p:nvPr>
            <p:ph idx="1"/>
          </p:nvPr>
        </p:nvSpPr>
        <p:spPr/>
        <p:txBody>
          <a:bodyPr/>
          <a:lstStyle/>
          <a:p>
            <a:endParaRPr lang="ja-JP" altLang="en-US" dirty="0"/>
          </a:p>
          <a:p>
            <a:r>
              <a:rPr lang="ja-JP" altLang="en-US" dirty="0"/>
              <a:t>充放電スケジュールが価格変動と一致</a:t>
            </a:r>
          </a:p>
          <a:p>
            <a:r>
              <a:rPr lang="ja-JP" altLang="en-US" dirty="0"/>
              <a:t>容量制約を満たしつつコスト最小化達成</a:t>
            </a:r>
            <a:endParaRPr lang="en-US" altLang="ja-JP" dirty="0"/>
          </a:p>
          <a:p>
            <a:pPr marL="0" indent="0">
              <a:buNone/>
            </a:pPr>
            <a:endParaRPr lang="ja-JP" altLang="en-US" dirty="0">
              <a:highlight>
                <a:srgbClr val="FFFF00"/>
              </a:highlight>
            </a:endParaRPr>
          </a:p>
          <a:p>
            <a:endParaRPr dirty="0"/>
          </a:p>
        </p:txBody>
      </p:sp>
      <p:sp>
        <p:nvSpPr>
          <p:cNvPr id="4" name="スライド番号プレースホルダー 3">
            <a:extLst>
              <a:ext uri="{FF2B5EF4-FFF2-40B4-BE49-F238E27FC236}">
                <a16:creationId xmlns:a16="http://schemas.microsoft.com/office/drawing/2014/main" id="{9ECA8AD5-4B55-99E3-F11A-A73BC15B65CC}"/>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55B042-0038-3650-3F00-DC81D6C87D28}"/>
              </a:ext>
            </a:extLst>
          </p:cNvPr>
          <p:cNvSpPr>
            <a:spLocks noGrp="1"/>
          </p:cNvSpPr>
          <p:nvPr>
            <p:ph type="title"/>
          </p:nvPr>
        </p:nvSpPr>
        <p:spPr/>
        <p:txBody>
          <a:bodyPr/>
          <a:lstStyle/>
          <a:p>
            <a:r>
              <a:rPr kumimoji="1" lang="ja-JP" altLang="en-US" dirty="0"/>
              <a:t>確率統計学との関係性</a:t>
            </a:r>
          </a:p>
        </p:txBody>
      </p:sp>
      <p:sp>
        <p:nvSpPr>
          <p:cNvPr id="4" name="スライド番号プレースホルダー 3">
            <a:extLst>
              <a:ext uri="{FF2B5EF4-FFF2-40B4-BE49-F238E27FC236}">
                <a16:creationId xmlns:a16="http://schemas.microsoft.com/office/drawing/2014/main" id="{45E36CE7-D297-933A-AFBD-DA73026DAC50}"/>
              </a:ext>
            </a:extLst>
          </p:cNvPr>
          <p:cNvSpPr>
            <a:spLocks noGrp="1"/>
          </p:cNvSpPr>
          <p:nvPr>
            <p:ph type="sldNum" sz="quarter" idx="12"/>
          </p:nvPr>
        </p:nvSpPr>
        <p:spPr/>
        <p:txBody>
          <a:bodyPr/>
          <a:lstStyle/>
          <a:p>
            <a:fld id="{C1FF6DA9-008F-8B48-92A6-B652298478BF}" type="slidenum">
              <a:rPr lang="en-US" smtClean="0"/>
              <a:t>22</a:t>
            </a:fld>
            <a:endParaRPr lang="en-US"/>
          </a:p>
        </p:txBody>
      </p:sp>
      <p:sp>
        <p:nvSpPr>
          <p:cNvPr id="5" name="Rectangle 1">
            <a:extLst>
              <a:ext uri="{FF2B5EF4-FFF2-40B4-BE49-F238E27FC236}">
                <a16:creationId xmlns:a16="http://schemas.microsoft.com/office/drawing/2014/main" id="{A2682E6B-F7CB-51A4-3731-DA6B2D404C71}"/>
              </a:ext>
            </a:extLst>
          </p:cNvPr>
          <p:cNvSpPr>
            <a:spLocks noGrp="1" noChangeArrowheads="1"/>
          </p:cNvSpPr>
          <p:nvPr>
            <p:ph idx="1"/>
          </p:nvPr>
        </p:nvSpPr>
        <p:spPr bwMode="auto">
          <a:xfrm>
            <a:off x="552975" y="1902427"/>
            <a:ext cx="7513595" cy="424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00000"/>
              </a:lnSpc>
              <a:spcBef>
                <a:spcPct val="0"/>
              </a:spcBef>
              <a:spcAft>
                <a:spcPct val="0"/>
              </a:spcAft>
            </a:pPr>
            <a:r>
              <a:rPr kumimoji="0" lang="ja-JP" altLang="ja-JP" sz="1800" b="1" i="0" u="none" strike="noStrike" cap="none" normalizeH="0" baseline="0" dirty="0">
                <a:ln>
                  <a:noFill/>
                </a:ln>
                <a:solidFill>
                  <a:schemeClr val="tx1"/>
                </a:solidFill>
                <a:effectLst/>
                <a:latin typeface="Arial" panose="020B0604020202020204" pitchFamily="34" charset="0"/>
              </a:rPr>
              <a:t>不確実性を扱う</a:t>
            </a:r>
            <a:br>
              <a:rPr kumimoji="0" lang="ja-JP" altLang="ja-JP" sz="1800" b="0" i="0" u="none" strike="noStrike" cap="none" normalizeH="0" baseline="0" dirty="0">
                <a:ln>
                  <a:noFill/>
                </a:ln>
                <a:solidFill>
                  <a:schemeClr val="tx1"/>
                </a:solidFill>
                <a:effectLst/>
                <a:latin typeface="Arial" panose="020B0604020202020204" pitchFamily="34" charset="0"/>
              </a:rPr>
            </a:br>
            <a:r>
              <a:rPr kumimoji="0" lang="ja-JP" altLang="en-US" sz="1800" b="0" i="0" u="none" strike="noStrike" cap="none" normalizeH="0" baseline="0" dirty="0">
                <a:ln>
                  <a:noFill/>
                </a:ln>
                <a:solidFill>
                  <a:schemeClr val="tx1"/>
                </a:solidFill>
                <a:effectLst/>
                <a:latin typeface="Arial" panose="020B0604020202020204" pitchFamily="34" charset="0"/>
              </a:rPr>
              <a:t>将来の電力価格を用いることで確率変数としてみなせる</a:t>
            </a:r>
            <a:endParaRPr kumimoji="0" lang="ja-JP" altLang="ja-JP"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00000"/>
              </a:lnSpc>
              <a:spcBef>
                <a:spcPct val="0"/>
              </a:spcBef>
              <a:spcAft>
                <a:spcPct val="0"/>
              </a:spcAft>
            </a:pPr>
            <a:r>
              <a:rPr kumimoji="0" lang="ja-JP" altLang="ja-JP" sz="1800" b="1" i="0" u="none" strike="noStrike" cap="none" normalizeH="0" baseline="0" dirty="0">
                <a:ln>
                  <a:noFill/>
                </a:ln>
                <a:solidFill>
                  <a:schemeClr val="tx1"/>
                </a:solidFill>
                <a:effectLst/>
                <a:latin typeface="Arial" panose="020B0604020202020204" pitchFamily="34" charset="0"/>
              </a:rPr>
              <a:t>データに基づくモデル化</a:t>
            </a:r>
            <a:br>
              <a:rPr kumimoji="0" lang="ja-JP" altLang="ja-JP" sz="1800" b="0" i="0" u="none" strike="noStrike" cap="none" normalizeH="0" baseline="0" dirty="0">
                <a:ln>
                  <a:noFill/>
                </a:ln>
                <a:solidFill>
                  <a:schemeClr val="tx1"/>
                </a:solidFill>
                <a:effectLst/>
                <a:latin typeface="Arial" panose="020B0604020202020204" pitchFamily="34" charset="0"/>
              </a:rPr>
            </a:br>
            <a:r>
              <a:rPr kumimoji="0" lang="ja-JP" altLang="ja-JP" sz="1800" b="0" i="0" u="none" strike="noStrike" cap="none" normalizeH="0" baseline="0" dirty="0">
                <a:ln>
                  <a:noFill/>
                </a:ln>
                <a:solidFill>
                  <a:schemeClr val="tx1"/>
                </a:solidFill>
                <a:effectLst/>
                <a:latin typeface="Arial" panose="020B0604020202020204" pitchFamily="34" charset="0"/>
              </a:rPr>
              <a:t>過去</a:t>
            </a:r>
            <a:r>
              <a:rPr kumimoji="0" lang="ja-JP" altLang="en-US" sz="1800" b="0" i="0" u="none" strike="noStrike" cap="none" normalizeH="0" baseline="0" dirty="0">
                <a:ln>
                  <a:noFill/>
                </a:ln>
                <a:solidFill>
                  <a:schemeClr val="tx1"/>
                </a:solidFill>
                <a:effectLst/>
                <a:latin typeface="Arial" panose="020B0604020202020204" pitchFamily="34" charset="0"/>
              </a:rPr>
              <a:t>の電力価格</a:t>
            </a:r>
            <a:r>
              <a:rPr kumimoji="0" lang="ja-JP" altLang="ja-JP" sz="1800" b="0" i="0" u="none" strike="noStrike" cap="none" normalizeH="0" baseline="0" dirty="0">
                <a:ln>
                  <a:noFill/>
                </a:ln>
                <a:solidFill>
                  <a:schemeClr val="tx1"/>
                </a:solidFill>
                <a:effectLst/>
                <a:latin typeface="Arial" panose="020B0604020202020204" pitchFamily="34" charset="0"/>
              </a:rPr>
              <a:t>から平均・分散・相関を推定し、</a:t>
            </a:r>
            <a:br>
              <a:rPr kumimoji="0" lang="ja-JP" altLang="ja-JP" sz="1800" b="0" i="0" u="none" strike="noStrike" cap="none" normalizeH="0" baseline="0" dirty="0">
                <a:ln>
                  <a:noFill/>
                </a:ln>
                <a:solidFill>
                  <a:schemeClr val="tx1"/>
                </a:solidFill>
                <a:effectLst/>
                <a:latin typeface="Arial" panose="020B0604020202020204" pitchFamily="34" charset="0"/>
              </a:rPr>
            </a:br>
            <a:r>
              <a:rPr kumimoji="0" lang="ja-JP" altLang="ja-JP" sz="1800" b="0" i="0" u="none" strike="noStrike" cap="none" normalizeH="0" baseline="0" dirty="0">
                <a:ln>
                  <a:noFill/>
                </a:ln>
                <a:solidFill>
                  <a:schemeClr val="tx1"/>
                </a:solidFill>
                <a:effectLst/>
                <a:latin typeface="Arial" panose="020B0604020202020204" pitchFamily="34" charset="0"/>
              </a:rPr>
              <a:t>価格や需要の予測モデルを作</a:t>
            </a:r>
            <a:r>
              <a:rPr kumimoji="0" lang="ja-JP" altLang="en-US" sz="1800" b="0" i="0" u="none" strike="noStrike" cap="none" normalizeH="0" baseline="0" dirty="0">
                <a:ln>
                  <a:noFill/>
                </a:ln>
                <a:solidFill>
                  <a:schemeClr val="tx1"/>
                </a:solidFill>
                <a:effectLst/>
                <a:latin typeface="Arial" panose="020B0604020202020204" pitchFamily="34" charset="0"/>
              </a:rPr>
              <a:t>り、</a:t>
            </a:r>
            <a:r>
              <a:rPr lang="ja-JP" altLang="en-US" sz="1800" dirty="0"/>
              <a:t>「高い／安い」の判断に利用できる</a:t>
            </a:r>
            <a:endParaRPr kumimoji="0" lang="ja-JP" altLang="ja-JP"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00000"/>
              </a:lnSpc>
              <a:spcBef>
                <a:spcPct val="0"/>
              </a:spcBef>
              <a:spcAft>
                <a:spcPct val="0"/>
              </a:spcAft>
            </a:pPr>
            <a:r>
              <a:rPr kumimoji="0" lang="ja-JP" altLang="ja-JP" sz="1800" b="1" i="0" u="none" strike="noStrike" cap="none" normalizeH="0" baseline="0" dirty="0">
                <a:ln>
                  <a:noFill/>
                </a:ln>
                <a:solidFill>
                  <a:schemeClr val="tx1"/>
                </a:solidFill>
                <a:effectLst/>
                <a:latin typeface="Arial" panose="020B0604020202020204" pitchFamily="34" charset="0"/>
              </a:rPr>
              <a:t>期待値・リスクの評価</a:t>
            </a:r>
            <a:br>
              <a:rPr kumimoji="0" lang="ja-JP" altLang="ja-JP" sz="1800" b="0" i="0" u="none" strike="noStrike" cap="none" normalizeH="0" baseline="0" dirty="0">
                <a:ln>
                  <a:noFill/>
                </a:ln>
                <a:solidFill>
                  <a:schemeClr val="tx1"/>
                </a:solidFill>
                <a:effectLst/>
                <a:latin typeface="Arial" panose="020B0604020202020204" pitchFamily="34" charset="0"/>
              </a:rPr>
            </a:br>
            <a:r>
              <a:rPr kumimoji="0" lang="ja-JP" altLang="en-US" sz="1800" dirty="0">
                <a:latin typeface="Arial" panose="020B0604020202020204" pitchFamily="34" charset="0"/>
              </a:rPr>
              <a:t>目的関数は</a:t>
            </a:r>
            <a:r>
              <a:rPr kumimoji="0" lang="ja-JP" altLang="ja-JP" sz="1800" b="0" i="0" u="none" strike="noStrike" cap="none" normalizeH="0" baseline="0" dirty="0">
                <a:ln>
                  <a:noFill/>
                </a:ln>
                <a:solidFill>
                  <a:schemeClr val="tx1"/>
                </a:solidFill>
                <a:effectLst/>
                <a:latin typeface="Arial" panose="020B0604020202020204" pitchFamily="34" charset="0"/>
              </a:rPr>
              <a:t>期待コスト（期待値）</a:t>
            </a:r>
            <a:r>
              <a:rPr kumimoji="0" lang="ja-JP" altLang="en-US" sz="1800" b="0" i="0" u="none" strike="noStrike" cap="none" normalizeH="0" baseline="0" dirty="0">
                <a:ln>
                  <a:noFill/>
                </a:ln>
                <a:solidFill>
                  <a:schemeClr val="tx1"/>
                </a:solidFill>
                <a:effectLst/>
                <a:latin typeface="Arial" panose="020B0604020202020204" pitchFamily="34" charset="0"/>
              </a:rPr>
              <a:t>とみなせる</a:t>
            </a:r>
            <a:endParaRPr kumimoji="0" lang="en-US" altLang="ja-JP"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ja-JP" altLang="en-US" sz="1800" b="0" i="0" u="none" strike="noStrike" cap="none" normalizeH="0" baseline="0" dirty="0">
                <a:ln>
                  <a:noFill/>
                </a:ln>
                <a:solidFill>
                  <a:schemeClr val="tx1"/>
                </a:solidFill>
                <a:effectLst/>
                <a:latin typeface="Arial" panose="020B0604020202020204" pitchFamily="34" charset="0"/>
              </a:rPr>
              <a:t>　</a:t>
            </a:r>
            <a:r>
              <a:rPr kumimoji="0" lang="ja-JP" altLang="ja-JP" sz="1800" b="0" i="0" u="none" strike="noStrike" cap="none" normalizeH="0" baseline="0" dirty="0">
                <a:ln>
                  <a:noFill/>
                </a:ln>
                <a:solidFill>
                  <a:schemeClr val="tx1"/>
                </a:solidFill>
                <a:effectLst/>
                <a:latin typeface="Arial" panose="020B0604020202020204" pitchFamily="34" charset="0"/>
              </a:rPr>
              <a:t>ばらつきや最悪ケースのリスクまで評価して運用方針を決める。</a:t>
            </a:r>
            <a:endParaRPr kumimoji="0" lang="en-US" altLang="ja-JP" sz="1800" dirty="0">
              <a:latin typeface="Arial" panose="020B0604020202020204" pitchFamily="34" charset="0"/>
            </a:endParaRPr>
          </a:p>
          <a:p>
            <a:r>
              <a:rPr lang="ja-JP" altLang="en-US" sz="1800" b="1" dirty="0"/>
              <a:t>シミュレーション（モンテカルロ）の例</a:t>
            </a:r>
            <a:endParaRPr lang="ja-JP" altLang="en-US" sz="1800" dirty="0"/>
          </a:p>
          <a:p>
            <a:pPr marL="0" indent="0">
              <a:buNone/>
            </a:pPr>
            <a:r>
              <a:rPr lang="ja-JP" altLang="en-US" sz="1800" dirty="0"/>
              <a:t>　推定した電力価格などから価格シナリオを乱数生成し</a:t>
            </a:r>
            <a:br>
              <a:rPr lang="ja-JP" altLang="en-US" sz="1800" dirty="0"/>
            </a:br>
            <a:r>
              <a:rPr lang="ja-JP" altLang="en-US" sz="1800" dirty="0"/>
              <a:t>　バッテリーの電力量の推移を多数パターン得る。</a:t>
            </a:r>
          </a:p>
          <a:p>
            <a:pPr marL="0" indent="0">
              <a:buNone/>
            </a:pPr>
            <a:r>
              <a:rPr lang="ja-JP" altLang="en-US" sz="1800" dirty="0"/>
              <a:t>　「ピーク時間帯にバッテリー電力量が</a:t>
            </a:r>
            <a:r>
              <a:rPr lang="en-US" altLang="ja-JP" sz="1800" dirty="0"/>
              <a:t>0.2</a:t>
            </a:r>
            <a:r>
              <a:rPr lang="ja-JP" altLang="en-US" sz="1800" dirty="0"/>
              <a:t>未満になる確率」</a:t>
            </a:r>
            <a:endParaRPr lang="en-US" altLang="ja-JP" sz="1800" dirty="0"/>
          </a:p>
          <a:p>
            <a:pPr marL="0" indent="0">
              <a:buNone/>
            </a:pPr>
            <a:r>
              <a:rPr lang="ja-JP" altLang="en-US" sz="1800" dirty="0"/>
              <a:t>　などを統計的に評価できる。</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ja-JP"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6318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研究の貢献</a:t>
            </a:r>
            <a:endParaRPr dirty="0"/>
          </a:p>
        </p:txBody>
      </p:sp>
      <p:sp>
        <p:nvSpPr>
          <p:cNvPr id="3" name="Content Placeholder 2"/>
          <p:cNvSpPr>
            <a:spLocks noGrp="1"/>
          </p:cNvSpPr>
          <p:nvPr>
            <p:ph idx="1"/>
          </p:nvPr>
        </p:nvSpPr>
        <p:spPr/>
        <p:txBody>
          <a:bodyPr>
            <a:normAutofit/>
          </a:bodyPr>
          <a:lstStyle/>
          <a:p>
            <a:endParaRPr lang="ja-JP" altLang="en-US" dirty="0"/>
          </a:p>
          <a:p>
            <a:r>
              <a:rPr lang="ja-JP" altLang="en-US" dirty="0"/>
              <a:t>既存の理論モデルを実用的な最適化構造に拡張</a:t>
            </a:r>
          </a:p>
          <a:p>
            <a:r>
              <a:rPr lang="ja-JP" altLang="en-US" dirty="0"/>
              <a:t>複数のバイナリ変数による動作モード制御を実装</a:t>
            </a:r>
          </a:p>
          <a:p>
            <a:r>
              <a:rPr lang="ja-JP" altLang="en-US" dirty="0"/>
              <a:t>整合性チェックによるモデル信頼性の確認</a:t>
            </a:r>
          </a:p>
          <a:p>
            <a:r>
              <a:rPr lang="ja-JP" altLang="en-US" dirty="0"/>
              <a:t>今後の応用可能性：電力市場、マイクログリッド運用、再生可能エネルギーへの統合</a:t>
            </a:r>
          </a:p>
          <a:p>
            <a:endParaRPr dirty="0"/>
          </a:p>
        </p:txBody>
      </p:sp>
      <p:sp>
        <p:nvSpPr>
          <p:cNvPr id="4" name="スライド番号プレースホルダー 3">
            <a:extLst>
              <a:ext uri="{FF2B5EF4-FFF2-40B4-BE49-F238E27FC236}">
                <a16:creationId xmlns:a16="http://schemas.microsoft.com/office/drawing/2014/main" id="{E07F0ED3-9F2D-F85B-3401-7C2565483FAE}"/>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まとめ</a:t>
            </a:r>
            <a:br>
              <a:rPr lang="en-US" altLang="ja-JP" dirty="0"/>
            </a:br>
            <a:endParaRPr dirty="0"/>
          </a:p>
        </p:txBody>
      </p:sp>
      <p:sp>
        <p:nvSpPr>
          <p:cNvPr id="3" name="Content Placeholder 2"/>
          <p:cNvSpPr>
            <a:spLocks noGrp="1"/>
          </p:cNvSpPr>
          <p:nvPr>
            <p:ph idx="1"/>
          </p:nvPr>
        </p:nvSpPr>
        <p:spPr/>
        <p:txBody>
          <a:bodyPr>
            <a:normAutofit/>
          </a:bodyPr>
          <a:lstStyle/>
          <a:p>
            <a:endParaRPr lang="ja-JP" altLang="en-US" dirty="0"/>
          </a:p>
          <a:p>
            <a:r>
              <a:rPr lang="ja-JP" altLang="en-US" dirty="0"/>
              <a:t>電力価格変動とバッテリー制約を考慮した合理的スケジュールを生成</a:t>
            </a:r>
          </a:p>
          <a:p>
            <a:r>
              <a:rPr lang="ja-JP" altLang="en-US" dirty="0"/>
              <a:t>ピーク時放電・安価時充電という最適戦略を確認</a:t>
            </a:r>
          </a:p>
          <a:p>
            <a:r>
              <a:rPr lang="ja-JP" altLang="en-US" dirty="0"/>
              <a:t>劣化コストを含む長期的運用コスト低減を実現</a:t>
            </a:r>
          </a:p>
          <a:p>
            <a:r>
              <a:rPr lang="ja-JP" altLang="en-US" dirty="0"/>
              <a:t>今後：劣化モデル精緻化、需要予測・天候データ統合、</a:t>
            </a:r>
            <a:r>
              <a:rPr lang="en-US" altLang="ja-JP" dirty="0"/>
              <a:t>GUI</a:t>
            </a:r>
            <a:r>
              <a:rPr lang="ja-JP" altLang="en-US" dirty="0"/>
              <a:t>化など</a:t>
            </a:r>
          </a:p>
          <a:p>
            <a:endParaRPr dirty="0"/>
          </a:p>
        </p:txBody>
      </p:sp>
      <p:sp>
        <p:nvSpPr>
          <p:cNvPr id="4" name="スライド番号プレースホルダー 3">
            <a:extLst>
              <a:ext uri="{FF2B5EF4-FFF2-40B4-BE49-F238E27FC236}">
                <a16:creationId xmlns:a16="http://schemas.microsoft.com/office/drawing/2014/main" id="{4FB9554D-AD53-36C2-A62A-4F4BFD6AD1C5}"/>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想定質問</a:t>
            </a:r>
          </a:p>
        </p:txBody>
      </p:sp>
      <p:sp>
        <p:nvSpPr>
          <p:cNvPr id="3" name="Content Placeholder 2"/>
          <p:cNvSpPr>
            <a:spLocks noGrp="1"/>
          </p:cNvSpPr>
          <p:nvPr>
            <p:ph idx="1"/>
          </p:nvPr>
        </p:nvSpPr>
        <p:spPr/>
        <p:txBody>
          <a:bodyPr/>
          <a:lstStyle/>
          <a:p>
            <a:endParaRPr/>
          </a:p>
          <a:p>
            <a:r>
              <a:t>なぜGurobi？ → MILPが得意で柔軟</a:t>
            </a:r>
          </a:p>
          <a:p>
            <a:r>
              <a:t>結果の妥当性？ → 価格・容量整合性で確認</a:t>
            </a:r>
          </a:p>
          <a:p>
            <a:r>
              <a:t>今後の展望？ → 実データと比較予定</a:t>
            </a:r>
          </a:p>
        </p:txBody>
      </p:sp>
      <p:sp>
        <p:nvSpPr>
          <p:cNvPr id="4" name="スライド番号プレースホルダー 3">
            <a:extLst>
              <a:ext uri="{FF2B5EF4-FFF2-40B4-BE49-F238E27FC236}">
                <a16:creationId xmlns:a16="http://schemas.microsoft.com/office/drawing/2014/main" id="{83A90295-1A75-8B13-B58D-9220D0D85CAE}"/>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27711</TotalTime>
  <Words>1649</Words>
  <Application>Microsoft Office PowerPoint</Application>
  <PresentationFormat>画面に合わせる (4:3)</PresentationFormat>
  <Paragraphs>216</Paragraphs>
  <Slides>25</Slides>
  <Notes>0</Notes>
  <HiddenSlides>10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25</vt:i4>
      </vt:variant>
    </vt:vector>
  </HeadingPairs>
  <TitlesOfParts>
    <vt:vector size="30" baseType="lpstr">
      <vt:lpstr>游ゴシック</vt:lpstr>
      <vt:lpstr>游ゴシック Light</vt:lpstr>
      <vt:lpstr>Arial</vt:lpstr>
      <vt:lpstr>Cambria Math</vt:lpstr>
      <vt:lpstr>Office テーマ</vt:lpstr>
      <vt:lpstr>PowerPoint プレゼンテーション</vt:lpstr>
      <vt:lpstr>目次 </vt:lpstr>
      <vt:lpstr>研究背景</vt:lpstr>
      <vt:lpstr>研究目的</vt:lpstr>
      <vt:lpstr>既存研究との比較</vt:lpstr>
      <vt:lpstr>既存研究との比較</vt:lpstr>
      <vt:lpstr>モデル概要</vt:lpstr>
      <vt:lpstr>モデル概要</vt:lpstr>
      <vt:lpstr>ピースワイズ線形化とは</vt:lpstr>
      <vt:lpstr>PowerPoint プレゼンテーション</vt:lpstr>
      <vt:lpstr>目的関数</vt:lpstr>
      <vt:lpstr>制約 </vt:lpstr>
      <vt:lpstr>制約</vt:lpstr>
      <vt:lpstr>制約</vt:lpstr>
      <vt:lpstr>ピースワイズ表現と記号対応</vt:lpstr>
      <vt:lpstr>結果</vt:lpstr>
      <vt:lpstr>1124　5月のデータ</vt:lpstr>
      <vt:lpstr>1124　6月のデータ</vt:lpstr>
      <vt:lpstr>目的関数値のグラフ</vt:lpstr>
      <vt:lpstr>目的関数値のグラフ</vt:lpstr>
      <vt:lpstr>考察 </vt:lpstr>
      <vt:lpstr>確率統計学との関係性</vt:lpstr>
      <vt:lpstr>研究の貢献</vt:lpstr>
      <vt:lpstr>まとめ </vt:lpstr>
      <vt:lpstr>想定質問</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kitn.lzh →</cp:lastModifiedBy>
  <cp:revision>35</cp:revision>
  <dcterms:created xsi:type="dcterms:W3CDTF">2013-01-27T09:14:16Z</dcterms:created>
  <dcterms:modified xsi:type="dcterms:W3CDTF">2025-12-21T03:52:26Z</dcterms:modified>
  <cp:category/>
</cp:coreProperties>
</file>